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8/7/2025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8/7/2025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8/7/2025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7" Type="http://schemas.openxmlformats.org/officeDocument/2006/relationships/hyperlink" Target="https://en.wikipedia.org/wiki/Yuga_cycle#cite_note-FOOTNOTEGodwin2011331%E2%80%93332-52" TargetMode="External"/><Relationship Id="rId21" Type="http://schemas.openxmlformats.org/officeDocument/2006/relationships/hyperlink" Target="https://en.wikipedia.org/wiki/Manu_(Hinduism)" TargetMode="External"/><Relationship Id="rId42" Type="http://schemas.openxmlformats.org/officeDocument/2006/relationships/hyperlink" Target="https://en.wikipedia.org/wiki/Deva_(Hinduism)" TargetMode="External"/><Relationship Id="rId63" Type="http://schemas.openxmlformats.org/officeDocument/2006/relationships/hyperlink" Target="https://en.wikipedia.org/wiki/Twilight" TargetMode="External"/><Relationship Id="rId84" Type="http://schemas.openxmlformats.org/officeDocument/2006/relationships/hyperlink" Target="https://en.wikipedia.org/wiki/Tapas_(Indian_religions)" TargetMode="External"/><Relationship Id="rId138" Type="http://schemas.openxmlformats.org/officeDocument/2006/relationships/hyperlink" Target="https://en.wikipedia.org/wiki/Ren%C3%A9_Gu%C3%A9non" TargetMode="External"/><Relationship Id="rId159" Type="http://schemas.openxmlformats.org/officeDocument/2006/relationships/hyperlink" Target="https://en.wikipedia.org/wiki/Julian_day" TargetMode="External"/><Relationship Id="rId170" Type="http://schemas.openxmlformats.org/officeDocument/2006/relationships/hyperlink" Target="https://en.wikipedia.org/wiki/Greek_mythology" TargetMode="External"/><Relationship Id="rId191" Type="http://schemas.openxmlformats.org/officeDocument/2006/relationships/hyperlink" Target="https://en.wikipedia.org/wiki/Axial_tilt" TargetMode="External"/><Relationship Id="rId107" Type="http://schemas.openxmlformats.org/officeDocument/2006/relationships/hyperlink" Target="https://en.wikipedia.org/wiki/Shiva_Purana" TargetMode="External"/><Relationship Id="rId11" Type="http://schemas.openxmlformats.org/officeDocument/2006/relationships/hyperlink" Target="https://en.wikipedia.org/wiki/Treta_Yuga" TargetMode="External"/><Relationship Id="rId32" Type="http://schemas.openxmlformats.org/officeDocument/2006/relationships/hyperlink" Target="https://en.wikipedia.org/wiki/Yuga_cycle#cite_note-14" TargetMode="External"/><Relationship Id="rId53" Type="http://schemas.openxmlformats.org/officeDocument/2006/relationships/hyperlink" Target="https://en.wikipedia.org/wiki/Puranas" TargetMode="External"/><Relationship Id="rId74" Type="http://schemas.openxmlformats.org/officeDocument/2006/relationships/hyperlink" Target="https://en.wikipedia.org/wiki/Yuga_cycle#cite_note-FOOTNOTEBurgess193512%E2%80%9313_(1.21%E2%80%9324),_19-33" TargetMode="External"/><Relationship Id="rId128" Type="http://schemas.openxmlformats.org/officeDocument/2006/relationships/hyperlink" Target="https://en.wikipedia.org/wiki/Joscelyn_Godwin" TargetMode="External"/><Relationship Id="rId149" Type="http://schemas.openxmlformats.org/officeDocument/2006/relationships/hyperlink" Target="https://en.wikipedia.org/wiki/Yuga_cycle#cite_note-64" TargetMode="External"/><Relationship Id="rId5" Type="http://schemas.openxmlformats.org/officeDocument/2006/relationships/hyperlink" Target="https://en.wikipedia.org/wiki/Yuga_cycle#Lexicology" TargetMode="External"/><Relationship Id="rId95" Type="http://schemas.openxmlformats.org/officeDocument/2006/relationships/hyperlink" Target="https://en.wikipedia.org/wiki/Vamana" TargetMode="External"/><Relationship Id="rId160" Type="http://schemas.openxmlformats.org/officeDocument/2006/relationships/hyperlink" Target="https://en.wikipedia.org/wiki/Yuga_cycle#cite_note-FOOTNOTEBurgess193519-70" TargetMode="External"/><Relationship Id="rId181" Type="http://schemas.openxmlformats.org/officeDocument/2006/relationships/hyperlink" Target="https://en.wikipedia.org/wiki/Ages_of_Man#Ovid's_Four_Ages" TargetMode="External"/><Relationship Id="rId22" Type="http://schemas.openxmlformats.org/officeDocument/2006/relationships/hyperlink" Target="https://en.wikipedia.org/wiki/Kalpa_(time)" TargetMode="External"/><Relationship Id="rId43" Type="http://schemas.openxmlformats.org/officeDocument/2006/relationships/hyperlink" Target="https://en.wikipedia.org/wiki/Tropical_year" TargetMode="External"/><Relationship Id="rId64" Type="http://schemas.openxmlformats.org/officeDocument/2006/relationships/hyperlink" Target="https://en.wikipedia.org/wiki/Yuga_cycle#cite_note-FOOTNOTEGodwin2011301-25" TargetMode="External"/><Relationship Id="rId118" Type="http://schemas.openxmlformats.org/officeDocument/2006/relationships/hyperlink" Target="https://en.wikipedia.org/wiki/Axial_precession" TargetMode="External"/><Relationship Id="rId139" Type="http://schemas.openxmlformats.org/officeDocument/2006/relationships/hyperlink" Target="https://en.wikipedia.org/wiki/Yuga_cycle#cite_note-Gu%C3%A9non_2001-59" TargetMode="External"/><Relationship Id="rId85" Type="http://schemas.openxmlformats.org/officeDocument/2006/relationships/hyperlink" Target="https://en.wikipedia.org/wiki/Jnana" TargetMode="External"/><Relationship Id="rId150" Type="http://schemas.openxmlformats.org/officeDocument/2006/relationships/hyperlink" Target="https://en.wikipedia.org/wiki/Alain_Dani%C3%A9lou" TargetMode="External"/><Relationship Id="rId171" Type="http://schemas.openxmlformats.org/officeDocument/2006/relationships/hyperlink" Target="https://en.wikipedia.org/wiki/Trojan_War" TargetMode="External"/><Relationship Id="rId192" Type="http://schemas.openxmlformats.org/officeDocument/2006/relationships/hyperlink" Target="https://en.wikipedia.org/wiki/March_equinox" TargetMode="External"/><Relationship Id="rId12" Type="http://schemas.openxmlformats.org/officeDocument/2006/relationships/hyperlink" Target="https://en.wikipedia.org/wiki/Dvapara_Yuga" TargetMode="External"/><Relationship Id="rId33" Type="http://schemas.openxmlformats.org/officeDocument/2006/relationships/hyperlink" Target="https://en.wikipedia.org/wiki/Yuga_cycle#cite_note-Blackwell_Companion_to_Hinduism-15" TargetMode="External"/><Relationship Id="rId108" Type="http://schemas.openxmlformats.org/officeDocument/2006/relationships/hyperlink" Target="https://en.wikipedia.org/wiki/Yuga_cycle#cite_note-FOOTNOTEMotilal_Banarsidass19602_(fn._1)-47" TargetMode="External"/><Relationship Id="rId129" Type="http://schemas.openxmlformats.org/officeDocument/2006/relationships/hyperlink" Target="https://en.wikipedia.org/wiki/Jugantar" TargetMode="External"/><Relationship Id="rId54" Type="http://schemas.openxmlformats.org/officeDocument/2006/relationships/hyperlink" Target="https://en.wikipedia.org/wiki/Yuga_cycle#cite_note-22" TargetMode="External"/><Relationship Id="rId75" Type="http://schemas.openxmlformats.org/officeDocument/2006/relationships/hyperlink" Target="https://en.wikipedia.org/wiki/Yuga_cycle#cite_note-34" TargetMode="External"/><Relationship Id="rId96" Type="http://schemas.openxmlformats.org/officeDocument/2006/relationships/hyperlink" Target="https://en.wikipedia.org/wiki/Vayu_Purana" TargetMode="External"/><Relationship Id="rId140" Type="http://schemas.openxmlformats.org/officeDocument/2006/relationships/hyperlink" Target="https://en.wikipedia.org/wiki/Yuga_cycle#cite_note-FOOTNOTEGodwin2011305%E2%80%93306-60" TargetMode="External"/><Relationship Id="rId161" Type="http://schemas.openxmlformats.org/officeDocument/2006/relationships/hyperlink" Target="https://en.wikipedia.org/wiki/Yuga_cycle#cite_note-FOOTNOTEBurgess193519,_27-71" TargetMode="External"/><Relationship Id="rId182" Type="http://schemas.openxmlformats.org/officeDocument/2006/relationships/hyperlink" Target="https://en.wikipedia.org/wiki/Hades" TargetMode="External"/><Relationship Id="rId6" Type="http://schemas.openxmlformats.org/officeDocument/2006/relationships/hyperlink" Target="https://en.wikipedia.org/wiki/Hindu_units_of_time" TargetMode="External"/><Relationship Id="rId23" Type="http://schemas.openxmlformats.org/officeDocument/2006/relationships/hyperlink" Target="https://en.wikipedia.org/wiki/Brahma" TargetMode="External"/><Relationship Id="rId119" Type="http://schemas.openxmlformats.org/officeDocument/2006/relationships/hyperlink" Target="https://en.wikipedia.org/wiki/Astrological_age#Age_of_Pisces_(Piscean_Age)" TargetMode="External"/><Relationship Id="rId44" Type="http://schemas.openxmlformats.org/officeDocument/2006/relationships/hyperlink" Target="https://en.wikipedia.org/wiki/Yuga_cycle#cite_note-20" TargetMode="External"/><Relationship Id="rId65" Type="http://schemas.openxmlformats.org/officeDocument/2006/relationships/hyperlink" Target="https://en.wikipedia.org/wiki/Yuga_cycle#cite_note-26" TargetMode="External"/><Relationship Id="rId86" Type="http://schemas.openxmlformats.org/officeDocument/2006/relationships/hyperlink" Target="https://en.wikipedia.org/wiki/Yajna" TargetMode="External"/><Relationship Id="rId130" Type="http://schemas.openxmlformats.org/officeDocument/2006/relationships/hyperlink" Target="https://en.wikipedia.org/wiki/Yuga_cycle#cite_note-FOOTNOTEGodwin2011330%E2%80%93331-56" TargetMode="External"/><Relationship Id="rId151" Type="http://schemas.openxmlformats.org/officeDocument/2006/relationships/hyperlink" Target="https://en.wikipedia.org/wiki/Yuga_cycle#cite_note-65" TargetMode="External"/><Relationship Id="rId172" Type="http://schemas.openxmlformats.org/officeDocument/2006/relationships/hyperlink" Target="https://en.wikipedia.org/wiki/Yuga_cycle#cite_note-FOOTNOTEGodwin2011298%E2%80%93299-74" TargetMode="External"/><Relationship Id="rId193" Type="http://schemas.openxmlformats.org/officeDocument/2006/relationships/hyperlink" Target="https://en.wikipedia.org/wiki/September_equinox" TargetMode="External"/><Relationship Id="rId13" Type="http://schemas.openxmlformats.org/officeDocument/2006/relationships/hyperlink" Target="https://en.wikipedia.org/wiki/Kali_Yuga" TargetMode="External"/><Relationship Id="rId109" Type="http://schemas.openxmlformats.org/officeDocument/2006/relationships/hyperlink" Target="https://en.wikipedia.org/wiki/Yuga_cycle#cite_note-48" TargetMode="External"/><Relationship Id="rId34" Type="http://schemas.openxmlformats.org/officeDocument/2006/relationships/hyperlink" Target="https://en.wikipedia.org/wiki/Hindu_texts" TargetMode="External"/><Relationship Id="rId55" Type="http://schemas.openxmlformats.org/officeDocument/2006/relationships/hyperlink" Target="https://en.wikipedia.org/wiki/Vishnu_Smriti" TargetMode="External"/><Relationship Id="rId76" Type="http://schemas.openxmlformats.org/officeDocument/2006/relationships/hyperlink" Target="https://en.wikipedia.org/wiki/Yuga_cycle#cite_note-FOOTNOTEGodwin2011301(b)-35" TargetMode="External"/><Relationship Id="rId97" Type="http://schemas.openxmlformats.org/officeDocument/2006/relationships/hyperlink" Target="https://en.wikipedia.org/wiki/Yuga_cycle#cite_note-42" TargetMode="External"/><Relationship Id="rId120" Type="http://schemas.openxmlformats.org/officeDocument/2006/relationships/hyperlink" Target="https://en.wikipedia.org/wiki/Yuga_cycle#cite_note-FOOTNOTEYukteswar19909%E2%80%9313-53" TargetMode="External"/><Relationship Id="rId141" Type="http://schemas.openxmlformats.org/officeDocument/2006/relationships/hyperlink" Target="https://en.wikipedia.org/wiki/Great_Year" TargetMode="External"/><Relationship Id="rId7" Type="http://schemas.openxmlformats.org/officeDocument/2006/relationships/hyperlink" Target="https://en.wikipedia.org/wiki/Hindu_cosmology" TargetMode="External"/><Relationship Id="rId71" Type="http://schemas.openxmlformats.org/officeDocument/2006/relationships/hyperlink" Target="https://en.wikipedia.org/wiki/Yuga_cycle#cite_note-31" TargetMode="External"/><Relationship Id="rId92" Type="http://schemas.openxmlformats.org/officeDocument/2006/relationships/hyperlink" Target="https://en.wikipedia.org/wiki/Yuga_cycle#cite_note-41" TargetMode="External"/><Relationship Id="rId162" Type="http://schemas.openxmlformats.org/officeDocument/2006/relationships/hyperlink" Target="https://en.wikipedia.org/wiki/Yuga_cycle#cite_note-72" TargetMode="External"/><Relationship Id="rId183" Type="http://schemas.openxmlformats.org/officeDocument/2006/relationships/hyperlink" Target="https://en.wikipedia.org/wiki/Yuga_cycle#cite_note-FOOTNOTEGodwin2011299-77" TargetMode="External"/><Relationship Id="rId2" Type="http://schemas.openxmlformats.org/officeDocument/2006/relationships/hyperlink" Target="https://en.wikipedia.org/wiki/Buddhist_cosmology#Temporal_cosmology" TargetMode="External"/><Relationship Id="rId29" Type="http://schemas.openxmlformats.org/officeDocument/2006/relationships/hyperlink" Target="https://en.wikipedia.org/wiki/Proto-Indo-European_language" TargetMode="External"/><Relationship Id="rId24" Type="http://schemas.openxmlformats.org/officeDocument/2006/relationships/hyperlink" Target="https://en.wikipedia.org/wiki/Sanskrit_language" TargetMode="External"/><Relationship Id="rId40" Type="http://schemas.openxmlformats.org/officeDocument/2006/relationships/hyperlink" Target="https://en.wikipedia.org/wiki/Yuga_cycle#cite_note-18" TargetMode="External"/><Relationship Id="rId45" Type="http://schemas.openxmlformats.org/officeDocument/2006/relationships/hyperlink" Target="https://en.wikipedia.org/wiki/Yuga_cycle#cite_note-FOOTNOTEGodwin2011301(a)-21" TargetMode="External"/><Relationship Id="rId66" Type="http://schemas.openxmlformats.org/officeDocument/2006/relationships/hyperlink" Target="https://en.wikipedia.org/wiki/Yuga_cycle#cite_note-FOOTNOTEBurgess1935ix_(Introduction)-27" TargetMode="External"/><Relationship Id="rId87" Type="http://schemas.openxmlformats.org/officeDocument/2006/relationships/hyperlink" Target="https://en.wikipedia.org/wiki/D%C4%81na" TargetMode="External"/><Relationship Id="rId110" Type="http://schemas.openxmlformats.org/officeDocument/2006/relationships/hyperlink" Target="https://en.wikipedia.org/wiki/Yuga_cycle#cite_note-49" TargetMode="External"/><Relationship Id="rId115" Type="http://schemas.openxmlformats.org/officeDocument/2006/relationships/hyperlink" Target="https://en.wikipedia.org/wiki/Parikshit" TargetMode="External"/><Relationship Id="rId131" Type="http://schemas.openxmlformats.org/officeDocument/2006/relationships/hyperlink" Target="https://en.wikipedia.org/wiki/Progress#Philosophy" TargetMode="External"/><Relationship Id="rId136" Type="http://schemas.openxmlformats.org/officeDocument/2006/relationships/hyperlink" Target="https://en.wikipedia.org/wiki/Yuga_cycle#cite_note-FOOTNOTEGodwin2011333%E2%80%93334-58" TargetMode="External"/><Relationship Id="rId157" Type="http://schemas.openxmlformats.org/officeDocument/2006/relationships/hyperlink" Target="https://en.wikipedia.org/wiki/Yuga_cycle#cite_note-FOOTNOTEGodwin2011308-68" TargetMode="External"/><Relationship Id="rId178" Type="http://schemas.openxmlformats.org/officeDocument/2006/relationships/hyperlink" Target="https://en.wikipedia.org/wiki/Daemon_(classical_mythology)" TargetMode="External"/><Relationship Id="rId61" Type="http://schemas.openxmlformats.org/officeDocument/2006/relationships/hyperlink" Target="https://en.wikipedia.org/wiki/Kali_Yuga#Start_date" TargetMode="External"/><Relationship Id="rId82" Type="http://schemas.openxmlformats.org/officeDocument/2006/relationships/hyperlink" Target="https://en.wikipedia.org/wiki/Dharma" TargetMode="External"/><Relationship Id="rId152" Type="http://schemas.openxmlformats.org/officeDocument/2006/relationships/hyperlink" Target="https://en.wikipedia.org/wiki/Linga_Purana" TargetMode="External"/><Relationship Id="rId173" Type="http://schemas.openxmlformats.org/officeDocument/2006/relationships/hyperlink" Target="https://en.wikipedia.org/wiki/Yuga_cycle#cite_note-FOOTNOTEBolton200164%E2%80%9365-75" TargetMode="External"/><Relationship Id="rId194" Type="http://schemas.openxmlformats.org/officeDocument/2006/relationships/hyperlink" Target="https://en.wikipedia.org/wiki/Yuga_cycle#cite_note-FOOTNOTEBurgess1935288,_289chapter_XII_verse_45-51:_The_Surya_Siddhanta_identifies_the_[[march_equinox|vernal_equinox]]_with_the_[[First_Point_of_Aries]]_and_hence_does_not_distinguish_between_the_[[sidereal_year|sidereal]]_and_[[tropical_year]]-2" TargetMode="External"/><Relationship Id="rId19" Type="http://schemas.openxmlformats.org/officeDocument/2006/relationships/hyperlink" Target="https://en.wikipedia.org/wiki/Yuga_cycle#cite_note-FOOTNOTEMerriam-Webster1999629_(Kalki)-8" TargetMode="External"/><Relationship Id="rId14" Type="http://schemas.openxmlformats.org/officeDocument/2006/relationships/hyperlink" Target="https://en.wikipedia.org/wiki/Yuga_cycle#cite_note-Godwin_2011-5" TargetMode="External"/><Relationship Id="rId30" Type="http://schemas.openxmlformats.org/officeDocument/2006/relationships/hyperlink" Target="https://en.wikipedia.org/wiki/Yuga_cycle#cite_note-13" TargetMode="External"/><Relationship Id="rId35" Type="http://schemas.openxmlformats.org/officeDocument/2006/relationships/hyperlink" Target="https://en.wikipedia.org/wiki/Surya_Siddhanta" TargetMode="External"/><Relationship Id="rId56" Type="http://schemas.openxmlformats.org/officeDocument/2006/relationships/hyperlink" Target="https://en.wikipedia.org/wiki/Yuga_cycle#cite_note-23" TargetMode="External"/><Relationship Id="rId77" Type="http://schemas.openxmlformats.org/officeDocument/2006/relationships/hyperlink" Target="https://en.wikipedia.org/wiki/Shraddhadeva_Manu" TargetMode="External"/><Relationship Id="rId100" Type="http://schemas.openxmlformats.org/officeDocument/2006/relationships/hyperlink" Target="https://en.wikipedia.org/wiki/Yuga_cycle#cite_note-44" TargetMode="External"/><Relationship Id="rId105" Type="http://schemas.openxmlformats.org/officeDocument/2006/relationships/hyperlink" Target="https://en.wikipedia.org/wiki/Vishnu_Purana" TargetMode="External"/><Relationship Id="rId126" Type="http://schemas.openxmlformats.org/officeDocument/2006/relationships/hyperlink" Target="https://en.wikipedia.org/wiki/Yuga_cycle#cite_note-FOOTNOTEYukteswar19907%E2%80%938,_10-54" TargetMode="External"/><Relationship Id="rId147" Type="http://schemas.openxmlformats.org/officeDocument/2006/relationships/hyperlink" Target="https://en.wikipedia.org/wiki/Yuga_cycle#cite_note-FOOTNOTEGodwin2011306%E2%80%93307-62" TargetMode="External"/><Relationship Id="rId168" Type="http://schemas.openxmlformats.org/officeDocument/2006/relationships/hyperlink" Target="https://en.wikipedia.org/wiki/Silver_age" TargetMode="External"/><Relationship Id="rId8" Type="http://schemas.openxmlformats.org/officeDocument/2006/relationships/hyperlink" Target="https://en.wikipedia.org/wiki/Yuga_cycle#cite_note-4" TargetMode="External"/><Relationship Id="rId51" Type="http://schemas.openxmlformats.org/officeDocument/2006/relationships/hyperlink" Target="https://en.wikipedia.org/wiki/Ramayana" TargetMode="External"/><Relationship Id="rId72" Type="http://schemas.openxmlformats.org/officeDocument/2006/relationships/hyperlink" Target="https://en.wikipedia.org/wiki/Pralaya" TargetMode="External"/><Relationship Id="rId93" Type="http://schemas.openxmlformats.org/officeDocument/2006/relationships/hyperlink" Target="https://en.wikipedia.org/wiki/Dashavatara#List_of_Avatars" TargetMode="External"/><Relationship Id="rId98" Type="http://schemas.openxmlformats.org/officeDocument/2006/relationships/hyperlink" Target="https://en.wikipedia.org/wiki/Yuga_cycle#cite_note-43" TargetMode="External"/><Relationship Id="rId121" Type="http://schemas.openxmlformats.org/officeDocument/2006/relationships/hyperlink" Target="https://en.wikipedia.org/wiki/Binary_star" TargetMode="External"/><Relationship Id="rId142" Type="http://schemas.openxmlformats.org/officeDocument/2006/relationships/hyperlink" Target="https://en.wikipedia.org/wiki/Ziusudra#Xisuthros" TargetMode="External"/><Relationship Id="rId163" Type="http://schemas.openxmlformats.org/officeDocument/2006/relationships/hyperlink" Target="https://en.wikipedia.org/wiki/Yuga_cycle#cite_note-73" TargetMode="External"/><Relationship Id="rId184" Type="http://schemas.openxmlformats.org/officeDocument/2006/relationships/hyperlink" Target="https://en.wikipedia.org/wiki/Yuga_cycle#cite_note-FOOTNOTEGodwin2011304-78" TargetMode="External"/><Relationship Id="rId189" Type="http://schemas.openxmlformats.org/officeDocument/2006/relationships/hyperlink" Target="https://en.wikipedia.org/wiki/Vedic-Puranic_chronology" TargetMode="External"/><Relationship Id="rId3" Type="http://schemas.openxmlformats.org/officeDocument/2006/relationships/hyperlink" Target="https://en.wikipedia.org/wiki/Ages_of_Man" TargetMode="External"/><Relationship Id="rId25" Type="http://schemas.openxmlformats.org/officeDocument/2006/relationships/hyperlink" Target="https://en.wikipedia.org/wiki/Literal_translation" TargetMode="External"/><Relationship Id="rId46" Type="http://schemas.openxmlformats.org/officeDocument/2006/relationships/hyperlink" Target="https://en.wikipedia.org/wiki/Vedas" TargetMode="External"/><Relationship Id="rId67" Type="http://schemas.openxmlformats.org/officeDocument/2006/relationships/hyperlink" Target="https://en.wikipedia.org/wiki/Shanti_Parva" TargetMode="External"/><Relationship Id="rId116" Type="http://schemas.openxmlformats.org/officeDocument/2006/relationships/hyperlink" Target="https://en.wikipedia.org/wiki/Yuga_cycle#cite_note-FOOTNOTEYukteswar199015%E2%80%9317-51" TargetMode="External"/><Relationship Id="rId137" Type="http://schemas.openxmlformats.org/officeDocument/2006/relationships/hyperlink" Target="https://en.wikipedia.org/wiki/The_Reign_of_Quantity_and_the_Signs_of_the_Times" TargetMode="External"/><Relationship Id="rId158" Type="http://schemas.openxmlformats.org/officeDocument/2006/relationships/hyperlink" Target="https://en.wikipedia.org/wiki/Yuga_cycle#cite_note-FOOTNOTEBurgess193517_(1.29%E2%80%9334)-69" TargetMode="External"/><Relationship Id="rId20" Type="http://schemas.openxmlformats.org/officeDocument/2006/relationships/hyperlink" Target="https://en.wikipedia.org/wiki/Manvantara" TargetMode="External"/><Relationship Id="rId41" Type="http://schemas.openxmlformats.org/officeDocument/2006/relationships/hyperlink" Target="https://en.wikipedia.org/wiki/Yuga_cycle#cite_note-19" TargetMode="External"/><Relationship Id="rId62" Type="http://schemas.openxmlformats.org/officeDocument/2006/relationships/hyperlink" Target="https://en.wikipedia.org/wiki/List_of_numbers_in_Hindu_scriptures" TargetMode="External"/><Relationship Id="rId83" Type="http://schemas.openxmlformats.org/officeDocument/2006/relationships/hyperlink" Target="https://en.wikipedia.org/wiki/Krita_Yuga" TargetMode="External"/><Relationship Id="rId88" Type="http://schemas.openxmlformats.org/officeDocument/2006/relationships/hyperlink" Target="https://en.wikipedia.org/wiki/Yuga_cycle#cite_note-38" TargetMode="External"/><Relationship Id="rId111" Type="http://schemas.openxmlformats.org/officeDocument/2006/relationships/hyperlink" Target="https://en.wikipedia.org/wiki/The_Holy_Science#Yuga_theory" TargetMode="External"/><Relationship Id="rId132" Type="http://schemas.openxmlformats.org/officeDocument/2006/relationships/hyperlink" Target="https://en.wikipedia.org/wiki/Materialism" TargetMode="External"/><Relationship Id="rId153" Type="http://schemas.openxmlformats.org/officeDocument/2006/relationships/hyperlink" Target="https://en.wikipedia.org/wiki/Flood_myth" TargetMode="External"/><Relationship Id="rId174" Type="http://schemas.openxmlformats.org/officeDocument/2006/relationships/hyperlink" Target="https://en.wikipedia.org/wiki/Statesman_(dialogue)" TargetMode="External"/><Relationship Id="rId179" Type="http://schemas.openxmlformats.org/officeDocument/2006/relationships/hyperlink" Target="https://en.wikipedia.org/wiki/Metamorphoses" TargetMode="External"/><Relationship Id="rId195" Type="http://schemas.openxmlformats.org/officeDocument/2006/relationships/hyperlink" Target="https://en.wikipedia.org/wiki/Yuga_cycle#cite_note-FOOTNOTEBurgess19358,_9chapter_I_verse_13,14-3" TargetMode="External"/><Relationship Id="rId190" Type="http://schemas.openxmlformats.org/officeDocument/2006/relationships/hyperlink" Target="https://en.wikipedia.org/wiki/Yuga_cycle#cite_note-FOOTNOTEBurgess1935285,_286chapter_XII_verse_34-36-1" TargetMode="External"/><Relationship Id="rId15" Type="http://schemas.openxmlformats.org/officeDocument/2006/relationships/hyperlink" Target="https://en.wikipedia.org/wiki/Yuga_cycle#cite_note-Merriam-Webster-6" TargetMode="External"/><Relationship Id="rId36" Type="http://schemas.openxmlformats.org/officeDocument/2006/relationships/hyperlink" Target="https://en.wikipedia.org/wiki/Manusmriti" TargetMode="External"/><Relationship Id="rId57" Type="http://schemas.openxmlformats.org/officeDocument/2006/relationships/hyperlink" Target="https://en.wikipedia.org/wiki/Brahma_Purana" TargetMode="External"/><Relationship Id="rId106" Type="http://schemas.openxmlformats.org/officeDocument/2006/relationships/hyperlink" Target="https://en.wikipedia.org/wiki/Kurma_Purana" TargetMode="External"/><Relationship Id="rId127" Type="http://schemas.openxmlformats.org/officeDocument/2006/relationships/hyperlink" Target="https://en.wikipedia.org/wiki/Yuga_cycle#cite_note-FOOTNOTEGodwin2011332%E2%80%93333-55" TargetMode="External"/><Relationship Id="rId10" Type="http://schemas.openxmlformats.org/officeDocument/2006/relationships/hyperlink" Target="https://en.wikipedia.org/wiki/Satya_Yuga" TargetMode="External"/><Relationship Id="rId31" Type="http://schemas.openxmlformats.org/officeDocument/2006/relationships/hyperlink" Target="https://en.wikipedia.org/wiki/Romanization_of_Sanskrit" TargetMode="External"/><Relationship Id="rId52" Type="http://schemas.openxmlformats.org/officeDocument/2006/relationships/hyperlink" Target="https://en.wikipedia.org/wiki/Mahabharata" TargetMode="External"/><Relationship Id="rId73" Type="http://schemas.openxmlformats.org/officeDocument/2006/relationships/hyperlink" Target="https://en.wikipedia.org/wiki/Yuga_cycle#cite_note-FOOTNOTEMerriam-Webster1999691_(Manu)-32" TargetMode="External"/><Relationship Id="rId78" Type="http://schemas.openxmlformats.org/officeDocument/2006/relationships/hyperlink" Target="https://en.wikipedia.org/wiki/Gregorian_calendar" TargetMode="External"/><Relationship Id="rId94" Type="http://schemas.openxmlformats.org/officeDocument/2006/relationships/hyperlink" Target="https://en.wikipedia.org/wiki/Vamana#Vayu_Purana" TargetMode="External"/><Relationship Id="rId99" Type="http://schemas.openxmlformats.org/officeDocument/2006/relationships/hyperlink" Target="https://en.wikipedia.org/wiki/Rama" TargetMode="External"/><Relationship Id="rId101" Type="http://schemas.openxmlformats.org/officeDocument/2006/relationships/hyperlink" Target="https://en.wikipedia.org/wiki/Yuga_cycle#cite_note-45" TargetMode="External"/><Relationship Id="rId122" Type="http://schemas.openxmlformats.org/officeDocument/2006/relationships/hyperlink" Target="https://en.wikipedia.org/wiki/Central_massive_object" TargetMode="External"/><Relationship Id="rId143" Type="http://schemas.openxmlformats.org/officeDocument/2006/relationships/hyperlink" Target="https://en.wikipedia.org/wiki/Chaldea" TargetMode="External"/><Relationship Id="rId148" Type="http://schemas.openxmlformats.org/officeDocument/2006/relationships/hyperlink" Target="https://en.wikipedia.org/wiki/Yuga_cycle#cite_note-63" TargetMode="External"/><Relationship Id="rId164" Type="http://schemas.openxmlformats.org/officeDocument/2006/relationships/hyperlink" Target="https://en.wikipedia.org/wiki/Works_and_Days" TargetMode="External"/><Relationship Id="rId169" Type="http://schemas.openxmlformats.org/officeDocument/2006/relationships/hyperlink" Target="https://en.wikipedia.org/wiki/Greek_Heroic_Age" TargetMode="External"/><Relationship Id="rId185" Type="http://schemas.openxmlformats.org/officeDocument/2006/relationships/hyperlink" Target="https://en.wikipedia.org/wiki/Portal:Hinduism" TargetMode="External"/><Relationship Id="rId4" Type="http://schemas.openxmlformats.org/officeDocument/2006/relationships/hyperlink" Target="https://en.wikipedia.org/wiki/Jain_cosmology#Time_cycle" TargetMode="External"/><Relationship Id="rId9" Type="http://schemas.openxmlformats.org/officeDocument/2006/relationships/hyperlink" Target="https://en.wikipedia.org/wiki/Yuga" TargetMode="External"/><Relationship Id="rId180" Type="http://schemas.openxmlformats.org/officeDocument/2006/relationships/hyperlink" Target="https://en.wikipedia.org/wiki/Ovid" TargetMode="External"/><Relationship Id="rId26" Type="http://schemas.openxmlformats.org/officeDocument/2006/relationships/hyperlink" Target="https://en.wikipedia.org/wiki/Wikipedia:Citation_needed" TargetMode="External"/><Relationship Id="rId47" Type="http://schemas.openxmlformats.org/officeDocument/2006/relationships/hyperlink" Target="https://en.wikipedia.org/wiki/Long_dice" TargetMode="External"/><Relationship Id="rId68" Type="http://schemas.openxmlformats.org/officeDocument/2006/relationships/hyperlink" Target="https://en.wikipedia.org/wiki/Yuga_cycle#cite_note-28" TargetMode="External"/><Relationship Id="rId89" Type="http://schemas.openxmlformats.org/officeDocument/2006/relationships/hyperlink" Target="https://en.wikipedia.org/wiki/Ganesha_Purana#Kridakhanda:_Ganesha_in_four_Yugas" TargetMode="External"/><Relationship Id="rId112" Type="http://schemas.openxmlformats.org/officeDocument/2006/relationships/hyperlink" Target="https://en.wikipedia.org/wiki/Swami_Sri_Yukteswar_Giri" TargetMode="External"/><Relationship Id="rId133" Type="http://schemas.openxmlformats.org/officeDocument/2006/relationships/hyperlink" Target="https://en.wikipedia.org/wiki/Atheism" TargetMode="External"/><Relationship Id="rId154" Type="http://schemas.openxmlformats.org/officeDocument/2006/relationships/hyperlink" Target="https://en.wikipedia.org/wiki/European_early_modern_humans" TargetMode="External"/><Relationship Id="rId175" Type="http://schemas.openxmlformats.org/officeDocument/2006/relationships/hyperlink" Target="https://en.wikipedia.org/wiki/Plato" TargetMode="External"/><Relationship Id="rId196" Type="http://schemas.openxmlformats.org/officeDocument/2006/relationships/hyperlink" Target="https://en.wikipedia.org/wiki/Yuga_cycle#cite_note-10" TargetMode="External"/><Relationship Id="rId16" Type="http://schemas.openxmlformats.org/officeDocument/2006/relationships/hyperlink" Target="https://en.wikipedia.org/wiki/Yuga_cycle#cite_note-Springer_measurements-7" TargetMode="External"/><Relationship Id="rId37" Type="http://schemas.openxmlformats.org/officeDocument/2006/relationships/hyperlink" Target="https://en.wikipedia.org/wiki/Yuga_cycle#cite_note-FOOTNOTEB%C3%BChler188620-16" TargetMode="External"/><Relationship Id="rId58" Type="http://schemas.openxmlformats.org/officeDocument/2006/relationships/hyperlink" Target="https://en.wikipedia.org/wiki/Matsya_Purana" TargetMode="External"/><Relationship Id="rId79" Type="http://schemas.openxmlformats.org/officeDocument/2006/relationships/hyperlink" Target="https://en.wikipedia.org/wiki/Yuga_cycle#cite_note-FOOTNOTEGupta20109-36" TargetMode="External"/><Relationship Id="rId102" Type="http://schemas.openxmlformats.org/officeDocument/2006/relationships/hyperlink" Target="https://en.wikipedia.org/wiki/Padma_Purana" TargetMode="External"/><Relationship Id="rId123" Type="http://schemas.openxmlformats.org/officeDocument/2006/relationships/hyperlink" Target="https://en.wikipedia.org/wiki/Brahma#Literature_and_legends" TargetMode="External"/><Relationship Id="rId144" Type="http://schemas.openxmlformats.org/officeDocument/2006/relationships/hyperlink" Target="https://en.wikipedia.org/wiki/Yuga_cycle#cite_note-FOOTNOTEGodwin2011306-61" TargetMode="External"/><Relationship Id="rId90" Type="http://schemas.openxmlformats.org/officeDocument/2006/relationships/hyperlink" Target="https://en.wikipedia.org/wiki/Yuga_cycle#cite_note-39" TargetMode="External"/><Relationship Id="rId165" Type="http://schemas.openxmlformats.org/officeDocument/2006/relationships/hyperlink" Target="https://en.wikipedia.org/wiki/Hesiod" TargetMode="External"/><Relationship Id="rId186" Type="http://schemas.openxmlformats.org/officeDocument/2006/relationships/hyperlink" Target="https://en.wikipedia.org/wiki/Portal:India" TargetMode="External"/><Relationship Id="rId27" Type="http://schemas.openxmlformats.org/officeDocument/2006/relationships/hyperlink" Target="https://en.wikipedia.org/wiki/Yuga_cycle#cite_note-FOOTNOTEBurgess19359-9" TargetMode="External"/><Relationship Id="rId48" Type="http://schemas.openxmlformats.org/officeDocument/2006/relationships/hyperlink" Target="https://en.wikipedia.org/wiki/Rigveda" TargetMode="External"/><Relationship Id="rId69" Type="http://schemas.openxmlformats.org/officeDocument/2006/relationships/hyperlink" Target="https://en.wikipedia.org/wiki/Yuga_cycle#cite_note-29" TargetMode="External"/><Relationship Id="rId113" Type="http://schemas.openxmlformats.org/officeDocument/2006/relationships/hyperlink" Target="https://en.wikipedia.org/wiki/The_Holy_Science" TargetMode="External"/><Relationship Id="rId134" Type="http://schemas.openxmlformats.org/officeDocument/2006/relationships/hyperlink" Target="https://en.wikipedia.org/wiki/Yuga_cycle#cite_note-FOOTNOTEGodwin2011330,_331,_332-57" TargetMode="External"/><Relationship Id="rId80" Type="http://schemas.openxmlformats.org/officeDocument/2006/relationships/hyperlink" Target="https://en.wikipedia.org/wiki/Yuga_cycle#cite_note-year-0-error-37" TargetMode="External"/><Relationship Id="rId155" Type="http://schemas.openxmlformats.org/officeDocument/2006/relationships/hyperlink" Target="https://en.wikipedia.org/wiki/Yuga_cycle#cite_note-FOOTNOTEGodwin2011307%E2%80%93310-66" TargetMode="External"/><Relationship Id="rId176" Type="http://schemas.openxmlformats.org/officeDocument/2006/relationships/hyperlink" Target="https://en.wikipedia.org/wiki/Yuga_cycle#cite_note-FOOTNOTEBolton200165%E2%80%9368-76" TargetMode="External"/><Relationship Id="rId197" Type="http://schemas.openxmlformats.org/officeDocument/2006/relationships/hyperlink" Target="https://en.wikipedia.org/wiki/Bhagavad_Gita" TargetMode="External"/><Relationship Id="rId17" Type="http://schemas.openxmlformats.org/officeDocument/2006/relationships/hyperlink" Target="https://en.wikipedia.org/wiki/Dharma#Hinduism" TargetMode="External"/><Relationship Id="rId38" Type="http://schemas.openxmlformats.org/officeDocument/2006/relationships/hyperlink" Target="https://en.wikipedia.org/wiki/Bhagavata_Purana" TargetMode="External"/><Relationship Id="rId59" Type="http://schemas.openxmlformats.org/officeDocument/2006/relationships/hyperlink" Target="https://en.wikipedia.org/wiki/Naradiya_Purana" TargetMode="External"/><Relationship Id="rId103" Type="http://schemas.openxmlformats.org/officeDocument/2006/relationships/hyperlink" Target="https://en.wikipedia.org/wiki/Yuga_cycle#cite_note-46" TargetMode="External"/><Relationship Id="rId124" Type="http://schemas.openxmlformats.org/officeDocument/2006/relationships/hyperlink" Target="https://en.wikipedia.org/wiki/Vishnu" TargetMode="External"/><Relationship Id="rId70" Type="http://schemas.openxmlformats.org/officeDocument/2006/relationships/hyperlink" Target="https://en.wikipedia.org/wiki/Yuga_cycle#cite_note-30" TargetMode="External"/><Relationship Id="rId91" Type="http://schemas.openxmlformats.org/officeDocument/2006/relationships/hyperlink" Target="https://en.wikipedia.org/wiki/Yuga_cycle#cite_note-40" TargetMode="External"/><Relationship Id="rId145" Type="http://schemas.openxmlformats.org/officeDocument/2006/relationships/hyperlink" Target="https://en.wikipedia.org/wiki/Atlantis" TargetMode="External"/><Relationship Id="rId166" Type="http://schemas.openxmlformats.org/officeDocument/2006/relationships/hyperlink" Target="https://en.wikipedia.org/wiki/Ages_of_Man#Hesiod's_Five_Ages" TargetMode="External"/><Relationship Id="rId187" Type="http://schemas.openxmlformats.org/officeDocument/2006/relationships/hyperlink" Target="https://en.wikipedia.org/wiki/Hindu_eschatology" TargetMode="External"/><Relationship Id="rId1" Type="http://schemas.openxmlformats.org/officeDocument/2006/relationships/slideLayout" Target="../slideLayouts/slideLayout1.xml"/><Relationship Id="rId28" Type="http://schemas.openxmlformats.org/officeDocument/2006/relationships/hyperlink" Target="https://en.wikipedia.org/wiki/Yuga_cycle#cite_note-12" TargetMode="External"/><Relationship Id="rId49" Type="http://schemas.openxmlformats.org/officeDocument/2006/relationships/hyperlink" Target="https://en.wikipedia.org/wiki/Atharvaveda" TargetMode="External"/><Relationship Id="rId114" Type="http://schemas.openxmlformats.org/officeDocument/2006/relationships/hyperlink" Target="https://en.wikipedia.org/wiki/Yuga_cycle#cite_note-50" TargetMode="External"/><Relationship Id="rId60" Type="http://schemas.openxmlformats.org/officeDocument/2006/relationships/hyperlink" Target="https://en.wikipedia.org/wiki/Yuga_cycle#cite_note-24" TargetMode="External"/><Relationship Id="rId81" Type="http://schemas.openxmlformats.org/officeDocument/2006/relationships/hyperlink" Target="https://en.wikipedia.org/w/index.php?title=Yuga_cycle&amp;action=edit&amp;section=" TargetMode="External"/><Relationship Id="rId135" Type="http://schemas.openxmlformats.org/officeDocument/2006/relationships/hyperlink" Target="https://en.wikipedia.org/wiki/John_Major_Jenkins" TargetMode="External"/><Relationship Id="rId156" Type="http://schemas.openxmlformats.org/officeDocument/2006/relationships/hyperlink" Target="https://en.wikipedia.org/wiki/Yuga_cycle#cite_note-FOOTNOTEGodwin2011309-67" TargetMode="External"/><Relationship Id="rId177" Type="http://schemas.openxmlformats.org/officeDocument/2006/relationships/hyperlink" Target="https://en.wikipedia.org/wiki/Cratylus_(dialogue)" TargetMode="External"/><Relationship Id="rId198" Type="http://schemas.openxmlformats.org/officeDocument/2006/relationships/hyperlink" Target="https://en.wikipedia.org/wiki/Yuga_cycle#cite_note-11" TargetMode="External"/><Relationship Id="rId18" Type="http://schemas.openxmlformats.org/officeDocument/2006/relationships/hyperlink" Target="https://en.wikipedia.org/wiki/Kalki" TargetMode="External"/><Relationship Id="rId39" Type="http://schemas.openxmlformats.org/officeDocument/2006/relationships/hyperlink" Target="https://en.wikipedia.org/wiki/Yuga_cycle#cite_note-17" TargetMode="External"/><Relationship Id="rId50" Type="http://schemas.openxmlformats.org/officeDocument/2006/relationships/hyperlink" Target="https://en.wikipedia.org/wiki/Upanishads" TargetMode="External"/><Relationship Id="rId104" Type="http://schemas.openxmlformats.org/officeDocument/2006/relationships/hyperlink" Target="https://en.wikipedia.org/wiki/Vyasa" TargetMode="External"/><Relationship Id="rId125" Type="http://schemas.openxmlformats.org/officeDocument/2006/relationships/hyperlink" Target="https://en.wikipedia.org/wiki/Pancha_Bhoota" TargetMode="External"/><Relationship Id="rId146" Type="http://schemas.openxmlformats.org/officeDocument/2006/relationships/hyperlink" Target="https://en.wikipedia.org/wiki/Jean_Robin_(writer)" TargetMode="External"/><Relationship Id="rId167" Type="http://schemas.openxmlformats.org/officeDocument/2006/relationships/hyperlink" Target="https://en.wikipedia.org/wiki/Golden_Age" TargetMode="External"/><Relationship Id="rId188" Type="http://schemas.openxmlformats.org/officeDocument/2006/relationships/hyperlink" Target="https://en.wikipedia.org/wiki/Itihasa#Hindu_Tradi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1100" dirty="0">
                <a:solidFill>
                  <a:srgbClr val="202122"/>
                </a:solidFill>
                <a:ea typeface="+mj-lt"/>
                <a:cs typeface="+mj-lt"/>
              </a:rPr>
              <a:t>From Wikipedia, the free encyclopedia</a:t>
            </a:r>
            <a:endParaRPr lang="en-US" dirty="0">
              <a:ea typeface="+mj-lt"/>
              <a:cs typeface="+mj-lt"/>
            </a:endParaRPr>
          </a:p>
          <a:p>
            <a:r>
              <a:rPr lang="en" sz="1200" i="1" dirty="0">
                <a:solidFill>
                  <a:srgbClr val="202122"/>
                </a:solidFill>
                <a:ea typeface="+mj-lt"/>
                <a:cs typeface="+mj-lt"/>
              </a:rPr>
              <a:t>This article is about Hindu ages and is not to be confused with </a:t>
            </a:r>
            <a:r>
              <a:rPr lang="en" sz="1200" i="1" dirty="0">
                <a:solidFill>
                  <a:srgbClr val="3366CC"/>
                </a:solidFill>
                <a:ea typeface="+mj-lt"/>
                <a:cs typeface="+mj-lt"/>
                <a:hlinkClick r:id="rId2"/>
              </a:rPr>
              <a:t>Buddhist ages</a:t>
            </a:r>
            <a:r>
              <a:rPr lang="en" sz="1200" i="1" dirty="0">
                <a:solidFill>
                  <a:srgbClr val="202122"/>
                </a:solidFill>
                <a:ea typeface="+mj-lt"/>
                <a:cs typeface="+mj-lt"/>
              </a:rPr>
              <a:t>, </a:t>
            </a:r>
            <a:r>
              <a:rPr lang="en" sz="1200" i="1" dirty="0">
                <a:solidFill>
                  <a:srgbClr val="3366CC"/>
                </a:solidFill>
                <a:ea typeface="+mj-lt"/>
                <a:cs typeface="+mj-lt"/>
                <a:hlinkClick r:id="rId3"/>
              </a:rPr>
              <a:t>Greek ages</a:t>
            </a:r>
            <a:r>
              <a:rPr lang="en" sz="1200" i="1" dirty="0">
                <a:solidFill>
                  <a:srgbClr val="202122"/>
                </a:solidFill>
                <a:ea typeface="+mj-lt"/>
                <a:cs typeface="+mj-lt"/>
              </a:rPr>
              <a:t>, or </a:t>
            </a:r>
            <a:r>
              <a:rPr lang="en" sz="1200" i="1" dirty="0">
                <a:solidFill>
                  <a:srgbClr val="3366CC"/>
                </a:solidFill>
                <a:ea typeface="+mj-lt"/>
                <a:cs typeface="+mj-lt"/>
                <a:hlinkClick r:id="rId4"/>
              </a:rPr>
              <a:t>Jain ages</a:t>
            </a:r>
            <a:r>
              <a:rPr lang="en" sz="1200" i="1" dirty="0">
                <a:solidFill>
                  <a:srgbClr val="202122"/>
                </a:solidFill>
                <a:ea typeface="+mj-lt"/>
                <a:cs typeface="+mj-lt"/>
              </a:rPr>
              <a:t>.</a:t>
            </a:r>
            <a:endParaRPr lang="en-US" dirty="0">
              <a:ea typeface="+mj-lt"/>
              <a:cs typeface="+mj-lt"/>
            </a:endParaRPr>
          </a:p>
          <a:p>
            <a:r>
              <a:rPr lang="en" sz="1200" dirty="0">
                <a:solidFill>
                  <a:srgbClr val="202122"/>
                </a:solidFill>
                <a:ea typeface="+mj-lt"/>
                <a:cs typeface="+mj-lt"/>
              </a:rPr>
              <a:t>A </a:t>
            </a:r>
            <a:r>
              <a:rPr lang="en" sz="1200" b="1" i="1" dirty="0">
                <a:solidFill>
                  <a:srgbClr val="202122"/>
                </a:solidFill>
                <a:ea typeface="+mj-lt"/>
                <a:cs typeface="+mj-lt"/>
              </a:rPr>
              <a:t>Yuga</a:t>
            </a:r>
            <a:r>
              <a:rPr lang="en" sz="1200" b="1" dirty="0">
                <a:solidFill>
                  <a:srgbClr val="202122"/>
                </a:solidFill>
                <a:ea typeface="+mj-lt"/>
                <a:cs typeface="+mj-lt"/>
              </a:rPr>
              <a:t> Cycle</a:t>
            </a:r>
            <a:r>
              <a:rPr lang="en" sz="1200" dirty="0">
                <a:solidFill>
                  <a:srgbClr val="202122"/>
                </a:solidFill>
                <a:ea typeface="+mj-lt"/>
                <a:cs typeface="+mj-lt"/>
              </a:rPr>
              <a:t> (</a:t>
            </a:r>
            <a:r>
              <a:rPr lang="en" sz="1200" u="sng" dirty="0">
                <a:solidFill>
                  <a:srgbClr val="202122"/>
                </a:solidFill>
                <a:ea typeface="+mj-lt"/>
                <a:cs typeface="+mj-lt"/>
              </a:rPr>
              <a:t>a.k.a.</a:t>
            </a:r>
            <a:r>
              <a:rPr lang="en" sz="1200" dirty="0">
                <a:solidFill>
                  <a:srgbClr val="202122"/>
                </a:solidFill>
                <a:ea typeface="+mj-lt"/>
                <a:cs typeface="+mj-lt"/>
              </a:rPr>
              <a:t> </a:t>
            </a:r>
            <a:r>
              <a:rPr lang="en" sz="1200" b="1" i="1" dirty="0" err="1">
                <a:solidFill>
                  <a:srgbClr val="202122"/>
                </a:solidFill>
                <a:ea typeface="+mj-lt"/>
                <a:cs typeface="+mj-lt"/>
              </a:rPr>
              <a:t>chatur</a:t>
            </a:r>
            <a:r>
              <a:rPr lang="en" sz="1200" b="1" i="1" dirty="0">
                <a:solidFill>
                  <a:srgbClr val="202122"/>
                </a:solidFill>
                <a:ea typeface="+mj-lt"/>
                <a:cs typeface="+mj-lt"/>
              </a:rPr>
              <a:t> yuga</a:t>
            </a:r>
            <a:r>
              <a:rPr lang="en" sz="1200" dirty="0">
                <a:solidFill>
                  <a:srgbClr val="202122"/>
                </a:solidFill>
                <a:ea typeface="+mj-lt"/>
                <a:cs typeface="+mj-lt"/>
              </a:rPr>
              <a:t>, </a:t>
            </a:r>
            <a:r>
              <a:rPr lang="en" sz="1200" b="1" i="1" dirty="0">
                <a:solidFill>
                  <a:srgbClr val="202122"/>
                </a:solidFill>
                <a:ea typeface="+mj-lt"/>
                <a:cs typeface="+mj-lt"/>
              </a:rPr>
              <a:t>maha yuga</a:t>
            </a:r>
            <a:r>
              <a:rPr lang="en" sz="1200" dirty="0">
                <a:solidFill>
                  <a:srgbClr val="202122"/>
                </a:solidFill>
                <a:ea typeface="+mj-lt"/>
                <a:cs typeface="+mj-lt"/>
              </a:rPr>
              <a:t>, </a:t>
            </a:r>
            <a:r>
              <a:rPr lang="en" sz="1200" dirty="0">
                <a:solidFill>
                  <a:srgbClr val="3366CC"/>
                </a:solidFill>
                <a:ea typeface="+mj-lt"/>
                <a:cs typeface="+mj-lt"/>
                <a:hlinkClick r:id="rId5"/>
              </a:rPr>
              <a:t>etc.</a:t>
            </a:r>
            <a:r>
              <a:rPr lang="en" sz="1200" dirty="0">
                <a:solidFill>
                  <a:srgbClr val="202122"/>
                </a:solidFill>
                <a:ea typeface="+mj-lt"/>
                <a:cs typeface="+mj-lt"/>
              </a:rPr>
              <a:t>) is a cyclic age (</a:t>
            </a:r>
            <a:r>
              <a:rPr lang="en" sz="1200" dirty="0">
                <a:solidFill>
                  <a:srgbClr val="3366CC"/>
                </a:solidFill>
                <a:ea typeface="+mj-lt"/>
                <a:cs typeface="+mj-lt"/>
                <a:hlinkClick r:id="rId6"/>
              </a:rPr>
              <a:t>epoch</a:t>
            </a:r>
            <a:r>
              <a:rPr lang="en" sz="1200" dirty="0">
                <a:solidFill>
                  <a:srgbClr val="202122"/>
                </a:solidFill>
                <a:ea typeface="+mj-lt"/>
                <a:cs typeface="+mj-lt"/>
              </a:rPr>
              <a:t>) in </a:t>
            </a:r>
            <a:r>
              <a:rPr lang="en" sz="1200" dirty="0">
                <a:solidFill>
                  <a:srgbClr val="3366CC"/>
                </a:solidFill>
                <a:ea typeface="+mj-lt"/>
                <a:cs typeface="+mj-lt"/>
                <a:hlinkClick r:id="rId7"/>
              </a:rPr>
              <a:t>Hindu cosmology</a:t>
            </a:r>
            <a:r>
              <a:rPr lang="en" sz="1200" dirty="0">
                <a:solidFill>
                  <a:srgbClr val="202122"/>
                </a:solidFill>
                <a:ea typeface="+mj-lt"/>
                <a:cs typeface="+mj-lt"/>
              </a:rPr>
              <a:t>. Each cycle lasts for 4,320,000 years (12,000 divine years</a:t>
            </a:r>
            <a:r>
              <a:rPr lang="en" sz="1000" baseline="30000" dirty="0">
                <a:solidFill>
                  <a:srgbClr val="3366CC"/>
                </a:solidFill>
                <a:ea typeface="+mj-lt"/>
                <a:cs typeface="+mj-lt"/>
                <a:hlinkClick r:id="rId8"/>
              </a:rPr>
              <a:t>[a]</a:t>
            </a:r>
            <a:r>
              <a:rPr lang="en" sz="1200" dirty="0">
                <a:solidFill>
                  <a:srgbClr val="202122"/>
                </a:solidFill>
                <a:ea typeface="+mj-lt"/>
                <a:cs typeface="+mj-lt"/>
              </a:rPr>
              <a:t>) and repeats four </a:t>
            </a:r>
            <a:r>
              <a:rPr lang="en" sz="1200" i="1" dirty="0">
                <a:solidFill>
                  <a:srgbClr val="3366CC"/>
                </a:solidFill>
                <a:ea typeface="+mj-lt"/>
                <a:cs typeface="+mj-lt"/>
                <a:hlinkClick r:id="rId9"/>
              </a:rPr>
              <a:t>yugas</a:t>
            </a:r>
            <a:r>
              <a:rPr lang="en" sz="1200" dirty="0">
                <a:solidFill>
                  <a:srgbClr val="202122"/>
                </a:solidFill>
                <a:ea typeface="+mj-lt"/>
                <a:cs typeface="+mj-lt"/>
              </a:rPr>
              <a:t> (world ages): </a:t>
            </a:r>
            <a:r>
              <a:rPr lang="en" sz="1200" i="1" dirty="0">
                <a:solidFill>
                  <a:srgbClr val="3366CC"/>
                </a:solidFill>
                <a:ea typeface="+mj-lt"/>
                <a:cs typeface="+mj-lt"/>
                <a:hlinkClick r:id="rId10"/>
              </a:rPr>
              <a:t>Krita (Satya) Yuga</a:t>
            </a:r>
            <a:r>
              <a:rPr lang="en" sz="1200" dirty="0">
                <a:solidFill>
                  <a:srgbClr val="202122"/>
                </a:solidFill>
                <a:ea typeface="+mj-lt"/>
                <a:cs typeface="+mj-lt"/>
              </a:rPr>
              <a:t>, </a:t>
            </a:r>
            <a:r>
              <a:rPr lang="en" sz="1200" i="1" dirty="0">
                <a:solidFill>
                  <a:srgbClr val="3366CC"/>
                </a:solidFill>
                <a:ea typeface="+mj-lt"/>
                <a:cs typeface="+mj-lt"/>
                <a:hlinkClick r:id="rId11"/>
              </a:rPr>
              <a:t>Treta Yuga</a:t>
            </a:r>
            <a:r>
              <a:rPr lang="en" sz="1200" dirty="0">
                <a:solidFill>
                  <a:srgbClr val="202122"/>
                </a:solidFill>
                <a:ea typeface="+mj-lt"/>
                <a:cs typeface="+mj-lt"/>
              </a:rPr>
              <a:t>, </a:t>
            </a:r>
            <a:r>
              <a:rPr lang="en" sz="1200" i="1" dirty="0">
                <a:solidFill>
                  <a:srgbClr val="3366CC"/>
                </a:solidFill>
                <a:ea typeface="+mj-lt"/>
                <a:cs typeface="+mj-lt"/>
                <a:hlinkClick r:id="rId12"/>
              </a:rPr>
              <a:t>Dvapara Yuga</a:t>
            </a:r>
            <a:r>
              <a:rPr lang="en" sz="1200" dirty="0">
                <a:solidFill>
                  <a:srgbClr val="202122"/>
                </a:solidFill>
                <a:ea typeface="+mj-lt"/>
                <a:cs typeface="+mj-lt"/>
              </a:rPr>
              <a:t>, and </a:t>
            </a:r>
            <a:r>
              <a:rPr lang="en" sz="1200" i="1" dirty="0">
                <a:solidFill>
                  <a:srgbClr val="3366CC"/>
                </a:solidFill>
                <a:ea typeface="+mj-lt"/>
                <a:cs typeface="+mj-lt"/>
                <a:hlinkClick r:id="rId13"/>
              </a:rPr>
              <a:t>Kali Yuga</a:t>
            </a:r>
            <a:r>
              <a:rPr lang="en" sz="1200" dirty="0">
                <a:solidFill>
                  <a:srgbClr val="202122"/>
                </a:solidFill>
                <a:ea typeface="+mj-lt"/>
                <a:cs typeface="+mj-lt"/>
              </a:rPr>
              <a:t>.</a:t>
            </a:r>
            <a:r>
              <a:rPr lang="en" sz="1000" baseline="30000" dirty="0">
                <a:solidFill>
                  <a:srgbClr val="3366CC"/>
                </a:solidFill>
                <a:ea typeface="+mj-lt"/>
                <a:cs typeface="+mj-lt"/>
                <a:hlinkClick r:id="rId14"/>
              </a:rPr>
              <a:t>[4]</a:t>
            </a:r>
            <a:endParaRPr lang="en-US">
              <a:ea typeface="+mj-lt"/>
              <a:cs typeface="+mj-lt"/>
            </a:endParaRPr>
          </a:p>
          <a:p>
            <a:r>
              <a:rPr lang="en" sz="1200" dirty="0">
                <a:solidFill>
                  <a:srgbClr val="202122"/>
                </a:solidFill>
                <a:ea typeface="+mj-lt"/>
                <a:cs typeface="+mj-lt"/>
              </a:rPr>
              <a:t>As a </a:t>
            </a:r>
            <a:r>
              <a:rPr lang="en" sz="1200" i="1" dirty="0">
                <a:solidFill>
                  <a:srgbClr val="202122"/>
                </a:solidFill>
                <a:ea typeface="+mj-lt"/>
                <a:cs typeface="+mj-lt"/>
              </a:rPr>
              <a:t>Yuga</a:t>
            </a:r>
            <a:r>
              <a:rPr lang="en" sz="1200" dirty="0">
                <a:solidFill>
                  <a:srgbClr val="202122"/>
                </a:solidFill>
                <a:ea typeface="+mj-lt"/>
                <a:cs typeface="+mj-lt"/>
              </a:rPr>
              <a:t> Cycle progresses through the four </a:t>
            </a:r>
            <a:r>
              <a:rPr lang="en" sz="1200" i="1" dirty="0">
                <a:solidFill>
                  <a:srgbClr val="202122"/>
                </a:solidFill>
                <a:ea typeface="+mj-lt"/>
                <a:cs typeface="+mj-lt"/>
              </a:rPr>
              <a:t>yugas</a:t>
            </a:r>
            <a:r>
              <a:rPr lang="en" sz="1200" dirty="0">
                <a:solidFill>
                  <a:srgbClr val="202122"/>
                </a:solidFill>
                <a:ea typeface="+mj-lt"/>
                <a:cs typeface="+mj-lt"/>
              </a:rPr>
              <a:t>, each </a:t>
            </a:r>
            <a:r>
              <a:rPr lang="en" sz="1200" i="1" dirty="0">
                <a:solidFill>
                  <a:srgbClr val="3366CC"/>
                </a:solidFill>
                <a:ea typeface="+mj-lt"/>
                <a:cs typeface="+mj-lt"/>
                <a:hlinkClick r:id="rId9"/>
              </a:rPr>
              <a:t>yuga's</a:t>
            </a:r>
            <a:r>
              <a:rPr lang="en" sz="1200" dirty="0">
                <a:solidFill>
                  <a:srgbClr val="202122"/>
                </a:solidFill>
                <a:ea typeface="+mj-lt"/>
                <a:cs typeface="+mj-lt"/>
              </a:rPr>
              <a:t> length and humanity's general moral and physical state within each </a:t>
            </a:r>
            <a:r>
              <a:rPr lang="en" sz="1200" i="1" dirty="0">
                <a:solidFill>
                  <a:srgbClr val="202122"/>
                </a:solidFill>
                <a:ea typeface="+mj-lt"/>
                <a:cs typeface="+mj-lt"/>
              </a:rPr>
              <a:t>yuga</a:t>
            </a:r>
            <a:r>
              <a:rPr lang="en" sz="1200" dirty="0">
                <a:solidFill>
                  <a:srgbClr val="202122"/>
                </a:solidFill>
                <a:ea typeface="+mj-lt"/>
                <a:cs typeface="+mj-lt"/>
              </a:rPr>
              <a:t> decrease by one-fourth. </a:t>
            </a:r>
            <a:r>
              <a:rPr lang="en" sz="1200" i="1" dirty="0">
                <a:solidFill>
                  <a:srgbClr val="202122"/>
                </a:solidFill>
                <a:ea typeface="+mj-lt"/>
                <a:cs typeface="+mj-lt"/>
              </a:rPr>
              <a:t>Kali Yuga</a:t>
            </a:r>
            <a:r>
              <a:rPr lang="en" sz="1200" dirty="0">
                <a:solidFill>
                  <a:srgbClr val="202122"/>
                </a:solidFill>
                <a:ea typeface="+mj-lt"/>
                <a:cs typeface="+mj-lt"/>
              </a:rPr>
              <a:t>, which lasts for 432,000 years, is believed to have started in 3102 BCE.</a:t>
            </a:r>
            <a:r>
              <a:rPr lang="en" sz="1000" baseline="30000" dirty="0">
                <a:solidFill>
                  <a:srgbClr val="3366CC"/>
                </a:solidFill>
                <a:ea typeface="+mj-lt"/>
                <a:cs typeface="+mj-lt"/>
                <a:hlinkClick r:id="rId15"/>
              </a:rPr>
              <a:t>[5]</a:t>
            </a:r>
            <a:r>
              <a:rPr lang="en" sz="1000" baseline="30000" dirty="0">
                <a:solidFill>
                  <a:srgbClr val="3366CC"/>
                </a:solidFill>
                <a:ea typeface="+mj-lt"/>
                <a:cs typeface="+mj-lt"/>
                <a:hlinkClick r:id="rId16"/>
              </a:rPr>
              <a:t>[6]</a:t>
            </a:r>
            <a:r>
              <a:rPr lang="en" sz="1200" dirty="0">
                <a:solidFill>
                  <a:srgbClr val="202122"/>
                </a:solidFill>
                <a:ea typeface="+mj-lt"/>
                <a:cs typeface="+mj-lt"/>
              </a:rPr>
              <a:t> Near the end of </a:t>
            </a:r>
            <a:r>
              <a:rPr lang="en" sz="1200" i="1" dirty="0">
                <a:solidFill>
                  <a:srgbClr val="3366CC"/>
                </a:solidFill>
                <a:ea typeface="+mj-lt"/>
                <a:cs typeface="+mj-lt"/>
                <a:hlinkClick r:id="rId13"/>
              </a:rPr>
              <a:t>Kali Yuga</a:t>
            </a:r>
            <a:r>
              <a:rPr lang="en" sz="1200" dirty="0">
                <a:solidFill>
                  <a:srgbClr val="202122"/>
                </a:solidFill>
                <a:ea typeface="+mj-lt"/>
                <a:cs typeface="+mj-lt"/>
              </a:rPr>
              <a:t>, when virtues are at their worst, a cataclysm and a re-establishment of </a:t>
            </a:r>
            <a:r>
              <a:rPr lang="en" sz="1200" i="1" dirty="0">
                <a:solidFill>
                  <a:srgbClr val="3366CC"/>
                </a:solidFill>
                <a:ea typeface="+mj-lt"/>
                <a:cs typeface="+mj-lt"/>
                <a:hlinkClick r:id="rId17"/>
              </a:rPr>
              <a:t>dharma</a:t>
            </a:r>
            <a:r>
              <a:rPr lang="en" sz="1200" dirty="0">
                <a:solidFill>
                  <a:srgbClr val="202122"/>
                </a:solidFill>
                <a:ea typeface="+mj-lt"/>
                <a:cs typeface="+mj-lt"/>
              </a:rPr>
              <a:t> occur to usher in the next cycle's </a:t>
            </a:r>
            <a:r>
              <a:rPr lang="en" sz="1200" i="1" dirty="0">
                <a:solidFill>
                  <a:srgbClr val="202122"/>
                </a:solidFill>
                <a:ea typeface="+mj-lt"/>
                <a:cs typeface="+mj-lt"/>
              </a:rPr>
              <a:t>Krita (Satya) Yuga</a:t>
            </a:r>
            <a:r>
              <a:rPr lang="en" sz="1200" dirty="0">
                <a:solidFill>
                  <a:srgbClr val="202122"/>
                </a:solidFill>
                <a:ea typeface="+mj-lt"/>
                <a:cs typeface="+mj-lt"/>
              </a:rPr>
              <a:t>, prophesied to occur by </a:t>
            </a:r>
            <a:r>
              <a:rPr lang="en" sz="1200" dirty="0">
                <a:solidFill>
                  <a:srgbClr val="3366CC"/>
                </a:solidFill>
                <a:ea typeface="+mj-lt"/>
                <a:cs typeface="+mj-lt"/>
                <a:hlinkClick r:id="rId18"/>
              </a:rPr>
              <a:t>Kalki</a:t>
            </a:r>
            <a:r>
              <a:rPr lang="en" sz="1200" dirty="0">
                <a:solidFill>
                  <a:srgbClr val="202122"/>
                </a:solidFill>
                <a:ea typeface="+mj-lt"/>
                <a:cs typeface="+mj-lt"/>
              </a:rPr>
              <a:t>.</a:t>
            </a:r>
            <a:r>
              <a:rPr lang="en" sz="1000" baseline="30000" dirty="0">
                <a:solidFill>
                  <a:srgbClr val="3366CC"/>
                </a:solidFill>
                <a:ea typeface="+mj-lt"/>
                <a:cs typeface="+mj-lt"/>
                <a:hlinkClick r:id="rId19"/>
              </a:rPr>
              <a:t>[7]</a:t>
            </a:r>
            <a:endParaRPr lang="en-US">
              <a:ea typeface="+mj-lt"/>
              <a:cs typeface="+mj-lt"/>
            </a:endParaRPr>
          </a:p>
          <a:p>
            <a:r>
              <a:rPr lang="en" sz="1200" dirty="0">
                <a:solidFill>
                  <a:srgbClr val="202122"/>
                </a:solidFill>
                <a:ea typeface="+mj-lt"/>
                <a:cs typeface="+mj-lt"/>
              </a:rPr>
              <a:t>There are 71 </a:t>
            </a:r>
            <a:r>
              <a:rPr lang="en" sz="1200" i="1" dirty="0">
                <a:solidFill>
                  <a:srgbClr val="202122"/>
                </a:solidFill>
                <a:ea typeface="+mj-lt"/>
                <a:cs typeface="+mj-lt"/>
              </a:rPr>
              <a:t>Yuga</a:t>
            </a:r>
            <a:r>
              <a:rPr lang="en" sz="1200" dirty="0">
                <a:solidFill>
                  <a:srgbClr val="202122"/>
                </a:solidFill>
                <a:ea typeface="+mj-lt"/>
                <a:cs typeface="+mj-lt"/>
              </a:rPr>
              <a:t> Cycles in a </a:t>
            </a:r>
            <a:r>
              <a:rPr lang="en" sz="1200" i="1" dirty="0">
                <a:solidFill>
                  <a:srgbClr val="3366CC"/>
                </a:solidFill>
                <a:ea typeface="+mj-lt"/>
                <a:cs typeface="+mj-lt"/>
                <a:hlinkClick r:id="rId20"/>
              </a:rPr>
              <a:t>manvantara</a:t>
            </a:r>
            <a:r>
              <a:rPr lang="en" sz="1200" dirty="0">
                <a:solidFill>
                  <a:srgbClr val="202122"/>
                </a:solidFill>
                <a:ea typeface="+mj-lt"/>
                <a:cs typeface="+mj-lt"/>
              </a:rPr>
              <a:t> (age of </a:t>
            </a:r>
            <a:r>
              <a:rPr lang="en" sz="1200" dirty="0">
                <a:solidFill>
                  <a:srgbClr val="3366CC"/>
                </a:solidFill>
                <a:ea typeface="+mj-lt"/>
                <a:cs typeface="+mj-lt"/>
                <a:hlinkClick r:id="rId21"/>
              </a:rPr>
              <a:t>Manu</a:t>
            </a:r>
            <a:r>
              <a:rPr lang="en" sz="1200" dirty="0">
                <a:solidFill>
                  <a:srgbClr val="202122"/>
                </a:solidFill>
                <a:ea typeface="+mj-lt"/>
                <a:cs typeface="+mj-lt"/>
              </a:rPr>
              <a:t>) and 1,000 </a:t>
            </a:r>
            <a:r>
              <a:rPr lang="en" sz="1200" i="1" dirty="0">
                <a:solidFill>
                  <a:srgbClr val="202122"/>
                </a:solidFill>
                <a:ea typeface="+mj-lt"/>
                <a:cs typeface="+mj-lt"/>
              </a:rPr>
              <a:t>Yuga</a:t>
            </a:r>
            <a:r>
              <a:rPr lang="en" sz="1200" dirty="0">
                <a:solidFill>
                  <a:srgbClr val="202122"/>
                </a:solidFill>
                <a:ea typeface="+mj-lt"/>
                <a:cs typeface="+mj-lt"/>
              </a:rPr>
              <a:t> Cycles in a </a:t>
            </a:r>
            <a:r>
              <a:rPr lang="en" sz="1200" i="1" dirty="0">
                <a:solidFill>
                  <a:srgbClr val="3366CC"/>
                </a:solidFill>
                <a:ea typeface="+mj-lt"/>
                <a:cs typeface="+mj-lt"/>
                <a:hlinkClick r:id="rId22"/>
              </a:rPr>
              <a:t>kalpa</a:t>
            </a:r>
            <a:r>
              <a:rPr lang="en" sz="1200" dirty="0">
                <a:solidFill>
                  <a:srgbClr val="202122"/>
                </a:solidFill>
                <a:ea typeface="+mj-lt"/>
                <a:cs typeface="+mj-lt"/>
              </a:rPr>
              <a:t> (day of </a:t>
            </a:r>
            <a:r>
              <a:rPr lang="en" sz="1200" dirty="0">
                <a:solidFill>
                  <a:srgbClr val="3366CC"/>
                </a:solidFill>
                <a:ea typeface="+mj-lt"/>
                <a:cs typeface="+mj-lt"/>
                <a:hlinkClick r:id="rId23"/>
              </a:rPr>
              <a:t>Brahma</a:t>
            </a:r>
            <a:r>
              <a:rPr lang="en" sz="1200" dirty="0">
                <a:solidFill>
                  <a:srgbClr val="202122"/>
                </a:solidFill>
                <a:ea typeface="+mj-lt"/>
                <a:cs typeface="+mj-lt"/>
              </a:rPr>
              <a:t>).</a:t>
            </a:r>
            <a:r>
              <a:rPr lang="en" sz="1000" baseline="30000" dirty="0">
                <a:solidFill>
                  <a:srgbClr val="3366CC"/>
                </a:solidFill>
                <a:ea typeface="+mj-lt"/>
                <a:cs typeface="+mj-lt"/>
                <a:hlinkClick r:id="rId16"/>
              </a:rPr>
              <a:t>[6]</a:t>
            </a:r>
            <a:endParaRPr lang="en-US">
              <a:ea typeface="+mj-lt"/>
              <a:cs typeface="+mj-lt"/>
            </a:endParaRPr>
          </a:p>
          <a:p>
            <a:r>
              <a:rPr lang="en-US" dirty="0"/>
              <a:t>Lexicology</a:t>
            </a:r>
          </a:p>
          <a:p>
            <a:r>
              <a:rPr lang="en" sz="1200" dirty="0">
                <a:solidFill>
                  <a:srgbClr val="202122"/>
                </a:solidFill>
                <a:ea typeface="+mj-lt"/>
                <a:cs typeface="+mj-lt"/>
              </a:rPr>
              <a:t>A </a:t>
            </a:r>
            <a:r>
              <a:rPr lang="en" sz="1200" i="1" dirty="0">
                <a:solidFill>
                  <a:srgbClr val="202122"/>
                </a:solidFill>
                <a:ea typeface="+mj-lt"/>
                <a:cs typeface="+mj-lt"/>
              </a:rPr>
              <a:t>Yuga</a:t>
            </a:r>
            <a:r>
              <a:rPr lang="en" sz="1200" dirty="0">
                <a:solidFill>
                  <a:srgbClr val="202122"/>
                </a:solidFill>
                <a:ea typeface="+mj-lt"/>
                <a:cs typeface="+mj-lt"/>
              </a:rPr>
              <a:t> Cycle has several names.</a:t>
            </a:r>
            <a:endParaRPr lang="en-US" dirty="0">
              <a:ea typeface="+mj-lt"/>
              <a:cs typeface="+mj-lt"/>
            </a:endParaRPr>
          </a:p>
          <a:p>
            <a:r>
              <a:rPr lang="en" sz="1200" dirty="0">
                <a:solidFill>
                  <a:srgbClr val="202122"/>
                </a:solidFill>
                <a:ea typeface="+mj-lt"/>
                <a:cs typeface="+mj-lt"/>
              </a:rPr>
              <a:t>Age or </a:t>
            </a:r>
            <a:r>
              <a:rPr lang="en" sz="1200" i="1" dirty="0">
                <a:solidFill>
                  <a:srgbClr val="3366CC"/>
                </a:solidFill>
                <a:ea typeface="+mj-lt"/>
                <a:cs typeface="+mj-lt"/>
                <a:hlinkClick r:id="rId9"/>
              </a:rPr>
              <a:t>Yuga</a:t>
            </a:r>
            <a:r>
              <a:rPr lang="en" sz="1200" dirty="0">
                <a:solidFill>
                  <a:srgbClr val="202122"/>
                </a:solidFill>
                <a:ea typeface="+mj-lt"/>
                <a:cs typeface="+mj-lt"/>
              </a:rPr>
              <a:t> (</a:t>
            </a:r>
            <a:r>
              <a:rPr lang="en" sz="1200" dirty="0">
                <a:solidFill>
                  <a:srgbClr val="3366CC"/>
                </a:solidFill>
                <a:ea typeface="+mj-lt"/>
                <a:cs typeface="+mj-lt"/>
                <a:hlinkClick r:id="rId24"/>
              </a:rPr>
              <a:t>Sanskrit</a:t>
            </a:r>
            <a:r>
              <a:rPr lang="en" sz="1200" dirty="0">
                <a:solidFill>
                  <a:srgbClr val="202122"/>
                </a:solidFill>
                <a:ea typeface="+mj-lt"/>
                <a:cs typeface="+mj-lt"/>
              </a:rPr>
              <a:t>: </a:t>
            </a:r>
            <a:r>
              <a:rPr lang="sa" sz="1200">
                <a:solidFill>
                  <a:srgbClr val="202122"/>
                </a:solidFill>
                <a:ea typeface="+mj-lt"/>
                <a:cs typeface="+mj-lt"/>
              </a:rPr>
              <a:t>युग</a:t>
            </a:r>
            <a:r>
              <a:rPr lang="en" sz="1200" dirty="0">
                <a:solidFill>
                  <a:srgbClr val="202122"/>
                </a:solidFill>
                <a:ea typeface="+mj-lt"/>
                <a:cs typeface="+mj-lt"/>
              </a:rPr>
              <a:t>, </a:t>
            </a:r>
            <a:r>
              <a:rPr lang="en" sz="1000" dirty="0">
                <a:solidFill>
                  <a:srgbClr val="3366CC"/>
                </a:solidFill>
                <a:ea typeface="+mj-lt"/>
                <a:cs typeface="+mj-lt"/>
                <a:hlinkClick r:id="rId25"/>
              </a:rPr>
              <a:t>lit.</a:t>
            </a:r>
            <a:r>
              <a:rPr lang="en" sz="1000" dirty="0">
                <a:solidFill>
                  <a:srgbClr val="202122"/>
                </a:solidFill>
                <a:ea typeface="+mj-lt"/>
                <a:cs typeface="+mj-lt"/>
              </a:rPr>
              <a:t> </a:t>
            </a:r>
            <a:r>
              <a:rPr lang="en" sz="1200" dirty="0">
                <a:solidFill>
                  <a:srgbClr val="202122"/>
                </a:solidFill>
                <a:ea typeface="+mj-lt"/>
                <a:cs typeface="+mj-lt"/>
              </a:rPr>
              <a:t>'an age of the gods'):</a:t>
            </a:r>
            <a:r>
              <a:rPr lang="en" sz="1000" baseline="30000" dirty="0">
                <a:solidFill>
                  <a:srgbClr val="202122"/>
                </a:solidFill>
                <a:ea typeface="+mj-lt"/>
                <a:cs typeface="+mj-lt"/>
              </a:rPr>
              <a:t>[</a:t>
            </a:r>
            <a:r>
              <a:rPr lang="en" sz="1000" i="1" baseline="30000" dirty="0">
                <a:solidFill>
                  <a:srgbClr val="3366CC"/>
                </a:solidFill>
                <a:ea typeface="+mj-lt"/>
                <a:cs typeface="+mj-lt"/>
                <a:hlinkClick r:id="rId26"/>
              </a:rPr>
              <a:t>citation needed</a:t>
            </a:r>
            <a:r>
              <a:rPr lang="en" sz="1000" baseline="30000" dirty="0">
                <a:solidFill>
                  <a:srgbClr val="202122"/>
                </a:solidFill>
                <a:ea typeface="+mj-lt"/>
                <a:cs typeface="+mj-lt"/>
              </a:rPr>
              <a:t>]</a:t>
            </a:r>
            <a:endParaRPr lang="en-US" dirty="0">
              <a:ea typeface="+mj-lt"/>
              <a:cs typeface="+mj-lt"/>
            </a:endParaRPr>
          </a:p>
          <a:p>
            <a:r>
              <a:rPr lang="en" sz="1200" dirty="0">
                <a:solidFill>
                  <a:srgbClr val="202122"/>
                </a:solidFill>
                <a:ea typeface="+mj-lt"/>
                <a:cs typeface="+mj-lt"/>
              </a:rPr>
              <a:t>"Age" and "</a:t>
            </a:r>
            <a:r>
              <a:rPr lang="en" sz="1200" i="1" dirty="0">
                <a:solidFill>
                  <a:srgbClr val="202122"/>
                </a:solidFill>
                <a:ea typeface="+mj-lt"/>
                <a:cs typeface="+mj-lt"/>
              </a:rPr>
              <a:t>Yuga</a:t>
            </a:r>
            <a:r>
              <a:rPr lang="en" sz="1200" dirty="0">
                <a:solidFill>
                  <a:srgbClr val="202122"/>
                </a:solidFill>
                <a:ea typeface="+mj-lt"/>
                <a:cs typeface="+mj-lt"/>
              </a:rPr>
              <a:t>", sometimes with reverential capitalization, commonly denote a "</a:t>
            </a:r>
            <a:r>
              <a:rPr lang="en" sz="1200" i="1" dirty="0" err="1">
                <a:solidFill>
                  <a:srgbClr val="202122"/>
                </a:solidFill>
                <a:ea typeface="+mj-lt"/>
                <a:cs typeface="+mj-lt"/>
              </a:rPr>
              <a:t>catur</a:t>
            </a:r>
            <a:r>
              <a:rPr lang="en" sz="1200" i="1" dirty="0">
                <a:solidFill>
                  <a:srgbClr val="202122"/>
                </a:solidFill>
                <a:ea typeface="+mj-lt"/>
                <a:cs typeface="+mj-lt"/>
              </a:rPr>
              <a:t>-yuga</a:t>
            </a:r>
            <a:r>
              <a:rPr lang="en" sz="1200" dirty="0">
                <a:solidFill>
                  <a:srgbClr val="202122"/>
                </a:solidFill>
                <a:ea typeface="+mj-lt"/>
                <a:cs typeface="+mj-lt"/>
              </a:rPr>
              <a:t>", a cycle of four world ages, unless expressly limited by the name of one of its minor ages (e.g. </a:t>
            </a:r>
            <a:r>
              <a:rPr lang="en" sz="1200" i="1" dirty="0">
                <a:solidFill>
                  <a:srgbClr val="3366CC"/>
                </a:solidFill>
                <a:ea typeface="+mj-lt"/>
                <a:cs typeface="+mj-lt"/>
                <a:hlinkClick r:id="rId13"/>
              </a:rPr>
              <a:t>Kali Yuga</a:t>
            </a:r>
            <a:r>
              <a:rPr lang="en" sz="1200" dirty="0">
                <a:solidFill>
                  <a:srgbClr val="202122"/>
                </a:solidFill>
                <a:ea typeface="+mj-lt"/>
                <a:cs typeface="+mj-lt"/>
              </a:rPr>
              <a:t>).</a:t>
            </a:r>
            <a:r>
              <a:rPr lang="en" sz="1000" baseline="30000" dirty="0">
                <a:solidFill>
                  <a:srgbClr val="3366CC"/>
                </a:solidFill>
                <a:ea typeface="+mj-lt"/>
                <a:cs typeface="+mj-lt"/>
                <a:hlinkClick r:id="rId27"/>
              </a:rPr>
              <a:t>[8]</a:t>
            </a:r>
            <a:r>
              <a:rPr lang="en" sz="1000" baseline="30000" dirty="0">
                <a:solidFill>
                  <a:srgbClr val="3366CC"/>
                </a:solidFill>
                <a:ea typeface="+mj-lt"/>
                <a:cs typeface="+mj-lt"/>
                <a:hlinkClick r:id="rId28"/>
              </a:rPr>
              <a:t>[b]</a:t>
            </a:r>
            <a:r>
              <a:rPr lang="en" sz="1200" dirty="0">
                <a:solidFill>
                  <a:srgbClr val="202122"/>
                </a:solidFill>
                <a:ea typeface="+mj-lt"/>
                <a:cs typeface="+mj-lt"/>
              </a:rPr>
              <a:t> Its archaic spelling is </a:t>
            </a:r>
            <a:r>
              <a:rPr lang="en" sz="1200" i="1" dirty="0" err="1">
                <a:solidFill>
                  <a:srgbClr val="202122"/>
                </a:solidFill>
                <a:ea typeface="+mj-lt"/>
                <a:cs typeface="+mj-lt"/>
              </a:rPr>
              <a:t>yug</a:t>
            </a:r>
            <a:r>
              <a:rPr lang="en" sz="1200" dirty="0">
                <a:solidFill>
                  <a:srgbClr val="202122"/>
                </a:solidFill>
                <a:ea typeface="+mj-lt"/>
                <a:cs typeface="+mj-lt"/>
              </a:rPr>
              <a:t>, with other forms of </a:t>
            </a:r>
            <a:r>
              <a:rPr lang="en" sz="1200" i="1" dirty="0" err="1">
                <a:solidFill>
                  <a:srgbClr val="202122"/>
                </a:solidFill>
                <a:ea typeface="+mj-lt"/>
                <a:cs typeface="+mj-lt"/>
              </a:rPr>
              <a:t>yugam</a:t>
            </a:r>
            <a:r>
              <a:rPr lang="en" sz="1200" dirty="0">
                <a:solidFill>
                  <a:srgbClr val="202122"/>
                </a:solidFill>
                <a:ea typeface="+mj-lt"/>
                <a:cs typeface="+mj-lt"/>
              </a:rPr>
              <a:t>, </a:t>
            </a:r>
            <a:r>
              <a:rPr lang="en" sz="1200" i="1" dirty="0" err="1">
                <a:solidFill>
                  <a:srgbClr val="202122"/>
                </a:solidFill>
                <a:ea typeface="+mj-lt"/>
                <a:cs typeface="+mj-lt"/>
              </a:rPr>
              <a:t>yugānāṃ</a:t>
            </a:r>
            <a:r>
              <a:rPr lang="en" sz="1200" dirty="0">
                <a:solidFill>
                  <a:srgbClr val="202122"/>
                </a:solidFill>
                <a:ea typeface="+mj-lt"/>
                <a:cs typeface="+mj-lt"/>
              </a:rPr>
              <a:t>, and </a:t>
            </a:r>
            <a:r>
              <a:rPr lang="en" sz="1200" i="1" dirty="0" err="1">
                <a:solidFill>
                  <a:srgbClr val="202122"/>
                </a:solidFill>
                <a:ea typeface="+mj-lt"/>
                <a:cs typeface="+mj-lt"/>
              </a:rPr>
              <a:t>yuge</a:t>
            </a:r>
            <a:r>
              <a:rPr lang="en" sz="1200" dirty="0">
                <a:solidFill>
                  <a:srgbClr val="202122"/>
                </a:solidFill>
                <a:ea typeface="+mj-lt"/>
                <a:cs typeface="+mj-lt"/>
              </a:rPr>
              <a:t>, derived from </a:t>
            </a:r>
            <a:r>
              <a:rPr lang="en" sz="1200" i="1" dirty="0" err="1">
                <a:solidFill>
                  <a:srgbClr val="202122"/>
                </a:solidFill>
                <a:ea typeface="+mj-lt"/>
                <a:cs typeface="+mj-lt"/>
              </a:rPr>
              <a:t>yuj</a:t>
            </a:r>
            <a:r>
              <a:rPr lang="en" sz="1200" dirty="0">
                <a:solidFill>
                  <a:srgbClr val="202122"/>
                </a:solidFill>
                <a:ea typeface="+mj-lt"/>
                <a:cs typeface="+mj-lt"/>
              </a:rPr>
              <a:t> (</a:t>
            </a:r>
            <a:r>
              <a:rPr lang="en" sz="1200" dirty="0">
                <a:solidFill>
                  <a:srgbClr val="3366CC"/>
                </a:solidFill>
                <a:ea typeface="+mj-lt"/>
                <a:cs typeface="+mj-lt"/>
                <a:hlinkClick r:id="rId24"/>
              </a:rPr>
              <a:t>Sanskrit</a:t>
            </a:r>
            <a:r>
              <a:rPr lang="en" sz="1200" dirty="0">
                <a:solidFill>
                  <a:srgbClr val="202122"/>
                </a:solidFill>
                <a:ea typeface="+mj-lt"/>
                <a:cs typeface="+mj-lt"/>
              </a:rPr>
              <a:t>: </a:t>
            </a:r>
            <a:r>
              <a:rPr lang="sa" sz="1200">
                <a:solidFill>
                  <a:srgbClr val="202122"/>
                </a:solidFill>
                <a:ea typeface="+mj-lt"/>
                <a:cs typeface="+mj-lt"/>
              </a:rPr>
              <a:t>युज्</a:t>
            </a:r>
            <a:r>
              <a:rPr lang="en" sz="1200" dirty="0">
                <a:solidFill>
                  <a:srgbClr val="202122"/>
                </a:solidFill>
                <a:ea typeface="+mj-lt"/>
                <a:cs typeface="+mj-lt"/>
              </a:rPr>
              <a:t>, </a:t>
            </a:r>
            <a:r>
              <a:rPr lang="en" sz="1000" dirty="0">
                <a:solidFill>
                  <a:srgbClr val="3366CC"/>
                </a:solidFill>
                <a:ea typeface="+mj-lt"/>
                <a:cs typeface="+mj-lt"/>
                <a:hlinkClick r:id="rId25"/>
              </a:rPr>
              <a:t>lit.</a:t>
            </a:r>
            <a:r>
              <a:rPr lang="en" sz="1000" dirty="0">
                <a:solidFill>
                  <a:srgbClr val="202122"/>
                </a:solidFill>
                <a:ea typeface="+mj-lt"/>
                <a:cs typeface="+mj-lt"/>
              </a:rPr>
              <a:t> </a:t>
            </a:r>
            <a:r>
              <a:rPr lang="en" sz="1200" dirty="0">
                <a:solidFill>
                  <a:srgbClr val="202122"/>
                </a:solidFill>
                <a:ea typeface="+mj-lt"/>
                <a:cs typeface="+mj-lt"/>
              </a:rPr>
              <a:t>'to join or yoke'), believed derived from *</a:t>
            </a:r>
            <a:r>
              <a:rPr lang="en" sz="1200" i="1" dirty="0" err="1">
                <a:solidFill>
                  <a:srgbClr val="202122"/>
                </a:solidFill>
                <a:ea typeface="+mj-lt"/>
                <a:cs typeface="+mj-lt"/>
              </a:rPr>
              <a:t>yeug</a:t>
            </a:r>
            <a:r>
              <a:rPr lang="en" sz="1200" i="1" dirty="0">
                <a:solidFill>
                  <a:srgbClr val="202122"/>
                </a:solidFill>
                <a:ea typeface="+mj-lt"/>
                <a:cs typeface="+mj-lt"/>
              </a:rPr>
              <a:t>-</a:t>
            </a:r>
            <a:r>
              <a:rPr lang="en" sz="1200" dirty="0">
                <a:solidFill>
                  <a:srgbClr val="202122"/>
                </a:solidFill>
                <a:ea typeface="+mj-lt"/>
                <a:cs typeface="+mj-lt"/>
              </a:rPr>
              <a:t> (</a:t>
            </a:r>
            <a:r>
              <a:rPr lang="en" sz="1200" dirty="0">
                <a:solidFill>
                  <a:srgbClr val="3366CC"/>
                </a:solidFill>
                <a:ea typeface="+mj-lt"/>
                <a:cs typeface="+mj-lt"/>
                <a:hlinkClick r:id="rId29"/>
              </a:rPr>
              <a:t>Proto-Indo-European</a:t>
            </a:r>
            <a:r>
              <a:rPr lang="en" sz="1200" dirty="0">
                <a:solidFill>
                  <a:srgbClr val="202122"/>
                </a:solidFill>
                <a:ea typeface="+mj-lt"/>
                <a:cs typeface="+mj-lt"/>
              </a:rPr>
              <a:t>: </a:t>
            </a:r>
            <a:r>
              <a:rPr lang="en" sz="1000" u="sng" dirty="0">
                <a:solidFill>
                  <a:srgbClr val="202122"/>
                </a:solidFill>
                <a:ea typeface="+mj-lt"/>
                <a:cs typeface="+mj-lt"/>
              </a:rPr>
              <a:t>lit.</a:t>
            </a:r>
            <a:r>
              <a:rPr lang="en" sz="1200" dirty="0">
                <a:solidFill>
                  <a:srgbClr val="202122"/>
                </a:solidFill>
                <a:ea typeface="+mj-lt"/>
                <a:cs typeface="+mj-lt"/>
              </a:rPr>
              <a:t> 'to join or unite').</a:t>
            </a:r>
            <a:r>
              <a:rPr lang="en" sz="1000" baseline="30000" dirty="0">
                <a:solidFill>
                  <a:srgbClr val="3366CC"/>
                </a:solidFill>
                <a:ea typeface="+mj-lt"/>
                <a:cs typeface="+mj-lt"/>
                <a:hlinkClick r:id="rId30"/>
              </a:rPr>
              <a:t>[11]</a:t>
            </a:r>
            <a:endParaRPr lang="en-US">
              <a:ea typeface="+mj-lt"/>
              <a:cs typeface="+mj-lt"/>
            </a:endParaRPr>
          </a:p>
          <a:p>
            <a:r>
              <a:rPr lang="en" sz="1200" i="1" dirty="0">
                <a:solidFill>
                  <a:srgbClr val="202122"/>
                </a:solidFill>
                <a:ea typeface="+mj-lt"/>
                <a:cs typeface="+mj-lt"/>
              </a:rPr>
              <a:t>Chatur Yuga</a:t>
            </a:r>
            <a:r>
              <a:rPr lang="en" sz="1200" dirty="0">
                <a:solidFill>
                  <a:srgbClr val="202122"/>
                </a:solidFill>
                <a:ea typeface="+mj-lt"/>
                <a:cs typeface="+mj-lt"/>
              </a:rPr>
              <a:t> (</a:t>
            </a:r>
            <a:r>
              <a:rPr lang="en" sz="1200" dirty="0">
                <a:solidFill>
                  <a:srgbClr val="3366CC"/>
                </a:solidFill>
                <a:ea typeface="+mj-lt"/>
                <a:cs typeface="+mj-lt"/>
                <a:hlinkClick r:id="rId24"/>
              </a:rPr>
              <a:t>Sanskrit</a:t>
            </a:r>
            <a:r>
              <a:rPr lang="en" sz="1200" dirty="0">
                <a:solidFill>
                  <a:srgbClr val="202122"/>
                </a:solidFill>
                <a:ea typeface="+mj-lt"/>
                <a:cs typeface="+mj-lt"/>
              </a:rPr>
              <a:t>: </a:t>
            </a:r>
            <a:r>
              <a:rPr lang="sa" sz="1200">
                <a:solidFill>
                  <a:srgbClr val="202122"/>
                </a:solidFill>
                <a:ea typeface="+mj-lt"/>
                <a:cs typeface="+mj-lt"/>
              </a:rPr>
              <a:t>चतुर्युग</a:t>
            </a:r>
            <a:r>
              <a:rPr lang="en" sz="1200" dirty="0">
                <a:solidFill>
                  <a:srgbClr val="202122"/>
                </a:solidFill>
                <a:ea typeface="+mj-lt"/>
                <a:cs typeface="+mj-lt"/>
              </a:rPr>
              <a:t>, </a:t>
            </a:r>
            <a:r>
              <a:rPr lang="en" sz="1000" dirty="0">
                <a:solidFill>
                  <a:srgbClr val="3366CC"/>
                </a:solidFill>
                <a:ea typeface="+mj-lt"/>
                <a:cs typeface="+mj-lt"/>
                <a:hlinkClick r:id="rId31"/>
              </a:rPr>
              <a:t>romanized</a:t>
            </a:r>
            <a:r>
              <a:rPr lang="en" sz="1000" dirty="0">
                <a:solidFill>
                  <a:srgbClr val="202122"/>
                </a:solidFill>
                <a:ea typeface="+mj-lt"/>
                <a:cs typeface="+mj-lt"/>
              </a:rPr>
              <a:t>: </a:t>
            </a:r>
            <a:r>
              <a:rPr lang="en" sz="1200" i="1" dirty="0" err="1">
                <a:solidFill>
                  <a:srgbClr val="202122"/>
                </a:solidFill>
                <a:ea typeface="+mj-lt"/>
                <a:cs typeface="+mj-lt"/>
              </a:rPr>
              <a:t>caturyuga</a:t>
            </a:r>
            <a:r>
              <a:rPr lang="en" sz="1200" i="1" dirty="0">
                <a:solidFill>
                  <a:srgbClr val="202122"/>
                </a:solidFill>
                <a:ea typeface="+mj-lt"/>
                <a:cs typeface="+mj-lt"/>
              </a:rPr>
              <a:t>, </a:t>
            </a:r>
            <a:r>
              <a:rPr lang="en" sz="1200" i="1" dirty="0" err="1">
                <a:solidFill>
                  <a:srgbClr val="202122"/>
                </a:solidFill>
                <a:ea typeface="+mj-lt"/>
                <a:cs typeface="+mj-lt"/>
              </a:rPr>
              <a:t>catur</a:t>
            </a:r>
            <a:r>
              <a:rPr lang="en" sz="1200" i="1" dirty="0">
                <a:solidFill>
                  <a:srgbClr val="202122"/>
                </a:solidFill>
                <a:ea typeface="+mj-lt"/>
                <a:cs typeface="+mj-lt"/>
              </a:rPr>
              <a:t>-yuga, </a:t>
            </a:r>
            <a:r>
              <a:rPr lang="en" sz="1200" i="1" dirty="0" err="1">
                <a:solidFill>
                  <a:srgbClr val="202122"/>
                </a:solidFill>
                <a:ea typeface="+mj-lt"/>
                <a:cs typeface="+mj-lt"/>
              </a:rPr>
              <a:t>chaturyuga</a:t>
            </a:r>
            <a:r>
              <a:rPr lang="en" sz="1200" i="1" dirty="0">
                <a:solidFill>
                  <a:srgbClr val="202122"/>
                </a:solidFill>
                <a:ea typeface="+mj-lt"/>
                <a:cs typeface="+mj-lt"/>
              </a:rPr>
              <a:t>, or </a:t>
            </a:r>
            <a:r>
              <a:rPr lang="en" sz="1200" i="1" dirty="0" err="1">
                <a:solidFill>
                  <a:srgbClr val="202122"/>
                </a:solidFill>
                <a:ea typeface="+mj-lt"/>
                <a:cs typeface="+mj-lt"/>
              </a:rPr>
              <a:t>chatur</a:t>
            </a:r>
            <a:r>
              <a:rPr lang="en" sz="1200" i="1" dirty="0">
                <a:solidFill>
                  <a:srgbClr val="202122"/>
                </a:solidFill>
                <a:ea typeface="+mj-lt"/>
                <a:cs typeface="+mj-lt"/>
              </a:rPr>
              <a:t>-yuga</a:t>
            </a:r>
            <a:r>
              <a:rPr lang="en" sz="1200" dirty="0">
                <a:solidFill>
                  <a:srgbClr val="202122"/>
                </a:solidFill>
                <a:ea typeface="+mj-lt"/>
                <a:cs typeface="+mj-lt"/>
              </a:rPr>
              <a:t>, </a:t>
            </a:r>
            <a:r>
              <a:rPr lang="en" sz="1000" dirty="0">
                <a:solidFill>
                  <a:srgbClr val="3366CC"/>
                </a:solidFill>
                <a:ea typeface="+mj-lt"/>
                <a:cs typeface="+mj-lt"/>
                <a:hlinkClick r:id="rId25"/>
              </a:rPr>
              <a:t>lit.</a:t>
            </a:r>
            <a:r>
              <a:rPr lang="en" sz="1000" dirty="0">
                <a:solidFill>
                  <a:srgbClr val="202122"/>
                </a:solidFill>
                <a:ea typeface="+mj-lt"/>
                <a:cs typeface="+mj-lt"/>
              </a:rPr>
              <a:t> </a:t>
            </a:r>
            <a:r>
              <a:rPr lang="en" sz="1200" dirty="0">
                <a:solidFill>
                  <a:srgbClr val="202122"/>
                </a:solidFill>
                <a:ea typeface="+mj-lt"/>
                <a:cs typeface="+mj-lt"/>
              </a:rPr>
              <a:t>'</a:t>
            </a:r>
            <a:r>
              <a:rPr lang="en" sz="1200" i="1" dirty="0" err="1">
                <a:solidFill>
                  <a:srgbClr val="202122"/>
                </a:solidFill>
                <a:ea typeface="+mj-lt"/>
                <a:cs typeface="+mj-lt"/>
              </a:rPr>
              <a:t>catur</a:t>
            </a:r>
            <a:r>
              <a:rPr lang="en" sz="1200" dirty="0">
                <a:solidFill>
                  <a:srgbClr val="202122"/>
                </a:solidFill>
                <a:ea typeface="+mj-lt"/>
                <a:cs typeface="+mj-lt"/>
              </a:rPr>
              <a:t> means four;</a:t>
            </a:r>
            <a:r>
              <a:rPr lang="en" sz="1000" baseline="30000" dirty="0">
                <a:solidFill>
                  <a:srgbClr val="202122"/>
                </a:solidFill>
                <a:ea typeface="+mj-lt"/>
                <a:cs typeface="+mj-lt"/>
              </a:rPr>
              <a:t>[</a:t>
            </a:r>
            <a:r>
              <a:rPr lang="en" sz="1000" i="1" baseline="30000" dirty="0">
                <a:solidFill>
                  <a:srgbClr val="3366CC"/>
                </a:solidFill>
                <a:ea typeface="+mj-lt"/>
                <a:cs typeface="+mj-lt"/>
                <a:hlinkClick r:id="rId26"/>
              </a:rPr>
              <a:t>citation needed</a:t>
            </a:r>
            <a:r>
              <a:rPr lang="en" sz="1000" baseline="30000" dirty="0">
                <a:solidFill>
                  <a:srgbClr val="202122"/>
                </a:solidFill>
                <a:ea typeface="+mj-lt"/>
                <a:cs typeface="+mj-lt"/>
              </a:rPr>
              <a:t>]</a:t>
            </a:r>
            <a:r>
              <a:rPr lang="en" sz="1200" dirty="0">
                <a:solidFill>
                  <a:srgbClr val="202122"/>
                </a:solidFill>
                <a:ea typeface="+mj-lt"/>
                <a:cs typeface="+mj-lt"/>
              </a:rPr>
              <a:t> a set of the four ages'):</a:t>
            </a:r>
            <a:r>
              <a:rPr lang="en" sz="1000" baseline="30000" dirty="0">
                <a:solidFill>
                  <a:srgbClr val="3366CC"/>
                </a:solidFill>
                <a:ea typeface="+mj-lt"/>
                <a:cs typeface="+mj-lt"/>
                <a:hlinkClick r:id="rId32"/>
              </a:rPr>
              <a:t>[12]</a:t>
            </a:r>
            <a:endParaRPr lang="en-US">
              <a:ea typeface="+mj-lt"/>
              <a:cs typeface="+mj-lt"/>
            </a:endParaRPr>
          </a:p>
          <a:p>
            <a:r>
              <a:rPr lang="en" sz="1200" dirty="0">
                <a:solidFill>
                  <a:srgbClr val="202122"/>
                </a:solidFill>
                <a:ea typeface="+mj-lt"/>
                <a:cs typeface="+mj-lt"/>
              </a:rPr>
              <a:t>A cyclic age encompassing the four </a:t>
            </a:r>
            <a:r>
              <a:rPr lang="en" sz="1200" i="1" dirty="0">
                <a:solidFill>
                  <a:srgbClr val="202122"/>
                </a:solidFill>
                <a:ea typeface="+mj-lt"/>
                <a:cs typeface="+mj-lt"/>
              </a:rPr>
              <a:t>yuga</a:t>
            </a:r>
            <a:r>
              <a:rPr lang="en" sz="1200" dirty="0">
                <a:solidFill>
                  <a:srgbClr val="202122"/>
                </a:solidFill>
                <a:ea typeface="+mj-lt"/>
                <a:cs typeface="+mj-lt"/>
              </a:rPr>
              <a:t> ages</a:t>
            </a:r>
            <a:r>
              <a:rPr lang="en" sz="1000" baseline="30000" dirty="0">
                <a:solidFill>
                  <a:srgbClr val="3366CC"/>
                </a:solidFill>
                <a:ea typeface="+mj-lt"/>
                <a:cs typeface="+mj-lt"/>
                <a:hlinkClick r:id="rId16"/>
              </a:rPr>
              <a:t>[6]</a:t>
            </a:r>
            <a:r>
              <a:rPr lang="en" sz="1000" baseline="30000" dirty="0">
                <a:solidFill>
                  <a:srgbClr val="3366CC"/>
                </a:solidFill>
                <a:ea typeface="+mj-lt"/>
                <a:cs typeface="+mj-lt"/>
                <a:hlinkClick r:id="rId33"/>
              </a:rPr>
              <a:t>[13]</a:t>
            </a:r>
            <a:r>
              <a:rPr lang="en" sz="1200" dirty="0">
                <a:solidFill>
                  <a:srgbClr val="202122"/>
                </a:solidFill>
                <a:ea typeface="+mj-lt"/>
                <a:cs typeface="+mj-lt"/>
              </a:rPr>
              <a:t> as defined in </a:t>
            </a:r>
            <a:r>
              <a:rPr lang="en" sz="1200" dirty="0">
                <a:solidFill>
                  <a:srgbClr val="3366CC"/>
                </a:solidFill>
                <a:ea typeface="+mj-lt"/>
                <a:cs typeface="+mj-lt"/>
                <a:hlinkClick r:id="rId34"/>
              </a:rPr>
              <a:t>Hindu texts</a:t>
            </a:r>
            <a:r>
              <a:rPr lang="en" sz="1200" dirty="0">
                <a:solidFill>
                  <a:srgbClr val="202122"/>
                </a:solidFill>
                <a:ea typeface="+mj-lt"/>
                <a:cs typeface="+mj-lt"/>
              </a:rPr>
              <a:t>: </a:t>
            </a:r>
            <a:r>
              <a:rPr lang="en" sz="1200" i="1" dirty="0">
                <a:solidFill>
                  <a:srgbClr val="3366CC"/>
                </a:solidFill>
                <a:ea typeface="+mj-lt"/>
                <a:cs typeface="+mj-lt"/>
                <a:hlinkClick r:id="rId35"/>
              </a:rPr>
              <a:t>Surya Siddhanta</a:t>
            </a:r>
            <a:r>
              <a:rPr lang="en" sz="1200" dirty="0">
                <a:solidFill>
                  <a:srgbClr val="202122"/>
                </a:solidFill>
                <a:ea typeface="+mj-lt"/>
                <a:cs typeface="+mj-lt"/>
              </a:rPr>
              <a:t>,</a:t>
            </a:r>
            <a:r>
              <a:rPr lang="en" sz="1000" baseline="30000" dirty="0">
                <a:solidFill>
                  <a:srgbClr val="3366CC"/>
                </a:solidFill>
                <a:ea typeface="+mj-lt"/>
                <a:cs typeface="+mj-lt"/>
                <a:hlinkClick r:id="rId27"/>
              </a:rPr>
              <a:t>[8]</a:t>
            </a:r>
            <a:r>
              <a:rPr lang="en" sz="1200" dirty="0">
                <a:solidFill>
                  <a:srgbClr val="202122"/>
                </a:solidFill>
                <a:ea typeface="+mj-lt"/>
                <a:cs typeface="+mj-lt"/>
              </a:rPr>
              <a:t> </a:t>
            </a:r>
            <a:r>
              <a:rPr lang="en" sz="1200" i="1" dirty="0">
                <a:solidFill>
                  <a:srgbClr val="3366CC"/>
                </a:solidFill>
                <a:ea typeface="+mj-lt"/>
                <a:cs typeface="+mj-lt"/>
                <a:hlinkClick r:id="rId36"/>
              </a:rPr>
              <a:t>Manusmriti</a:t>
            </a:r>
            <a:r>
              <a:rPr lang="en" sz="1200" dirty="0">
                <a:solidFill>
                  <a:srgbClr val="202122"/>
                </a:solidFill>
                <a:ea typeface="+mj-lt"/>
                <a:cs typeface="+mj-lt"/>
              </a:rPr>
              <a:t>,</a:t>
            </a:r>
            <a:r>
              <a:rPr lang="en" sz="1000" baseline="30000" dirty="0">
                <a:solidFill>
                  <a:srgbClr val="3366CC"/>
                </a:solidFill>
                <a:ea typeface="+mj-lt"/>
                <a:cs typeface="+mj-lt"/>
                <a:hlinkClick r:id="rId37"/>
              </a:rPr>
              <a:t>[14]</a:t>
            </a:r>
            <a:r>
              <a:rPr lang="en" sz="1200" dirty="0">
                <a:solidFill>
                  <a:srgbClr val="202122"/>
                </a:solidFill>
                <a:ea typeface="+mj-lt"/>
                <a:cs typeface="+mj-lt"/>
              </a:rPr>
              <a:t> and </a:t>
            </a:r>
            <a:r>
              <a:rPr lang="en" sz="1200" i="1" dirty="0">
                <a:solidFill>
                  <a:srgbClr val="3366CC"/>
                </a:solidFill>
                <a:ea typeface="+mj-lt"/>
                <a:cs typeface="+mj-lt"/>
                <a:hlinkClick r:id="rId38"/>
              </a:rPr>
              <a:t>Bhagavata Purana</a:t>
            </a:r>
            <a:r>
              <a:rPr lang="en" sz="1200" dirty="0">
                <a:solidFill>
                  <a:srgbClr val="202122"/>
                </a:solidFill>
                <a:ea typeface="+mj-lt"/>
                <a:cs typeface="+mj-lt"/>
              </a:rPr>
              <a:t>.</a:t>
            </a:r>
            <a:r>
              <a:rPr lang="en" sz="1000" baseline="30000" dirty="0">
                <a:solidFill>
                  <a:srgbClr val="3366CC"/>
                </a:solidFill>
                <a:ea typeface="+mj-lt"/>
                <a:cs typeface="+mj-lt"/>
                <a:hlinkClick r:id="rId39"/>
              </a:rPr>
              <a:t>[15]</a:t>
            </a:r>
            <a:endParaRPr lang="en-US">
              <a:ea typeface="+mj-lt"/>
              <a:cs typeface="+mj-lt"/>
            </a:endParaRPr>
          </a:p>
          <a:p>
            <a:r>
              <a:rPr lang="en" sz="1200" i="1">
                <a:solidFill>
                  <a:srgbClr val="202122"/>
                </a:solidFill>
                <a:ea typeface="+mj-lt"/>
                <a:cs typeface="+mj-lt"/>
              </a:rPr>
              <a:t>Daiva Yuga</a:t>
            </a:r>
            <a:r>
              <a:rPr lang="en" sz="1200">
                <a:solidFill>
                  <a:srgbClr val="202122"/>
                </a:solidFill>
                <a:ea typeface="+mj-lt"/>
                <a:cs typeface="+mj-lt"/>
              </a:rPr>
              <a:t> (</a:t>
            </a:r>
            <a:r>
              <a:rPr lang="en" sz="1200" dirty="0">
                <a:solidFill>
                  <a:srgbClr val="3366CC"/>
                </a:solidFill>
                <a:ea typeface="+mj-lt"/>
                <a:cs typeface="+mj-lt"/>
                <a:hlinkClick r:id="rId24"/>
              </a:rPr>
              <a:t>Sanskrit</a:t>
            </a:r>
            <a:r>
              <a:rPr lang="en" sz="1200">
                <a:solidFill>
                  <a:srgbClr val="202122"/>
                </a:solidFill>
                <a:ea typeface="+mj-lt"/>
                <a:cs typeface="+mj-lt"/>
              </a:rPr>
              <a:t>: </a:t>
            </a:r>
            <a:r>
              <a:rPr lang="sa" sz="1200">
                <a:solidFill>
                  <a:srgbClr val="202122"/>
                </a:solidFill>
                <a:ea typeface="+mj-lt"/>
                <a:cs typeface="+mj-lt"/>
              </a:rPr>
              <a:t>दैवयुग</a:t>
            </a:r>
            <a:r>
              <a:rPr lang="en" sz="1200" dirty="0">
                <a:solidFill>
                  <a:srgbClr val="202122"/>
                </a:solidFill>
                <a:ea typeface="+mj-lt"/>
                <a:cs typeface="+mj-lt"/>
              </a:rPr>
              <a:t>, </a:t>
            </a:r>
            <a:r>
              <a:rPr lang="en" sz="1000" dirty="0">
                <a:solidFill>
                  <a:srgbClr val="3366CC"/>
                </a:solidFill>
                <a:ea typeface="+mj-lt"/>
                <a:cs typeface="+mj-lt"/>
                <a:hlinkClick r:id="rId31"/>
              </a:rPr>
              <a:t>romanized</a:t>
            </a:r>
            <a:r>
              <a:rPr lang="en" sz="1000">
                <a:solidFill>
                  <a:srgbClr val="202122"/>
                </a:solidFill>
                <a:ea typeface="+mj-lt"/>
                <a:cs typeface="+mj-lt"/>
              </a:rPr>
              <a:t>: </a:t>
            </a:r>
            <a:r>
              <a:rPr lang="en" sz="1200" i="1">
                <a:solidFill>
                  <a:srgbClr val="202122"/>
                </a:solidFill>
                <a:ea typeface="+mj-lt"/>
                <a:cs typeface="+mj-lt"/>
              </a:rPr>
              <a:t>daivayuga or daiva-yuga</a:t>
            </a:r>
            <a:r>
              <a:rPr lang="en" sz="1200">
                <a:solidFill>
                  <a:srgbClr val="202122"/>
                </a:solidFill>
                <a:ea typeface="+mj-lt"/>
                <a:cs typeface="+mj-lt"/>
              </a:rPr>
              <a:t>, </a:t>
            </a:r>
            <a:r>
              <a:rPr lang="en" sz="1000" dirty="0">
                <a:solidFill>
                  <a:srgbClr val="3366CC"/>
                </a:solidFill>
                <a:ea typeface="+mj-lt"/>
                <a:cs typeface="+mj-lt"/>
                <a:hlinkClick r:id="rId25"/>
              </a:rPr>
              <a:t>lit.</a:t>
            </a:r>
            <a:r>
              <a:rPr lang="en" sz="1000">
                <a:solidFill>
                  <a:srgbClr val="202122"/>
                </a:solidFill>
                <a:ea typeface="+mj-lt"/>
                <a:cs typeface="+mj-lt"/>
              </a:rPr>
              <a:t> </a:t>
            </a:r>
            <a:r>
              <a:rPr lang="en" sz="1200">
                <a:solidFill>
                  <a:srgbClr val="202122"/>
                </a:solidFill>
                <a:ea typeface="+mj-lt"/>
                <a:cs typeface="+mj-lt"/>
              </a:rPr>
              <a:t>'a divine or celestial age; an age of the gods'),</a:t>
            </a:r>
            <a:r>
              <a:rPr lang="en" sz="1000" baseline="30000" dirty="0">
                <a:solidFill>
                  <a:srgbClr val="3366CC"/>
                </a:solidFill>
                <a:ea typeface="+mj-lt"/>
                <a:cs typeface="+mj-lt"/>
                <a:hlinkClick r:id="rId40"/>
              </a:rPr>
              <a:t>[16]</a:t>
            </a:r>
            <a:br>
              <a:rPr lang="en" sz="1000" baseline="30000" dirty="0">
                <a:solidFill>
                  <a:srgbClr val="3366CC"/>
                </a:solidFill>
                <a:ea typeface="+mj-lt"/>
                <a:cs typeface="+mj-lt"/>
              </a:rPr>
            </a:br>
            <a:r>
              <a:rPr lang="en" sz="1000" baseline="30000">
                <a:solidFill>
                  <a:srgbClr val="3366CC"/>
                </a:solidFill>
                <a:ea typeface="+mj-lt"/>
                <a:cs typeface="+mj-lt"/>
              </a:rPr>
              <a:t>Deva Yuga</a:t>
            </a:r>
            <a:r>
              <a:rPr lang="en" sz="1200">
                <a:solidFill>
                  <a:srgbClr val="202122"/>
                </a:solidFill>
                <a:ea typeface="+mj-lt"/>
                <a:cs typeface="+mj-lt"/>
              </a:rPr>
              <a:t> (</a:t>
            </a:r>
            <a:r>
              <a:rPr lang="en" sz="1200" dirty="0">
                <a:solidFill>
                  <a:srgbClr val="3366CC"/>
                </a:solidFill>
                <a:ea typeface="+mj-lt"/>
                <a:cs typeface="+mj-lt"/>
                <a:hlinkClick r:id="rId24"/>
              </a:rPr>
              <a:t>Sanskrit</a:t>
            </a:r>
            <a:r>
              <a:rPr lang="en" sz="1200" dirty="0">
                <a:solidFill>
                  <a:srgbClr val="202122"/>
                </a:solidFill>
                <a:ea typeface="+mj-lt"/>
                <a:cs typeface="+mj-lt"/>
              </a:rPr>
              <a:t>: </a:t>
            </a:r>
            <a:r>
              <a:rPr lang="sa" sz="1200">
                <a:solidFill>
                  <a:srgbClr val="202122"/>
                </a:solidFill>
                <a:ea typeface="+mj-lt"/>
                <a:cs typeface="+mj-lt"/>
              </a:rPr>
              <a:t>देवयुग</a:t>
            </a:r>
            <a:r>
              <a:rPr lang="en" sz="1200" dirty="0">
                <a:solidFill>
                  <a:srgbClr val="202122"/>
                </a:solidFill>
                <a:ea typeface="+mj-lt"/>
                <a:cs typeface="+mj-lt"/>
              </a:rPr>
              <a:t>, </a:t>
            </a:r>
            <a:r>
              <a:rPr lang="en" sz="1000" dirty="0">
                <a:solidFill>
                  <a:srgbClr val="3366CC"/>
                </a:solidFill>
                <a:ea typeface="+mj-lt"/>
                <a:cs typeface="+mj-lt"/>
                <a:hlinkClick r:id="rId31"/>
              </a:rPr>
              <a:t>romanized</a:t>
            </a:r>
            <a:r>
              <a:rPr lang="en" sz="1000" dirty="0">
                <a:solidFill>
                  <a:srgbClr val="202122"/>
                </a:solidFill>
                <a:ea typeface="+mj-lt"/>
                <a:cs typeface="+mj-lt"/>
              </a:rPr>
              <a:t>: </a:t>
            </a:r>
            <a:r>
              <a:rPr lang="en" sz="1200" i="1" dirty="0" err="1">
                <a:solidFill>
                  <a:srgbClr val="202122"/>
                </a:solidFill>
                <a:ea typeface="+mj-lt"/>
                <a:cs typeface="+mj-lt"/>
              </a:rPr>
              <a:t>devayuga</a:t>
            </a:r>
            <a:r>
              <a:rPr lang="en" sz="1200" i="1" dirty="0">
                <a:solidFill>
                  <a:srgbClr val="202122"/>
                </a:solidFill>
                <a:ea typeface="+mj-lt"/>
                <a:cs typeface="+mj-lt"/>
              </a:rPr>
              <a:t> or deva-yuga</a:t>
            </a:r>
            <a:r>
              <a:rPr lang="en" sz="1200" dirty="0">
                <a:solidFill>
                  <a:srgbClr val="202122"/>
                </a:solidFill>
                <a:ea typeface="+mj-lt"/>
                <a:cs typeface="+mj-lt"/>
              </a:rPr>
              <a:t>, </a:t>
            </a:r>
            <a:r>
              <a:rPr lang="en" sz="1000" dirty="0">
                <a:solidFill>
                  <a:srgbClr val="3366CC"/>
                </a:solidFill>
                <a:ea typeface="+mj-lt"/>
                <a:cs typeface="+mj-lt"/>
                <a:hlinkClick r:id="rId25"/>
              </a:rPr>
              <a:t>lit.</a:t>
            </a:r>
            <a:r>
              <a:rPr lang="en" sz="1000" dirty="0">
                <a:solidFill>
                  <a:srgbClr val="202122"/>
                </a:solidFill>
                <a:ea typeface="+mj-lt"/>
                <a:cs typeface="+mj-lt"/>
              </a:rPr>
              <a:t> </a:t>
            </a:r>
            <a:r>
              <a:rPr lang="en" sz="1200" dirty="0">
                <a:solidFill>
                  <a:srgbClr val="202122"/>
                </a:solidFill>
                <a:ea typeface="+mj-lt"/>
                <a:cs typeface="+mj-lt"/>
              </a:rPr>
              <a:t>'an age of the gods'),</a:t>
            </a:r>
            <a:r>
              <a:rPr lang="en" sz="1000" baseline="30000" dirty="0">
                <a:solidFill>
                  <a:srgbClr val="3366CC"/>
                </a:solidFill>
                <a:ea typeface="+mj-lt"/>
                <a:cs typeface="+mj-lt"/>
                <a:hlinkClick r:id="rId41"/>
              </a:rPr>
              <a:t>[17]</a:t>
            </a:r>
            <a:br>
              <a:rPr lang="en" sz="1000" baseline="30000" dirty="0">
                <a:solidFill>
                  <a:srgbClr val="3366CC"/>
                </a:solidFill>
                <a:ea typeface="+mj-lt"/>
                <a:cs typeface="+mj-lt"/>
              </a:rPr>
            </a:br>
            <a:r>
              <a:rPr lang="en" sz="1000" baseline="30000" dirty="0">
                <a:solidFill>
                  <a:srgbClr val="3366CC"/>
                </a:solidFill>
                <a:ea typeface="+mj-lt"/>
                <a:cs typeface="+mj-lt"/>
              </a:rPr>
              <a:t>Divya Yuga</a:t>
            </a:r>
            <a:r>
              <a:rPr lang="en" sz="1200" dirty="0">
                <a:solidFill>
                  <a:srgbClr val="202122"/>
                </a:solidFill>
                <a:ea typeface="+mj-lt"/>
                <a:cs typeface="+mj-lt"/>
              </a:rPr>
              <a:t> (</a:t>
            </a:r>
            <a:r>
              <a:rPr lang="en" sz="1200" dirty="0">
                <a:solidFill>
                  <a:srgbClr val="3366CC"/>
                </a:solidFill>
                <a:ea typeface="+mj-lt"/>
                <a:cs typeface="+mj-lt"/>
                <a:hlinkClick r:id="rId24"/>
              </a:rPr>
              <a:t>Sanskrit</a:t>
            </a:r>
            <a:r>
              <a:rPr lang="en" sz="1200" dirty="0">
                <a:solidFill>
                  <a:srgbClr val="202122"/>
                </a:solidFill>
                <a:ea typeface="+mj-lt"/>
                <a:cs typeface="+mj-lt"/>
              </a:rPr>
              <a:t>: </a:t>
            </a:r>
            <a:r>
              <a:rPr lang="sa" sz="1200">
                <a:solidFill>
                  <a:srgbClr val="202122"/>
                </a:solidFill>
                <a:ea typeface="+mj-lt"/>
                <a:cs typeface="+mj-lt"/>
              </a:rPr>
              <a:t>दिव्य युग</a:t>
            </a:r>
            <a:r>
              <a:rPr lang="en" sz="1200" dirty="0">
                <a:solidFill>
                  <a:srgbClr val="202122"/>
                </a:solidFill>
                <a:ea typeface="+mj-lt"/>
                <a:cs typeface="+mj-lt"/>
              </a:rPr>
              <a:t>, </a:t>
            </a:r>
            <a:r>
              <a:rPr lang="en" sz="1000" dirty="0">
                <a:solidFill>
                  <a:srgbClr val="3366CC"/>
                </a:solidFill>
                <a:ea typeface="+mj-lt"/>
                <a:cs typeface="+mj-lt"/>
                <a:hlinkClick r:id="rId31"/>
              </a:rPr>
              <a:t>romanized</a:t>
            </a:r>
            <a:r>
              <a:rPr lang="en" sz="1000" dirty="0">
                <a:solidFill>
                  <a:srgbClr val="202122"/>
                </a:solidFill>
                <a:ea typeface="+mj-lt"/>
                <a:cs typeface="+mj-lt"/>
              </a:rPr>
              <a:t>: </a:t>
            </a:r>
            <a:r>
              <a:rPr lang="en" sz="1200" i="1" dirty="0" err="1">
                <a:solidFill>
                  <a:srgbClr val="202122"/>
                </a:solidFill>
                <a:ea typeface="+mj-lt"/>
                <a:cs typeface="+mj-lt"/>
              </a:rPr>
              <a:t>divyayuga</a:t>
            </a:r>
            <a:r>
              <a:rPr lang="en" sz="1200" i="1" dirty="0">
                <a:solidFill>
                  <a:srgbClr val="202122"/>
                </a:solidFill>
                <a:ea typeface="+mj-lt"/>
                <a:cs typeface="+mj-lt"/>
              </a:rPr>
              <a:t> or </a:t>
            </a:r>
            <a:r>
              <a:rPr lang="en" sz="1200" i="1" dirty="0" err="1">
                <a:solidFill>
                  <a:srgbClr val="202122"/>
                </a:solidFill>
                <a:ea typeface="+mj-lt"/>
                <a:cs typeface="+mj-lt"/>
              </a:rPr>
              <a:t>divya</a:t>
            </a:r>
            <a:r>
              <a:rPr lang="en" sz="1200" i="1" dirty="0">
                <a:solidFill>
                  <a:srgbClr val="202122"/>
                </a:solidFill>
                <a:ea typeface="+mj-lt"/>
                <a:cs typeface="+mj-lt"/>
              </a:rPr>
              <a:t>-yuga</a:t>
            </a:r>
            <a:r>
              <a:rPr lang="en" sz="1200" dirty="0">
                <a:solidFill>
                  <a:srgbClr val="202122"/>
                </a:solidFill>
                <a:ea typeface="+mj-lt"/>
                <a:cs typeface="+mj-lt"/>
              </a:rPr>
              <a:t>, </a:t>
            </a:r>
            <a:r>
              <a:rPr lang="en" sz="1000" dirty="0">
                <a:solidFill>
                  <a:srgbClr val="3366CC"/>
                </a:solidFill>
                <a:ea typeface="+mj-lt"/>
                <a:cs typeface="+mj-lt"/>
                <a:hlinkClick r:id="rId25"/>
              </a:rPr>
              <a:t>lit.</a:t>
            </a:r>
            <a:r>
              <a:rPr lang="en" sz="1000" dirty="0">
                <a:solidFill>
                  <a:srgbClr val="202122"/>
                </a:solidFill>
                <a:ea typeface="+mj-lt"/>
                <a:cs typeface="+mj-lt"/>
              </a:rPr>
              <a:t> </a:t>
            </a:r>
            <a:r>
              <a:rPr lang="en" sz="1200" dirty="0">
                <a:solidFill>
                  <a:srgbClr val="202122"/>
                </a:solidFill>
                <a:ea typeface="+mj-lt"/>
                <a:cs typeface="+mj-lt"/>
              </a:rPr>
              <a:t>'a divine or celestial age'):</a:t>
            </a:r>
            <a:r>
              <a:rPr lang="en" sz="1000" baseline="30000" dirty="0">
                <a:solidFill>
                  <a:srgbClr val="202122"/>
                </a:solidFill>
                <a:ea typeface="+mj-lt"/>
                <a:cs typeface="+mj-lt"/>
              </a:rPr>
              <a:t>[</a:t>
            </a:r>
            <a:r>
              <a:rPr lang="en" sz="1000" i="1" baseline="30000" dirty="0">
                <a:solidFill>
                  <a:srgbClr val="3366CC"/>
                </a:solidFill>
                <a:ea typeface="+mj-lt"/>
                <a:cs typeface="+mj-lt"/>
                <a:hlinkClick r:id="rId26"/>
              </a:rPr>
              <a:t>citation needed</a:t>
            </a:r>
            <a:r>
              <a:rPr lang="en" sz="1000" baseline="30000" dirty="0">
                <a:solidFill>
                  <a:srgbClr val="202122"/>
                </a:solidFill>
                <a:ea typeface="+mj-lt"/>
                <a:cs typeface="+mj-lt"/>
              </a:rPr>
              <a:t>]</a:t>
            </a:r>
            <a:endParaRPr lang="en-US" dirty="0">
              <a:ea typeface="+mj-lt"/>
              <a:cs typeface="+mj-lt"/>
            </a:endParaRPr>
          </a:p>
          <a:p>
            <a:r>
              <a:rPr lang="en" sz="1200">
                <a:solidFill>
                  <a:srgbClr val="202122"/>
                </a:solidFill>
                <a:ea typeface="+mj-lt"/>
                <a:cs typeface="+mj-lt"/>
              </a:rPr>
              <a:t>A cyclic age of the divine, celestrial, or gods (</a:t>
            </a:r>
            <a:r>
              <a:rPr lang="en" sz="1200" dirty="0">
                <a:solidFill>
                  <a:srgbClr val="3366CC"/>
                </a:solidFill>
                <a:ea typeface="+mj-lt"/>
                <a:cs typeface="+mj-lt"/>
                <a:hlinkClick r:id="rId42"/>
              </a:rPr>
              <a:t>Devas</a:t>
            </a:r>
            <a:r>
              <a:rPr lang="en" sz="1200">
                <a:solidFill>
                  <a:srgbClr val="202122"/>
                </a:solidFill>
                <a:ea typeface="+mj-lt"/>
                <a:cs typeface="+mj-lt"/>
              </a:rPr>
              <a:t>) encompassing the four </a:t>
            </a:r>
            <a:r>
              <a:rPr lang="en" sz="1200" i="1">
                <a:solidFill>
                  <a:srgbClr val="202122"/>
                </a:solidFill>
                <a:ea typeface="+mj-lt"/>
                <a:cs typeface="+mj-lt"/>
              </a:rPr>
              <a:t>yuga</a:t>
            </a:r>
            <a:r>
              <a:rPr lang="en" sz="1200">
                <a:solidFill>
                  <a:srgbClr val="202122"/>
                </a:solidFill>
                <a:ea typeface="+mj-lt"/>
                <a:cs typeface="+mj-lt"/>
              </a:rPr>
              <a:t> ages (</a:t>
            </a:r>
            <a:r>
              <a:rPr lang="en" sz="1200" u="sng">
                <a:solidFill>
                  <a:srgbClr val="202122"/>
                </a:solidFill>
                <a:ea typeface="+mj-lt"/>
                <a:cs typeface="+mj-lt"/>
              </a:rPr>
              <a:t>a.k.a.</a:t>
            </a:r>
            <a:r>
              <a:rPr lang="en" sz="1200">
                <a:solidFill>
                  <a:srgbClr val="202122"/>
                </a:solidFill>
                <a:ea typeface="+mj-lt"/>
                <a:cs typeface="+mj-lt"/>
              </a:rPr>
              <a:t> "human ages" or "world ages"). The </a:t>
            </a:r>
            <a:r>
              <a:rPr lang="en" sz="1200" dirty="0">
                <a:solidFill>
                  <a:srgbClr val="3366CC"/>
                </a:solidFill>
                <a:ea typeface="+mj-lt"/>
                <a:cs typeface="+mj-lt"/>
                <a:hlinkClick r:id="rId34"/>
              </a:rPr>
              <a:t>Hindu texts</a:t>
            </a:r>
            <a:r>
              <a:rPr lang="en" sz="1200" dirty="0">
                <a:solidFill>
                  <a:srgbClr val="202122"/>
                </a:solidFill>
                <a:ea typeface="+mj-lt"/>
                <a:cs typeface="+mj-lt"/>
              </a:rPr>
              <a:t> </a:t>
            </a:r>
            <a:r>
              <a:rPr lang="en" sz="1200">
                <a:solidFill>
                  <a:srgbClr val="202122"/>
                </a:solidFill>
                <a:ea typeface="+mj-lt"/>
                <a:cs typeface="+mj-lt"/>
              </a:rPr>
              <a:t>give a length of 12,000 divine years, where a divine year lasts for 360 </a:t>
            </a:r>
            <a:r>
              <a:rPr lang="en" sz="1200" dirty="0">
                <a:solidFill>
                  <a:srgbClr val="3366CC"/>
                </a:solidFill>
                <a:ea typeface="+mj-lt"/>
                <a:cs typeface="+mj-lt"/>
                <a:hlinkClick r:id="rId43"/>
              </a:rPr>
              <a:t>solar</a:t>
            </a:r>
            <a:r>
              <a:rPr lang="en" sz="1200" dirty="0">
                <a:solidFill>
                  <a:srgbClr val="202122"/>
                </a:solidFill>
                <a:ea typeface="+mj-lt"/>
                <a:cs typeface="+mj-lt"/>
              </a:rPr>
              <a:t> </a:t>
            </a:r>
            <a:r>
              <a:rPr lang="en" sz="1200">
                <a:solidFill>
                  <a:srgbClr val="202122"/>
                </a:solidFill>
                <a:ea typeface="+mj-lt"/>
                <a:cs typeface="+mj-lt"/>
              </a:rPr>
              <a:t>(human) years.</a:t>
            </a:r>
            <a:r>
              <a:rPr lang="en" sz="1000" baseline="30000" dirty="0">
                <a:solidFill>
                  <a:srgbClr val="3366CC"/>
                </a:solidFill>
                <a:ea typeface="+mj-lt"/>
                <a:cs typeface="+mj-lt"/>
                <a:hlinkClick r:id="rId15"/>
              </a:rPr>
              <a:t>[5]</a:t>
            </a:r>
            <a:r>
              <a:rPr lang="en" sz="1000" baseline="30000" dirty="0">
                <a:solidFill>
                  <a:srgbClr val="3366CC"/>
                </a:solidFill>
                <a:ea typeface="+mj-lt"/>
                <a:cs typeface="+mj-lt"/>
                <a:hlinkClick r:id="rId16"/>
              </a:rPr>
              <a:t>[6]</a:t>
            </a:r>
            <a:endParaRPr lang="en-US">
              <a:ea typeface="+mj-lt"/>
              <a:cs typeface="+mj-lt"/>
            </a:endParaRPr>
          </a:p>
          <a:p>
            <a:r>
              <a:rPr lang="en" sz="1200" i="1">
                <a:solidFill>
                  <a:srgbClr val="202122"/>
                </a:solidFill>
                <a:ea typeface="+mj-lt"/>
                <a:cs typeface="+mj-lt"/>
              </a:rPr>
              <a:t>Maha Yuga</a:t>
            </a:r>
            <a:r>
              <a:rPr lang="en" sz="1200">
                <a:solidFill>
                  <a:srgbClr val="202122"/>
                </a:solidFill>
                <a:ea typeface="+mj-lt"/>
                <a:cs typeface="+mj-lt"/>
              </a:rPr>
              <a:t> (</a:t>
            </a:r>
            <a:r>
              <a:rPr lang="en" sz="1200" dirty="0">
                <a:solidFill>
                  <a:srgbClr val="3366CC"/>
                </a:solidFill>
                <a:ea typeface="+mj-lt"/>
                <a:cs typeface="+mj-lt"/>
                <a:hlinkClick r:id="rId24"/>
              </a:rPr>
              <a:t>Sanskrit</a:t>
            </a:r>
            <a:r>
              <a:rPr lang="en" sz="1200">
                <a:solidFill>
                  <a:srgbClr val="202122"/>
                </a:solidFill>
                <a:ea typeface="+mj-lt"/>
                <a:cs typeface="+mj-lt"/>
              </a:rPr>
              <a:t>: </a:t>
            </a:r>
            <a:r>
              <a:rPr lang="sa" sz="1200">
                <a:solidFill>
                  <a:srgbClr val="202122"/>
                </a:solidFill>
                <a:ea typeface="+mj-lt"/>
                <a:cs typeface="+mj-lt"/>
              </a:rPr>
              <a:t>महायुग</a:t>
            </a:r>
            <a:r>
              <a:rPr lang="en" sz="1200" dirty="0">
                <a:solidFill>
                  <a:srgbClr val="202122"/>
                </a:solidFill>
                <a:ea typeface="+mj-lt"/>
                <a:cs typeface="+mj-lt"/>
              </a:rPr>
              <a:t>, </a:t>
            </a:r>
            <a:r>
              <a:rPr lang="en" sz="1000" dirty="0">
                <a:solidFill>
                  <a:srgbClr val="3366CC"/>
                </a:solidFill>
                <a:ea typeface="+mj-lt"/>
                <a:cs typeface="+mj-lt"/>
                <a:hlinkClick r:id="rId31"/>
              </a:rPr>
              <a:t>romanized</a:t>
            </a:r>
            <a:r>
              <a:rPr lang="en" sz="1000">
                <a:solidFill>
                  <a:srgbClr val="202122"/>
                </a:solidFill>
                <a:ea typeface="+mj-lt"/>
                <a:cs typeface="+mj-lt"/>
              </a:rPr>
              <a:t>: </a:t>
            </a:r>
            <a:r>
              <a:rPr lang="en" sz="1200" i="1">
                <a:solidFill>
                  <a:srgbClr val="202122"/>
                </a:solidFill>
                <a:ea typeface="+mj-lt"/>
                <a:cs typeface="+mj-lt"/>
              </a:rPr>
              <a:t>mahāyuga or mahā-yuga</a:t>
            </a:r>
            <a:r>
              <a:rPr lang="en" sz="1200">
                <a:solidFill>
                  <a:srgbClr val="202122"/>
                </a:solidFill>
                <a:ea typeface="+mj-lt"/>
                <a:cs typeface="+mj-lt"/>
              </a:rPr>
              <a:t>, </a:t>
            </a:r>
            <a:r>
              <a:rPr lang="en" sz="1000" dirty="0">
                <a:solidFill>
                  <a:srgbClr val="3366CC"/>
                </a:solidFill>
                <a:ea typeface="+mj-lt"/>
                <a:cs typeface="+mj-lt"/>
                <a:hlinkClick r:id="rId25"/>
              </a:rPr>
              <a:t>lit.</a:t>
            </a:r>
            <a:r>
              <a:rPr lang="en" sz="1000">
                <a:solidFill>
                  <a:srgbClr val="202122"/>
                </a:solidFill>
                <a:ea typeface="+mj-lt"/>
                <a:cs typeface="+mj-lt"/>
              </a:rPr>
              <a:t> </a:t>
            </a:r>
            <a:r>
              <a:rPr lang="en" sz="1200">
                <a:solidFill>
                  <a:srgbClr val="202122"/>
                </a:solidFill>
                <a:ea typeface="+mj-lt"/>
                <a:cs typeface="+mj-lt"/>
              </a:rPr>
              <a:t>'a great age'):</a:t>
            </a:r>
            <a:r>
              <a:rPr lang="en" sz="1000" baseline="30000" dirty="0">
                <a:solidFill>
                  <a:srgbClr val="3366CC"/>
                </a:solidFill>
                <a:ea typeface="+mj-lt"/>
                <a:cs typeface="+mj-lt"/>
                <a:hlinkClick r:id="rId44"/>
              </a:rPr>
              <a:t>[18]</a:t>
            </a:r>
            <a:endParaRPr lang="en-US">
              <a:ea typeface="+mj-lt"/>
              <a:cs typeface="+mj-lt"/>
            </a:endParaRPr>
          </a:p>
          <a:p>
            <a:r>
              <a:rPr lang="en" sz="1200">
                <a:solidFill>
                  <a:srgbClr val="202122"/>
                </a:solidFill>
                <a:ea typeface="+mj-lt"/>
                <a:cs typeface="+mj-lt"/>
              </a:rPr>
              <a:t>A greater cyclic age encompassing the smaller four </a:t>
            </a:r>
            <a:r>
              <a:rPr lang="en" sz="1200" i="1">
                <a:solidFill>
                  <a:srgbClr val="202122"/>
                </a:solidFill>
                <a:ea typeface="+mj-lt"/>
                <a:cs typeface="+mj-lt"/>
              </a:rPr>
              <a:t>yuga</a:t>
            </a:r>
            <a:r>
              <a:rPr lang="en" sz="1200">
                <a:solidFill>
                  <a:srgbClr val="202122"/>
                </a:solidFill>
                <a:ea typeface="+mj-lt"/>
                <a:cs typeface="+mj-lt"/>
              </a:rPr>
              <a:t> ages.</a:t>
            </a:r>
            <a:r>
              <a:rPr lang="en" sz="1000" baseline="30000" dirty="0">
                <a:solidFill>
                  <a:srgbClr val="3366CC"/>
                </a:solidFill>
                <a:ea typeface="+mj-lt"/>
                <a:cs typeface="+mj-lt"/>
                <a:hlinkClick r:id="rId16"/>
              </a:rPr>
              <a:t>[6]</a:t>
            </a:r>
            <a:r>
              <a:rPr lang="en" sz="1000" baseline="30000" dirty="0">
                <a:solidFill>
                  <a:srgbClr val="3366CC"/>
                </a:solidFill>
                <a:ea typeface="+mj-lt"/>
                <a:cs typeface="+mj-lt"/>
                <a:hlinkClick r:id="rId45"/>
              </a:rPr>
              <a:t>[19]</a:t>
            </a:r>
            <a:endParaRPr lang="en-US"/>
          </a:p>
          <a:p>
            <a:r>
              <a:rPr lang="en" sz="1200" i="1">
                <a:solidFill>
                  <a:srgbClr val="202122"/>
                </a:solidFill>
                <a:ea typeface="+mj-lt"/>
                <a:cs typeface="+mj-lt"/>
              </a:rPr>
              <a:t>Yuga</a:t>
            </a:r>
            <a:r>
              <a:rPr lang="en" sz="1200">
                <a:solidFill>
                  <a:srgbClr val="202122"/>
                </a:solidFill>
                <a:ea typeface="+mj-lt"/>
                <a:cs typeface="+mj-lt"/>
              </a:rPr>
              <a:t> Cycle (</a:t>
            </a:r>
            <a:r>
              <a:rPr lang="en" sz="1200" dirty="0">
                <a:solidFill>
                  <a:srgbClr val="3366CC"/>
                </a:solidFill>
                <a:ea typeface="+mj-lt"/>
                <a:cs typeface="+mj-lt"/>
                <a:hlinkClick r:id="rId24"/>
              </a:rPr>
              <a:t>Sanskrit</a:t>
            </a:r>
            <a:r>
              <a:rPr lang="en" sz="1200">
                <a:solidFill>
                  <a:srgbClr val="202122"/>
                </a:solidFill>
                <a:ea typeface="+mj-lt"/>
                <a:cs typeface="+mj-lt"/>
              </a:rPr>
              <a:t>: </a:t>
            </a:r>
            <a:r>
              <a:rPr lang="sa" sz="1200">
                <a:solidFill>
                  <a:srgbClr val="202122"/>
                </a:solidFill>
                <a:ea typeface="+mj-lt"/>
                <a:cs typeface="+mj-lt"/>
              </a:rPr>
              <a:t>युग</a:t>
            </a:r>
            <a:r>
              <a:rPr lang="en" sz="1200" dirty="0">
                <a:solidFill>
                  <a:srgbClr val="202122"/>
                </a:solidFill>
                <a:ea typeface="+mj-lt"/>
                <a:cs typeface="+mj-lt"/>
              </a:rPr>
              <a:t>, </a:t>
            </a:r>
            <a:r>
              <a:rPr lang="en" sz="1000" dirty="0">
                <a:solidFill>
                  <a:srgbClr val="3366CC"/>
                </a:solidFill>
                <a:ea typeface="+mj-lt"/>
                <a:cs typeface="+mj-lt"/>
                <a:hlinkClick r:id="rId25"/>
              </a:rPr>
              <a:t>lit.</a:t>
            </a:r>
            <a:r>
              <a:rPr lang="en" sz="1000">
                <a:solidFill>
                  <a:srgbClr val="202122"/>
                </a:solidFill>
                <a:ea typeface="+mj-lt"/>
                <a:cs typeface="+mj-lt"/>
              </a:rPr>
              <a:t> </a:t>
            </a:r>
            <a:r>
              <a:rPr lang="en" sz="1200">
                <a:solidFill>
                  <a:srgbClr val="202122"/>
                </a:solidFill>
                <a:ea typeface="+mj-lt"/>
                <a:cs typeface="+mj-lt"/>
              </a:rPr>
              <a:t>'age') + (English: cycle):</a:t>
            </a:r>
            <a:endParaRPr lang="en-US">
              <a:ea typeface="+mj-lt"/>
              <a:cs typeface="+mj-lt"/>
            </a:endParaRPr>
          </a:p>
          <a:p>
            <a:r>
              <a:rPr lang="en" sz="1200">
                <a:solidFill>
                  <a:srgbClr val="202122"/>
                </a:solidFill>
                <a:ea typeface="+mj-lt"/>
                <a:cs typeface="+mj-lt"/>
              </a:rPr>
              <a:t>A cyclic age encompassing the four </a:t>
            </a:r>
            <a:r>
              <a:rPr lang="en" sz="1200" i="1">
                <a:solidFill>
                  <a:srgbClr val="202122"/>
                </a:solidFill>
                <a:ea typeface="+mj-lt"/>
                <a:cs typeface="+mj-lt"/>
              </a:rPr>
              <a:t>yuga</a:t>
            </a:r>
            <a:r>
              <a:rPr lang="en" sz="1200">
                <a:solidFill>
                  <a:srgbClr val="202122"/>
                </a:solidFill>
                <a:ea typeface="+mj-lt"/>
                <a:cs typeface="+mj-lt"/>
              </a:rPr>
              <a:t> ages.</a:t>
            </a:r>
            <a:endParaRPr lang="en-US"/>
          </a:p>
          <a:p>
            <a:r>
              <a:rPr lang="en" sz="1200">
                <a:solidFill>
                  <a:srgbClr val="202122"/>
                </a:solidFill>
                <a:ea typeface="+mj-lt"/>
                <a:cs typeface="+mj-lt"/>
              </a:rPr>
              <a:t>It is theorized that the concept of the four </a:t>
            </a:r>
            <a:r>
              <a:rPr lang="en" sz="1200" i="1">
                <a:solidFill>
                  <a:srgbClr val="202122"/>
                </a:solidFill>
                <a:ea typeface="+mj-lt"/>
                <a:cs typeface="+mj-lt"/>
              </a:rPr>
              <a:t>yugas</a:t>
            </a:r>
            <a:r>
              <a:rPr lang="en" sz="1200">
                <a:solidFill>
                  <a:srgbClr val="202122"/>
                </a:solidFill>
                <a:ea typeface="+mj-lt"/>
                <a:cs typeface="+mj-lt"/>
              </a:rPr>
              <a:t> originated some time after the compilation of the four </a:t>
            </a:r>
            <a:r>
              <a:rPr lang="en" sz="1200" dirty="0">
                <a:solidFill>
                  <a:srgbClr val="3366CC"/>
                </a:solidFill>
                <a:ea typeface="+mj-lt"/>
                <a:cs typeface="+mj-lt"/>
                <a:hlinkClick r:id="rId46"/>
              </a:rPr>
              <a:t>Vedas</a:t>
            </a:r>
            <a:r>
              <a:rPr lang="en" sz="1200">
                <a:solidFill>
                  <a:srgbClr val="202122"/>
                </a:solidFill>
                <a:ea typeface="+mj-lt"/>
                <a:cs typeface="+mj-lt"/>
              </a:rPr>
              <a:t>, but prior to the rest of the </a:t>
            </a:r>
            <a:r>
              <a:rPr lang="en" sz="1200" dirty="0">
                <a:solidFill>
                  <a:srgbClr val="3366CC"/>
                </a:solidFill>
                <a:ea typeface="+mj-lt"/>
                <a:cs typeface="+mj-lt"/>
                <a:hlinkClick r:id="rId34"/>
              </a:rPr>
              <a:t>Hindu texts</a:t>
            </a:r>
            <a:r>
              <a:rPr lang="en" sz="1200">
                <a:solidFill>
                  <a:srgbClr val="202122"/>
                </a:solidFill>
                <a:ea typeface="+mj-lt"/>
                <a:cs typeface="+mj-lt"/>
              </a:rPr>
              <a:t>, based on the concept's absence in the former writings. It is believed that the four </a:t>
            </a:r>
            <a:r>
              <a:rPr lang="en" sz="1200" i="1">
                <a:solidFill>
                  <a:srgbClr val="202122"/>
                </a:solidFill>
                <a:ea typeface="+mj-lt"/>
                <a:cs typeface="+mj-lt"/>
              </a:rPr>
              <a:t>yugas</a:t>
            </a:r>
            <a:r>
              <a:rPr lang="en" sz="1200">
                <a:solidFill>
                  <a:srgbClr val="202122"/>
                </a:solidFill>
                <a:ea typeface="+mj-lt"/>
                <a:cs typeface="+mj-lt"/>
              </a:rPr>
              <a:t>—</a:t>
            </a:r>
            <a:r>
              <a:rPr lang="en" sz="1200" i="1">
                <a:solidFill>
                  <a:srgbClr val="202122"/>
                </a:solidFill>
                <a:ea typeface="+mj-lt"/>
                <a:cs typeface="+mj-lt"/>
              </a:rPr>
              <a:t>Krita</a:t>
            </a:r>
            <a:r>
              <a:rPr lang="en" sz="1200">
                <a:solidFill>
                  <a:srgbClr val="202122"/>
                </a:solidFill>
                <a:ea typeface="+mj-lt"/>
                <a:cs typeface="+mj-lt"/>
              </a:rPr>
              <a:t> (</a:t>
            </a:r>
            <a:r>
              <a:rPr lang="en" sz="1200" i="1">
                <a:solidFill>
                  <a:srgbClr val="202122"/>
                </a:solidFill>
                <a:ea typeface="+mj-lt"/>
                <a:cs typeface="+mj-lt"/>
              </a:rPr>
              <a:t>Satya</a:t>
            </a:r>
            <a:r>
              <a:rPr lang="en" sz="1200">
                <a:solidFill>
                  <a:srgbClr val="202122"/>
                </a:solidFill>
                <a:ea typeface="+mj-lt"/>
                <a:cs typeface="+mj-lt"/>
              </a:rPr>
              <a:t>), </a:t>
            </a:r>
            <a:r>
              <a:rPr lang="en" sz="1200" i="1">
                <a:solidFill>
                  <a:srgbClr val="202122"/>
                </a:solidFill>
                <a:ea typeface="+mj-lt"/>
                <a:cs typeface="+mj-lt"/>
              </a:rPr>
              <a:t>Treta</a:t>
            </a:r>
            <a:r>
              <a:rPr lang="en" sz="1200">
                <a:solidFill>
                  <a:srgbClr val="202122"/>
                </a:solidFill>
                <a:ea typeface="+mj-lt"/>
                <a:cs typeface="+mj-lt"/>
              </a:rPr>
              <a:t>, </a:t>
            </a:r>
            <a:r>
              <a:rPr lang="en" sz="1200" i="1">
                <a:solidFill>
                  <a:srgbClr val="202122"/>
                </a:solidFill>
                <a:ea typeface="+mj-lt"/>
                <a:cs typeface="+mj-lt"/>
              </a:rPr>
              <a:t>Dvapara</a:t>
            </a:r>
            <a:r>
              <a:rPr lang="en" sz="1200">
                <a:solidFill>
                  <a:srgbClr val="202122"/>
                </a:solidFill>
                <a:ea typeface="+mj-lt"/>
                <a:cs typeface="+mj-lt"/>
              </a:rPr>
              <a:t>, and </a:t>
            </a:r>
            <a:r>
              <a:rPr lang="en" sz="1200" i="1">
                <a:solidFill>
                  <a:srgbClr val="202122"/>
                </a:solidFill>
                <a:ea typeface="+mj-lt"/>
                <a:cs typeface="+mj-lt"/>
              </a:rPr>
              <a:t>Kali</a:t>
            </a:r>
            <a:r>
              <a:rPr lang="en" sz="1200">
                <a:solidFill>
                  <a:srgbClr val="202122"/>
                </a:solidFill>
                <a:ea typeface="+mj-lt"/>
                <a:cs typeface="+mj-lt"/>
              </a:rPr>
              <a:t>—are named after throws of an Indian game of </a:t>
            </a:r>
            <a:r>
              <a:rPr lang="en" sz="1200" dirty="0">
                <a:solidFill>
                  <a:srgbClr val="3366CC"/>
                </a:solidFill>
                <a:ea typeface="+mj-lt"/>
                <a:cs typeface="+mj-lt"/>
                <a:hlinkClick r:id="rId47"/>
              </a:rPr>
              <a:t>long dice</a:t>
            </a:r>
            <a:r>
              <a:rPr lang="en" sz="1200">
                <a:solidFill>
                  <a:srgbClr val="202122"/>
                </a:solidFill>
                <a:ea typeface="+mj-lt"/>
                <a:cs typeface="+mj-lt"/>
              </a:rPr>
              <a:t>, marked with 4-3-2-1 respectively.</a:t>
            </a:r>
            <a:r>
              <a:rPr lang="en" sz="1000" baseline="30000" dirty="0">
                <a:solidFill>
                  <a:srgbClr val="3366CC"/>
                </a:solidFill>
                <a:ea typeface="+mj-lt"/>
                <a:cs typeface="+mj-lt"/>
                <a:hlinkClick r:id="rId15"/>
              </a:rPr>
              <a:t>[5]</a:t>
            </a:r>
            <a:r>
              <a:rPr lang="en" sz="1200" dirty="0">
                <a:solidFill>
                  <a:srgbClr val="202122"/>
                </a:solidFill>
                <a:ea typeface="+mj-lt"/>
                <a:cs typeface="+mj-lt"/>
              </a:rPr>
              <a:t> </a:t>
            </a:r>
            <a:r>
              <a:rPr lang="en" sz="1200">
                <a:solidFill>
                  <a:srgbClr val="202122"/>
                </a:solidFill>
                <a:ea typeface="+mj-lt"/>
                <a:cs typeface="+mj-lt"/>
              </a:rPr>
              <a:t>A dice game is described in the </a:t>
            </a:r>
            <a:r>
              <a:rPr lang="en" sz="1200" i="1" dirty="0">
                <a:solidFill>
                  <a:srgbClr val="3366CC"/>
                </a:solidFill>
                <a:ea typeface="+mj-lt"/>
                <a:cs typeface="+mj-lt"/>
                <a:hlinkClick r:id="rId48"/>
              </a:rPr>
              <a:t>Rigveda</a:t>
            </a:r>
            <a:r>
              <a:rPr lang="en" sz="1200" dirty="0">
                <a:solidFill>
                  <a:srgbClr val="202122"/>
                </a:solidFill>
                <a:ea typeface="+mj-lt"/>
                <a:cs typeface="+mj-lt"/>
              </a:rPr>
              <a:t>, </a:t>
            </a:r>
            <a:r>
              <a:rPr lang="en" sz="1200" i="1" dirty="0">
                <a:solidFill>
                  <a:srgbClr val="3366CC"/>
                </a:solidFill>
                <a:ea typeface="+mj-lt"/>
                <a:cs typeface="+mj-lt"/>
                <a:hlinkClick r:id="rId49"/>
              </a:rPr>
              <a:t>Atharvaveda</a:t>
            </a:r>
            <a:r>
              <a:rPr lang="en" sz="1200" dirty="0">
                <a:solidFill>
                  <a:srgbClr val="202122"/>
                </a:solidFill>
                <a:ea typeface="+mj-lt"/>
                <a:cs typeface="+mj-lt"/>
              </a:rPr>
              <a:t>, </a:t>
            </a:r>
            <a:r>
              <a:rPr lang="en" sz="1200" dirty="0">
                <a:solidFill>
                  <a:srgbClr val="3366CC"/>
                </a:solidFill>
                <a:ea typeface="+mj-lt"/>
                <a:cs typeface="+mj-lt"/>
                <a:hlinkClick r:id="rId50"/>
              </a:rPr>
              <a:t>Upanishads</a:t>
            </a:r>
            <a:r>
              <a:rPr lang="en" sz="1200" dirty="0">
                <a:solidFill>
                  <a:srgbClr val="202122"/>
                </a:solidFill>
                <a:ea typeface="+mj-lt"/>
                <a:cs typeface="+mj-lt"/>
              </a:rPr>
              <a:t>, </a:t>
            </a:r>
            <a:r>
              <a:rPr lang="en" sz="1200" i="1" dirty="0">
                <a:solidFill>
                  <a:srgbClr val="3366CC"/>
                </a:solidFill>
                <a:ea typeface="+mj-lt"/>
                <a:cs typeface="+mj-lt"/>
                <a:hlinkClick r:id="rId51"/>
              </a:rPr>
              <a:t>Ramayana</a:t>
            </a:r>
            <a:r>
              <a:rPr lang="en" sz="1200" dirty="0">
                <a:solidFill>
                  <a:srgbClr val="202122"/>
                </a:solidFill>
                <a:ea typeface="+mj-lt"/>
                <a:cs typeface="+mj-lt"/>
              </a:rPr>
              <a:t>, </a:t>
            </a:r>
            <a:r>
              <a:rPr lang="en" sz="1200" i="1" dirty="0">
                <a:solidFill>
                  <a:srgbClr val="3366CC"/>
                </a:solidFill>
                <a:ea typeface="+mj-lt"/>
                <a:cs typeface="+mj-lt"/>
                <a:hlinkClick r:id="rId52"/>
              </a:rPr>
              <a:t>Mahabharata</a:t>
            </a:r>
            <a:r>
              <a:rPr lang="en" sz="1200">
                <a:solidFill>
                  <a:srgbClr val="202122"/>
                </a:solidFill>
                <a:ea typeface="+mj-lt"/>
                <a:cs typeface="+mj-lt"/>
              </a:rPr>
              <a:t>, and </a:t>
            </a:r>
            <a:r>
              <a:rPr lang="en" sz="1200" dirty="0">
                <a:solidFill>
                  <a:srgbClr val="3366CC"/>
                </a:solidFill>
                <a:ea typeface="+mj-lt"/>
                <a:cs typeface="+mj-lt"/>
                <a:hlinkClick r:id="rId53"/>
              </a:rPr>
              <a:t>Puranas</a:t>
            </a:r>
            <a:r>
              <a:rPr lang="en" sz="1200">
                <a:solidFill>
                  <a:srgbClr val="202122"/>
                </a:solidFill>
                <a:ea typeface="+mj-lt"/>
                <a:cs typeface="+mj-lt"/>
              </a:rPr>
              <a:t>, while the four </a:t>
            </a:r>
            <a:r>
              <a:rPr lang="en" sz="1200" i="1">
                <a:solidFill>
                  <a:srgbClr val="202122"/>
                </a:solidFill>
                <a:ea typeface="+mj-lt"/>
                <a:cs typeface="+mj-lt"/>
              </a:rPr>
              <a:t>yugas</a:t>
            </a:r>
            <a:r>
              <a:rPr lang="en" sz="1200">
                <a:solidFill>
                  <a:srgbClr val="202122"/>
                </a:solidFill>
                <a:ea typeface="+mj-lt"/>
                <a:cs typeface="+mj-lt"/>
              </a:rPr>
              <a:t> are described after the four </a:t>
            </a:r>
            <a:r>
              <a:rPr lang="en" sz="1200" dirty="0">
                <a:solidFill>
                  <a:srgbClr val="3366CC"/>
                </a:solidFill>
                <a:ea typeface="+mj-lt"/>
                <a:cs typeface="+mj-lt"/>
                <a:hlinkClick r:id="rId46"/>
              </a:rPr>
              <a:t>Vedas</a:t>
            </a:r>
            <a:r>
              <a:rPr lang="en" sz="1200" dirty="0">
                <a:solidFill>
                  <a:srgbClr val="202122"/>
                </a:solidFill>
                <a:ea typeface="+mj-lt"/>
                <a:cs typeface="+mj-lt"/>
              </a:rPr>
              <a:t> </a:t>
            </a:r>
            <a:r>
              <a:rPr lang="en" sz="1200">
                <a:solidFill>
                  <a:srgbClr val="202122"/>
                </a:solidFill>
                <a:ea typeface="+mj-lt"/>
                <a:cs typeface="+mj-lt"/>
              </a:rPr>
              <a:t>with no mention of a correlation to dice.</a:t>
            </a:r>
            <a:r>
              <a:rPr lang="en" sz="1000" baseline="30000" dirty="0">
                <a:solidFill>
                  <a:srgbClr val="3366CC"/>
                </a:solidFill>
                <a:ea typeface="+mj-lt"/>
                <a:cs typeface="+mj-lt"/>
                <a:hlinkClick r:id="rId33"/>
              </a:rPr>
              <a:t>[13]</a:t>
            </a:r>
            <a:r>
              <a:rPr lang="en" sz="1000" baseline="30000" dirty="0">
                <a:solidFill>
                  <a:srgbClr val="3366CC"/>
                </a:solidFill>
                <a:ea typeface="+mj-lt"/>
                <a:cs typeface="+mj-lt"/>
                <a:hlinkClick r:id="rId54"/>
              </a:rPr>
              <a:t>[20]</a:t>
            </a:r>
            <a:r>
              <a:rPr lang="en" sz="1200" dirty="0">
                <a:solidFill>
                  <a:srgbClr val="202122"/>
                </a:solidFill>
                <a:ea typeface="+mj-lt"/>
                <a:cs typeface="+mj-lt"/>
              </a:rPr>
              <a:t> </a:t>
            </a:r>
            <a:r>
              <a:rPr lang="en" sz="1200">
                <a:solidFill>
                  <a:srgbClr val="202122"/>
                </a:solidFill>
                <a:ea typeface="+mj-lt"/>
                <a:cs typeface="+mj-lt"/>
              </a:rPr>
              <a:t>A complete description of the four </a:t>
            </a:r>
            <a:r>
              <a:rPr lang="en" sz="1200" i="1">
                <a:solidFill>
                  <a:srgbClr val="202122"/>
                </a:solidFill>
                <a:ea typeface="+mj-lt"/>
                <a:cs typeface="+mj-lt"/>
              </a:rPr>
              <a:t>yugas</a:t>
            </a:r>
            <a:r>
              <a:rPr lang="en" sz="1200">
                <a:solidFill>
                  <a:srgbClr val="202122"/>
                </a:solidFill>
                <a:ea typeface="+mj-lt"/>
                <a:cs typeface="+mj-lt"/>
              </a:rPr>
              <a:t> and their characteristics are in the </a:t>
            </a:r>
            <a:r>
              <a:rPr lang="en" sz="1200" i="1" dirty="0">
                <a:solidFill>
                  <a:srgbClr val="3366CC"/>
                </a:solidFill>
                <a:ea typeface="+mj-lt"/>
                <a:cs typeface="+mj-lt"/>
                <a:hlinkClick r:id="rId55"/>
              </a:rPr>
              <a:t>Vishnu Smriti</a:t>
            </a:r>
            <a:r>
              <a:rPr lang="en" sz="1200" dirty="0">
                <a:solidFill>
                  <a:srgbClr val="202122"/>
                </a:solidFill>
                <a:ea typeface="+mj-lt"/>
                <a:cs typeface="+mj-lt"/>
              </a:rPr>
              <a:t> </a:t>
            </a:r>
            <a:r>
              <a:rPr lang="en" sz="1200">
                <a:solidFill>
                  <a:srgbClr val="202122"/>
                </a:solidFill>
                <a:ea typeface="+mj-lt"/>
                <a:cs typeface="+mj-lt"/>
              </a:rPr>
              <a:t>(ch. 20),</a:t>
            </a:r>
            <a:r>
              <a:rPr lang="en" sz="1000" baseline="30000" dirty="0">
                <a:solidFill>
                  <a:srgbClr val="3366CC"/>
                </a:solidFill>
                <a:ea typeface="+mj-lt"/>
                <a:cs typeface="+mj-lt"/>
                <a:hlinkClick r:id="rId56"/>
              </a:rPr>
              <a:t>[21]</a:t>
            </a:r>
            <a:r>
              <a:rPr lang="en" sz="1200" dirty="0">
                <a:solidFill>
                  <a:srgbClr val="202122"/>
                </a:solidFill>
                <a:ea typeface="+mj-lt"/>
                <a:cs typeface="+mj-lt"/>
              </a:rPr>
              <a:t> </a:t>
            </a:r>
            <a:r>
              <a:rPr lang="en" sz="1200" i="1" dirty="0">
                <a:solidFill>
                  <a:srgbClr val="3366CC"/>
                </a:solidFill>
                <a:ea typeface="+mj-lt"/>
                <a:cs typeface="+mj-lt"/>
                <a:hlinkClick r:id="rId52"/>
              </a:rPr>
              <a:t>Mahabharata</a:t>
            </a:r>
            <a:r>
              <a:rPr lang="en" sz="1200" dirty="0">
                <a:solidFill>
                  <a:srgbClr val="202122"/>
                </a:solidFill>
                <a:ea typeface="+mj-lt"/>
                <a:cs typeface="+mj-lt"/>
              </a:rPr>
              <a:t> </a:t>
            </a:r>
            <a:r>
              <a:rPr lang="en" sz="1200">
                <a:solidFill>
                  <a:srgbClr val="202122"/>
                </a:solidFill>
                <a:ea typeface="+mj-lt"/>
                <a:cs typeface="+mj-lt"/>
              </a:rPr>
              <a:t>(e.g. Vanaparva 149, 183), </a:t>
            </a:r>
            <a:r>
              <a:rPr lang="en" sz="1200" i="1" dirty="0">
                <a:solidFill>
                  <a:srgbClr val="3366CC"/>
                </a:solidFill>
                <a:ea typeface="+mj-lt"/>
                <a:cs typeface="+mj-lt"/>
                <a:hlinkClick r:id="rId36"/>
              </a:rPr>
              <a:t>Manusmriti</a:t>
            </a:r>
            <a:r>
              <a:rPr lang="en" sz="1200" dirty="0">
                <a:solidFill>
                  <a:srgbClr val="202122"/>
                </a:solidFill>
                <a:ea typeface="+mj-lt"/>
                <a:cs typeface="+mj-lt"/>
              </a:rPr>
              <a:t> </a:t>
            </a:r>
            <a:r>
              <a:rPr lang="en" sz="1200">
                <a:solidFill>
                  <a:srgbClr val="202122"/>
                </a:solidFill>
                <a:ea typeface="+mj-lt"/>
                <a:cs typeface="+mj-lt"/>
              </a:rPr>
              <a:t>(I.81–86), and </a:t>
            </a:r>
            <a:r>
              <a:rPr lang="en" sz="1200" dirty="0">
                <a:solidFill>
                  <a:srgbClr val="3366CC"/>
                </a:solidFill>
                <a:ea typeface="+mj-lt"/>
                <a:cs typeface="+mj-lt"/>
                <a:hlinkClick r:id="rId53"/>
              </a:rPr>
              <a:t>Puranas</a:t>
            </a:r>
            <a:r>
              <a:rPr lang="en" sz="1200" dirty="0">
                <a:solidFill>
                  <a:srgbClr val="202122"/>
                </a:solidFill>
                <a:ea typeface="+mj-lt"/>
                <a:cs typeface="+mj-lt"/>
              </a:rPr>
              <a:t> </a:t>
            </a:r>
            <a:r>
              <a:rPr lang="en" sz="1200">
                <a:solidFill>
                  <a:srgbClr val="202122"/>
                </a:solidFill>
                <a:ea typeface="+mj-lt"/>
                <a:cs typeface="+mj-lt"/>
              </a:rPr>
              <a:t>(e.g. </a:t>
            </a:r>
            <a:r>
              <a:rPr lang="en" sz="1200" i="1" dirty="0">
                <a:solidFill>
                  <a:srgbClr val="3366CC"/>
                </a:solidFill>
                <a:ea typeface="+mj-lt"/>
                <a:cs typeface="+mj-lt"/>
                <a:hlinkClick r:id="rId57"/>
              </a:rPr>
              <a:t>Brahma</a:t>
            </a:r>
            <a:r>
              <a:rPr lang="en" sz="1200">
                <a:solidFill>
                  <a:srgbClr val="202122"/>
                </a:solidFill>
                <a:ea typeface="+mj-lt"/>
                <a:cs typeface="+mj-lt"/>
              </a:rPr>
              <a:t>, ch. 122–123; </a:t>
            </a:r>
            <a:r>
              <a:rPr lang="en" sz="1200" i="1" dirty="0">
                <a:solidFill>
                  <a:srgbClr val="3366CC"/>
                </a:solidFill>
                <a:ea typeface="+mj-lt"/>
                <a:cs typeface="+mj-lt"/>
                <a:hlinkClick r:id="rId58"/>
              </a:rPr>
              <a:t>Matsya</a:t>
            </a:r>
            <a:r>
              <a:rPr lang="en" sz="1200">
                <a:solidFill>
                  <a:srgbClr val="202122"/>
                </a:solidFill>
                <a:ea typeface="+mj-lt"/>
                <a:cs typeface="+mj-lt"/>
              </a:rPr>
              <a:t>, ch. 142–143; </a:t>
            </a:r>
            <a:r>
              <a:rPr lang="en" sz="1200" i="1" dirty="0">
                <a:solidFill>
                  <a:srgbClr val="3366CC"/>
                </a:solidFill>
                <a:ea typeface="+mj-lt"/>
                <a:cs typeface="+mj-lt"/>
                <a:hlinkClick r:id="rId59"/>
              </a:rPr>
              <a:t>Naradiya</a:t>
            </a:r>
            <a:r>
              <a:rPr lang="en" sz="1200">
                <a:solidFill>
                  <a:srgbClr val="202122"/>
                </a:solidFill>
                <a:ea typeface="+mj-lt"/>
                <a:cs typeface="+mj-lt"/>
              </a:rPr>
              <a:t>, Purvardha, ch. 41).</a:t>
            </a:r>
            <a:r>
              <a:rPr lang="en" sz="1000" baseline="30000" dirty="0">
                <a:solidFill>
                  <a:srgbClr val="3366CC"/>
                </a:solidFill>
                <a:ea typeface="+mj-lt"/>
                <a:cs typeface="+mj-lt"/>
                <a:hlinkClick r:id="rId60"/>
              </a:rPr>
              <a:t>[22]</a:t>
            </a:r>
            <a:r>
              <a:rPr lang="en" sz="1200" dirty="0">
                <a:solidFill>
                  <a:srgbClr val="202122"/>
                </a:solidFill>
                <a:ea typeface="+mj-lt"/>
                <a:cs typeface="+mj-lt"/>
              </a:rPr>
              <a:t> </a:t>
            </a:r>
            <a:r>
              <a:rPr lang="en" sz="1200">
                <a:solidFill>
                  <a:srgbClr val="202122"/>
                </a:solidFill>
                <a:ea typeface="+mj-lt"/>
                <a:cs typeface="+mj-lt"/>
              </a:rPr>
              <a:t>The four </a:t>
            </a:r>
            <a:r>
              <a:rPr lang="en" sz="1200" i="1">
                <a:solidFill>
                  <a:srgbClr val="202122"/>
                </a:solidFill>
                <a:ea typeface="+mj-lt"/>
                <a:cs typeface="+mj-lt"/>
              </a:rPr>
              <a:t>yugas</a:t>
            </a:r>
            <a:r>
              <a:rPr lang="en" sz="1200">
                <a:solidFill>
                  <a:srgbClr val="202122"/>
                </a:solidFill>
                <a:ea typeface="+mj-lt"/>
                <a:cs typeface="+mj-lt"/>
              </a:rPr>
              <a:t> are also described in the </a:t>
            </a:r>
            <a:r>
              <a:rPr lang="en" sz="1200" i="1" dirty="0">
                <a:solidFill>
                  <a:srgbClr val="3366CC"/>
                </a:solidFill>
                <a:ea typeface="+mj-lt"/>
                <a:cs typeface="+mj-lt"/>
                <a:hlinkClick r:id="rId38"/>
              </a:rPr>
              <a:t>Bhagavata Purana</a:t>
            </a:r>
            <a:r>
              <a:rPr lang="en" sz="1200" dirty="0">
                <a:solidFill>
                  <a:srgbClr val="202122"/>
                </a:solidFill>
                <a:ea typeface="+mj-lt"/>
                <a:cs typeface="+mj-lt"/>
              </a:rPr>
              <a:t> </a:t>
            </a:r>
            <a:r>
              <a:rPr lang="en" sz="1200">
                <a:solidFill>
                  <a:srgbClr val="202122"/>
                </a:solidFill>
                <a:ea typeface="+mj-lt"/>
                <a:cs typeface="+mj-lt"/>
              </a:rPr>
              <a:t>(3.11.18–20).</a:t>
            </a:r>
            <a:endParaRPr lang="en-US">
              <a:ea typeface="+mj-lt"/>
              <a:cs typeface="+mj-lt"/>
            </a:endParaRPr>
          </a:p>
          <a:p>
            <a:r>
              <a:rPr lang="en-US"/>
              <a:t>Duration and structure</a:t>
            </a:r>
          </a:p>
          <a:p>
            <a:r>
              <a:rPr lang="en" sz="1200" i="1">
                <a:solidFill>
                  <a:srgbClr val="202122"/>
                </a:solidFill>
                <a:ea typeface="+mj-lt"/>
                <a:cs typeface="+mj-lt"/>
              </a:rPr>
              <a:t>See also: </a:t>
            </a:r>
            <a:r>
              <a:rPr lang="en" sz="1200" i="1" dirty="0">
                <a:solidFill>
                  <a:srgbClr val="3366CC"/>
                </a:solidFill>
                <a:ea typeface="+mj-lt"/>
                <a:cs typeface="+mj-lt"/>
                <a:hlinkClick r:id="rId61"/>
              </a:rPr>
              <a:t>Kali Yuga § Start date</a:t>
            </a:r>
            <a:r>
              <a:rPr lang="en" sz="1200" i="1" dirty="0">
                <a:solidFill>
                  <a:srgbClr val="202122"/>
                </a:solidFill>
                <a:ea typeface="+mj-lt"/>
                <a:cs typeface="+mj-lt"/>
              </a:rPr>
              <a:t>, </a:t>
            </a:r>
            <a:r>
              <a:rPr lang="en" sz="1200" i="1" dirty="0">
                <a:solidFill>
                  <a:srgbClr val="3366CC"/>
                </a:solidFill>
                <a:ea typeface="+mj-lt"/>
                <a:cs typeface="+mj-lt"/>
                <a:hlinkClick r:id="rId6"/>
              </a:rPr>
              <a:t>Hindu units of time</a:t>
            </a:r>
            <a:r>
              <a:rPr lang="en" sz="1200" i="1">
                <a:solidFill>
                  <a:srgbClr val="202122"/>
                </a:solidFill>
                <a:ea typeface="+mj-lt"/>
                <a:cs typeface="+mj-lt"/>
              </a:rPr>
              <a:t>, and </a:t>
            </a:r>
            <a:r>
              <a:rPr lang="en" sz="1200" i="1" dirty="0">
                <a:solidFill>
                  <a:srgbClr val="3366CC"/>
                </a:solidFill>
                <a:ea typeface="+mj-lt"/>
                <a:cs typeface="+mj-lt"/>
                <a:hlinkClick r:id="rId62"/>
              </a:rPr>
              <a:t>List of numbers in Hindu scriptures</a:t>
            </a:r>
            <a:endParaRPr lang="en-US">
              <a:ea typeface="+mj-lt"/>
              <a:cs typeface="+mj-lt"/>
            </a:endParaRPr>
          </a:p>
          <a:p>
            <a:r>
              <a:rPr lang="en" sz="1200" dirty="0">
                <a:solidFill>
                  <a:srgbClr val="3366CC"/>
                </a:solidFill>
                <a:ea typeface="+mj-lt"/>
                <a:cs typeface="+mj-lt"/>
                <a:hlinkClick r:id="rId34"/>
              </a:rPr>
              <a:t>Hindu texts</a:t>
            </a:r>
            <a:r>
              <a:rPr lang="en" sz="1200" dirty="0">
                <a:solidFill>
                  <a:srgbClr val="202122"/>
                </a:solidFill>
                <a:ea typeface="+mj-lt"/>
                <a:cs typeface="+mj-lt"/>
              </a:rPr>
              <a:t> </a:t>
            </a:r>
            <a:r>
              <a:rPr lang="en" sz="1200">
                <a:solidFill>
                  <a:srgbClr val="202122"/>
                </a:solidFill>
                <a:ea typeface="+mj-lt"/>
                <a:cs typeface="+mj-lt"/>
              </a:rPr>
              <a:t>describe four </a:t>
            </a:r>
            <a:r>
              <a:rPr lang="en" sz="1200" i="1" dirty="0">
                <a:solidFill>
                  <a:srgbClr val="3366CC"/>
                </a:solidFill>
                <a:ea typeface="+mj-lt"/>
                <a:cs typeface="+mj-lt"/>
                <a:hlinkClick r:id="rId9"/>
              </a:rPr>
              <a:t>yugas</a:t>
            </a:r>
            <a:r>
              <a:rPr lang="en" sz="1200" dirty="0">
                <a:solidFill>
                  <a:srgbClr val="202122"/>
                </a:solidFill>
                <a:ea typeface="+mj-lt"/>
                <a:cs typeface="+mj-lt"/>
              </a:rPr>
              <a:t> </a:t>
            </a:r>
            <a:r>
              <a:rPr lang="en" sz="1200">
                <a:solidFill>
                  <a:srgbClr val="202122"/>
                </a:solidFill>
                <a:ea typeface="+mj-lt"/>
                <a:cs typeface="+mj-lt"/>
              </a:rPr>
              <a:t>(world ages) in a </a:t>
            </a:r>
            <a:r>
              <a:rPr lang="en" sz="1200" i="1">
                <a:solidFill>
                  <a:srgbClr val="202122"/>
                </a:solidFill>
                <a:ea typeface="+mj-lt"/>
                <a:cs typeface="+mj-lt"/>
              </a:rPr>
              <a:t>Yuga</a:t>
            </a:r>
            <a:r>
              <a:rPr lang="en" sz="1200">
                <a:solidFill>
                  <a:srgbClr val="202122"/>
                </a:solidFill>
                <a:ea typeface="+mj-lt"/>
                <a:cs typeface="+mj-lt"/>
              </a:rPr>
              <a:t> Cycle—</a:t>
            </a:r>
            <a:r>
              <a:rPr lang="en" sz="1200" i="1" dirty="0">
                <a:solidFill>
                  <a:srgbClr val="3366CC"/>
                </a:solidFill>
                <a:ea typeface="+mj-lt"/>
                <a:cs typeface="+mj-lt"/>
                <a:hlinkClick r:id="rId10"/>
              </a:rPr>
              <a:t>Krita (Satya) Yuga</a:t>
            </a:r>
            <a:r>
              <a:rPr lang="en" sz="1200" dirty="0">
                <a:solidFill>
                  <a:srgbClr val="202122"/>
                </a:solidFill>
                <a:ea typeface="+mj-lt"/>
                <a:cs typeface="+mj-lt"/>
              </a:rPr>
              <a:t>, </a:t>
            </a:r>
            <a:r>
              <a:rPr lang="en" sz="1200" i="1" dirty="0">
                <a:solidFill>
                  <a:srgbClr val="3366CC"/>
                </a:solidFill>
                <a:ea typeface="+mj-lt"/>
                <a:cs typeface="+mj-lt"/>
                <a:hlinkClick r:id="rId11"/>
              </a:rPr>
              <a:t>Treta Yuga</a:t>
            </a:r>
            <a:r>
              <a:rPr lang="en" sz="1200" dirty="0">
                <a:solidFill>
                  <a:srgbClr val="202122"/>
                </a:solidFill>
                <a:ea typeface="+mj-lt"/>
                <a:cs typeface="+mj-lt"/>
              </a:rPr>
              <a:t>, </a:t>
            </a:r>
            <a:r>
              <a:rPr lang="en" sz="1200" i="1" dirty="0">
                <a:solidFill>
                  <a:srgbClr val="3366CC"/>
                </a:solidFill>
                <a:ea typeface="+mj-lt"/>
                <a:cs typeface="+mj-lt"/>
                <a:hlinkClick r:id="rId12"/>
              </a:rPr>
              <a:t>Dvapara Yuga</a:t>
            </a:r>
            <a:r>
              <a:rPr lang="en" sz="1200">
                <a:solidFill>
                  <a:srgbClr val="202122"/>
                </a:solidFill>
                <a:ea typeface="+mj-lt"/>
                <a:cs typeface="+mj-lt"/>
              </a:rPr>
              <a:t>, and </a:t>
            </a:r>
            <a:r>
              <a:rPr lang="en" sz="1200" i="1" dirty="0">
                <a:solidFill>
                  <a:srgbClr val="3366CC"/>
                </a:solidFill>
                <a:ea typeface="+mj-lt"/>
                <a:cs typeface="+mj-lt"/>
                <a:hlinkClick r:id="rId13"/>
              </a:rPr>
              <a:t>Kali Yuga</a:t>
            </a:r>
            <a:r>
              <a:rPr lang="en" sz="1200">
                <a:solidFill>
                  <a:srgbClr val="202122"/>
                </a:solidFill>
                <a:ea typeface="+mj-lt"/>
                <a:cs typeface="+mj-lt"/>
              </a:rPr>
              <a:t>—where, starting in order from the first age, each </a:t>
            </a:r>
            <a:r>
              <a:rPr lang="en" sz="1200" i="1">
                <a:solidFill>
                  <a:srgbClr val="202122"/>
                </a:solidFill>
                <a:ea typeface="+mj-lt"/>
                <a:cs typeface="+mj-lt"/>
              </a:rPr>
              <a:t>yuga's</a:t>
            </a:r>
            <a:r>
              <a:rPr lang="en" sz="1200">
                <a:solidFill>
                  <a:srgbClr val="202122"/>
                </a:solidFill>
                <a:ea typeface="+mj-lt"/>
                <a:cs typeface="+mj-lt"/>
              </a:rPr>
              <a:t> length decreases by one-fourth (25%), giving proportions of 4:3:2:1. Each </a:t>
            </a:r>
            <a:r>
              <a:rPr lang="en" sz="1200" i="1">
                <a:solidFill>
                  <a:srgbClr val="202122"/>
                </a:solidFill>
                <a:ea typeface="+mj-lt"/>
                <a:cs typeface="+mj-lt"/>
              </a:rPr>
              <a:t>yuga</a:t>
            </a:r>
            <a:r>
              <a:rPr lang="en" sz="1200">
                <a:solidFill>
                  <a:srgbClr val="202122"/>
                </a:solidFill>
                <a:ea typeface="+mj-lt"/>
                <a:cs typeface="+mj-lt"/>
              </a:rPr>
              <a:t> is described as having a main period (</a:t>
            </a:r>
            <a:r>
              <a:rPr lang="en" sz="1200" u="sng">
                <a:solidFill>
                  <a:srgbClr val="202122"/>
                </a:solidFill>
                <a:ea typeface="+mj-lt"/>
                <a:cs typeface="+mj-lt"/>
              </a:rPr>
              <a:t>a.k.a.</a:t>
            </a:r>
            <a:r>
              <a:rPr lang="en" sz="1200">
                <a:solidFill>
                  <a:srgbClr val="202122"/>
                </a:solidFill>
                <a:ea typeface="+mj-lt"/>
                <a:cs typeface="+mj-lt"/>
              </a:rPr>
              <a:t> </a:t>
            </a:r>
            <a:r>
              <a:rPr lang="en" sz="1200" i="1">
                <a:solidFill>
                  <a:srgbClr val="202122"/>
                </a:solidFill>
                <a:ea typeface="+mj-lt"/>
                <a:cs typeface="+mj-lt"/>
              </a:rPr>
              <a:t>yuga</a:t>
            </a:r>
            <a:r>
              <a:rPr lang="en" sz="1200">
                <a:solidFill>
                  <a:srgbClr val="202122"/>
                </a:solidFill>
                <a:ea typeface="+mj-lt"/>
                <a:cs typeface="+mj-lt"/>
              </a:rPr>
              <a:t> proper) preceded by its </a:t>
            </a:r>
            <a:r>
              <a:rPr lang="en" sz="1200" i="1">
                <a:solidFill>
                  <a:srgbClr val="202122"/>
                </a:solidFill>
                <a:ea typeface="+mj-lt"/>
                <a:cs typeface="+mj-lt"/>
              </a:rPr>
              <a:t>yuga-sandhyā</a:t>
            </a:r>
            <a:r>
              <a:rPr lang="en" sz="1200">
                <a:solidFill>
                  <a:srgbClr val="202122"/>
                </a:solidFill>
                <a:ea typeface="+mj-lt"/>
                <a:cs typeface="+mj-lt"/>
              </a:rPr>
              <a:t> (dawn) and followed by its </a:t>
            </a:r>
            <a:r>
              <a:rPr lang="en" sz="1200" i="1">
                <a:solidFill>
                  <a:srgbClr val="202122"/>
                </a:solidFill>
                <a:ea typeface="+mj-lt"/>
                <a:cs typeface="+mj-lt"/>
              </a:rPr>
              <a:t>yuga-sandhyāṃśa</a:t>
            </a:r>
            <a:r>
              <a:rPr lang="en" sz="1200">
                <a:solidFill>
                  <a:srgbClr val="202122"/>
                </a:solidFill>
                <a:ea typeface="+mj-lt"/>
                <a:cs typeface="+mj-lt"/>
              </a:rPr>
              <a:t> (dusk), where each </a:t>
            </a:r>
            <a:r>
              <a:rPr lang="en" sz="1200" dirty="0">
                <a:solidFill>
                  <a:srgbClr val="3366CC"/>
                </a:solidFill>
                <a:ea typeface="+mj-lt"/>
                <a:cs typeface="+mj-lt"/>
                <a:hlinkClick r:id="rId63"/>
              </a:rPr>
              <a:t>twilight</a:t>
            </a:r>
            <a:r>
              <a:rPr lang="en" sz="1200" dirty="0">
                <a:solidFill>
                  <a:srgbClr val="202122"/>
                </a:solidFill>
                <a:ea typeface="+mj-lt"/>
                <a:cs typeface="+mj-lt"/>
              </a:rPr>
              <a:t> </a:t>
            </a:r>
            <a:r>
              <a:rPr lang="en" sz="1200">
                <a:solidFill>
                  <a:srgbClr val="202122"/>
                </a:solidFill>
                <a:ea typeface="+mj-lt"/>
                <a:cs typeface="+mj-lt"/>
              </a:rPr>
              <a:t>(dawn/dusk) lasts for one-tenth (10%) of its main period. Lengths are given in divine years (years of the gods), each lasting for 360 </a:t>
            </a:r>
            <a:r>
              <a:rPr lang="en" sz="1200" dirty="0">
                <a:solidFill>
                  <a:srgbClr val="3366CC"/>
                </a:solidFill>
                <a:ea typeface="+mj-lt"/>
                <a:cs typeface="+mj-lt"/>
                <a:hlinkClick r:id="rId43"/>
              </a:rPr>
              <a:t>solar</a:t>
            </a:r>
            <a:r>
              <a:rPr lang="en" sz="1200" dirty="0">
                <a:solidFill>
                  <a:srgbClr val="202122"/>
                </a:solidFill>
                <a:ea typeface="+mj-lt"/>
                <a:cs typeface="+mj-lt"/>
              </a:rPr>
              <a:t> </a:t>
            </a:r>
            <a:r>
              <a:rPr lang="en" sz="1200">
                <a:solidFill>
                  <a:srgbClr val="202122"/>
                </a:solidFill>
                <a:ea typeface="+mj-lt"/>
                <a:cs typeface="+mj-lt"/>
              </a:rPr>
              <a:t>(human) years.</a:t>
            </a:r>
            <a:r>
              <a:rPr lang="en" sz="1000" baseline="30000" dirty="0">
                <a:solidFill>
                  <a:srgbClr val="3366CC"/>
                </a:solidFill>
                <a:ea typeface="+mj-lt"/>
                <a:cs typeface="+mj-lt"/>
                <a:hlinkClick r:id="rId14"/>
              </a:rPr>
              <a:t>[4]</a:t>
            </a:r>
            <a:r>
              <a:rPr lang="en" sz="1000" baseline="30000" dirty="0">
                <a:solidFill>
                  <a:srgbClr val="3366CC"/>
                </a:solidFill>
                <a:ea typeface="+mj-lt"/>
                <a:cs typeface="+mj-lt"/>
                <a:hlinkClick r:id="rId15"/>
              </a:rPr>
              <a:t>[5]</a:t>
            </a:r>
            <a:r>
              <a:rPr lang="en" sz="1000" baseline="30000" dirty="0">
                <a:solidFill>
                  <a:srgbClr val="3366CC"/>
                </a:solidFill>
                <a:ea typeface="+mj-lt"/>
                <a:cs typeface="+mj-lt"/>
                <a:hlinkClick r:id="rId16"/>
              </a:rPr>
              <a:t>[6]</a:t>
            </a:r>
            <a:endParaRPr lang="en-US">
              <a:ea typeface="+mj-lt"/>
              <a:cs typeface="+mj-lt"/>
            </a:endParaRPr>
          </a:p>
          <a:p>
            <a:r>
              <a:rPr lang="en" sz="1200">
                <a:solidFill>
                  <a:srgbClr val="202122"/>
                </a:solidFill>
                <a:ea typeface="+mj-lt"/>
                <a:cs typeface="+mj-lt"/>
              </a:rPr>
              <a:t>Each </a:t>
            </a:r>
            <a:r>
              <a:rPr lang="en" sz="1200" i="1">
                <a:solidFill>
                  <a:srgbClr val="202122"/>
                </a:solidFill>
                <a:ea typeface="+mj-lt"/>
                <a:cs typeface="+mj-lt"/>
              </a:rPr>
              <a:t>Yuga</a:t>
            </a:r>
            <a:r>
              <a:rPr lang="en" sz="1200">
                <a:solidFill>
                  <a:srgbClr val="202122"/>
                </a:solidFill>
                <a:ea typeface="+mj-lt"/>
                <a:cs typeface="+mj-lt"/>
              </a:rPr>
              <a:t> Cycle lasts for 4,320,000 years (12,000 divine years) with its four </a:t>
            </a:r>
            <a:r>
              <a:rPr lang="en" sz="1200" i="1">
                <a:solidFill>
                  <a:srgbClr val="202122"/>
                </a:solidFill>
                <a:ea typeface="+mj-lt"/>
                <a:cs typeface="+mj-lt"/>
              </a:rPr>
              <a:t>yugas</a:t>
            </a:r>
            <a:r>
              <a:rPr lang="en" sz="1200">
                <a:solidFill>
                  <a:srgbClr val="202122"/>
                </a:solidFill>
                <a:ea typeface="+mj-lt"/>
                <a:cs typeface="+mj-lt"/>
              </a:rPr>
              <a:t>: </a:t>
            </a:r>
            <a:r>
              <a:rPr lang="en" sz="1200" i="1" dirty="0">
                <a:solidFill>
                  <a:srgbClr val="3366CC"/>
                </a:solidFill>
                <a:ea typeface="+mj-lt"/>
                <a:cs typeface="+mj-lt"/>
                <a:hlinkClick r:id="rId10"/>
              </a:rPr>
              <a:t>Krita (Satya) Yuga</a:t>
            </a:r>
            <a:r>
              <a:rPr lang="en" sz="1200" dirty="0">
                <a:solidFill>
                  <a:srgbClr val="202122"/>
                </a:solidFill>
                <a:ea typeface="+mj-lt"/>
                <a:cs typeface="+mj-lt"/>
              </a:rPr>
              <a:t> </a:t>
            </a:r>
            <a:r>
              <a:rPr lang="en" sz="1200">
                <a:solidFill>
                  <a:srgbClr val="202122"/>
                </a:solidFill>
                <a:ea typeface="+mj-lt"/>
                <a:cs typeface="+mj-lt"/>
              </a:rPr>
              <a:t>for 1,728,000 (4,800 divine) years, </a:t>
            </a:r>
            <a:r>
              <a:rPr lang="en" sz="1200" i="1" dirty="0">
                <a:solidFill>
                  <a:srgbClr val="3366CC"/>
                </a:solidFill>
                <a:ea typeface="+mj-lt"/>
                <a:cs typeface="+mj-lt"/>
                <a:hlinkClick r:id="rId11"/>
              </a:rPr>
              <a:t>Treta Yuga</a:t>
            </a:r>
            <a:r>
              <a:rPr lang="en" sz="1200" dirty="0">
                <a:solidFill>
                  <a:srgbClr val="202122"/>
                </a:solidFill>
                <a:ea typeface="+mj-lt"/>
                <a:cs typeface="+mj-lt"/>
              </a:rPr>
              <a:t> </a:t>
            </a:r>
            <a:r>
              <a:rPr lang="en" sz="1200">
                <a:solidFill>
                  <a:srgbClr val="202122"/>
                </a:solidFill>
                <a:ea typeface="+mj-lt"/>
                <a:cs typeface="+mj-lt"/>
              </a:rPr>
              <a:t>for 1,296,000 (3,600 divine) years, </a:t>
            </a:r>
            <a:r>
              <a:rPr lang="en" sz="1200" i="1" dirty="0">
                <a:solidFill>
                  <a:srgbClr val="3366CC"/>
                </a:solidFill>
                <a:ea typeface="+mj-lt"/>
                <a:cs typeface="+mj-lt"/>
                <a:hlinkClick r:id="rId12"/>
              </a:rPr>
              <a:t>Dvapara Yuga</a:t>
            </a:r>
            <a:r>
              <a:rPr lang="en" sz="1200" dirty="0">
                <a:solidFill>
                  <a:srgbClr val="202122"/>
                </a:solidFill>
                <a:ea typeface="+mj-lt"/>
                <a:cs typeface="+mj-lt"/>
              </a:rPr>
              <a:t> </a:t>
            </a:r>
            <a:r>
              <a:rPr lang="en" sz="1200">
                <a:solidFill>
                  <a:srgbClr val="202122"/>
                </a:solidFill>
                <a:ea typeface="+mj-lt"/>
                <a:cs typeface="+mj-lt"/>
              </a:rPr>
              <a:t>for 864,000 (2,400 divine) years, and </a:t>
            </a:r>
            <a:r>
              <a:rPr lang="en" sz="1200" i="1" dirty="0">
                <a:solidFill>
                  <a:srgbClr val="3366CC"/>
                </a:solidFill>
                <a:ea typeface="+mj-lt"/>
                <a:cs typeface="+mj-lt"/>
                <a:hlinkClick r:id="rId13"/>
              </a:rPr>
              <a:t>Kali Yuga</a:t>
            </a:r>
            <a:r>
              <a:rPr lang="en" sz="1200" dirty="0">
                <a:solidFill>
                  <a:srgbClr val="202122"/>
                </a:solidFill>
                <a:ea typeface="+mj-lt"/>
                <a:cs typeface="+mj-lt"/>
              </a:rPr>
              <a:t> </a:t>
            </a:r>
            <a:r>
              <a:rPr lang="en" sz="1200">
                <a:solidFill>
                  <a:srgbClr val="202122"/>
                </a:solidFill>
                <a:ea typeface="+mj-lt"/>
                <a:cs typeface="+mj-lt"/>
              </a:rPr>
              <a:t>for 432,000 (1,200 divine) years.</a:t>
            </a:r>
            <a:r>
              <a:rPr lang="en" sz="1000" baseline="30000" dirty="0">
                <a:solidFill>
                  <a:srgbClr val="3366CC"/>
                </a:solidFill>
                <a:ea typeface="+mj-lt"/>
                <a:cs typeface="+mj-lt"/>
                <a:hlinkClick r:id="rId14"/>
              </a:rPr>
              <a:t>[4]</a:t>
            </a:r>
            <a:r>
              <a:rPr lang="en" sz="1000" baseline="30000" dirty="0">
                <a:solidFill>
                  <a:srgbClr val="3366CC"/>
                </a:solidFill>
                <a:ea typeface="+mj-lt"/>
                <a:cs typeface="+mj-lt"/>
                <a:hlinkClick r:id="rId15"/>
              </a:rPr>
              <a:t>[5]</a:t>
            </a:r>
            <a:r>
              <a:rPr lang="en" sz="1000" baseline="30000" dirty="0">
                <a:solidFill>
                  <a:srgbClr val="3366CC"/>
                </a:solidFill>
                <a:ea typeface="+mj-lt"/>
                <a:cs typeface="+mj-lt"/>
                <a:hlinkClick r:id="rId16"/>
              </a:rPr>
              <a:t>[6]</a:t>
            </a:r>
            <a:endParaRPr lang="en-US">
              <a:ea typeface="+mj-lt"/>
              <a:cs typeface="+mj-lt"/>
            </a:endParaRPr>
          </a:p>
          <a:p>
            <a:pPr algn="l"/>
            <a:r>
              <a:rPr lang="en-US"/>
              <a:t>Structure of a yuga cycle</a:t>
            </a:r>
          </a:p>
          <a:p>
            <a:r>
              <a:rPr lang="en-US" sz="1200" b="1" i="1">
                <a:solidFill>
                  <a:srgbClr val="202122"/>
                </a:solidFill>
              </a:rPr>
              <a:t>Yuga</a:t>
            </a:r>
            <a:endParaRPr lang="en-US"/>
          </a:p>
          <a:p>
            <a:r>
              <a:rPr lang="en-US" sz="1200" b="1">
                <a:solidFill>
                  <a:srgbClr val="202122"/>
                </a:solidFill>
              </a:rPr>
              <a:t>Part</a:t>
            </a:r>
            <a:endParaRPr lang="en-US"/>
          </a:p>
          <a:p>
            <a:r>
              <a:rPr lang="en-US" sz="1200" b="1">
                <a:solidFill>
                  <a:srgbClr val="202122"/>
                </a:solidFill>
              </a:rPr>
              <a:t>Divine</a:t>
            </a:r>
            <a:br>
              <a:rPr lang="en-US" sz="1200" b="1" dirty="0">
                <a:solidFill>
                  <a:srgbClr val="202122"/>
                </a:solidFill>
              </a:rPr>
            </a:br>
            <a:r>
              <a:rPr lang="en-US" sz="1200" b="1">
                <a:solidFill>
                  <a:srgbClr val="202122"/>
                </a:solidFill>
              </a:rPr>
              <a:t>years</a:t>
            </a:r>
            <a:endParaRPr lang="en-US"/>
          </a:p>
          <a:p>
            <a:r>
              <a:rPr lang="en-US" sz="1200" b="1" dirty="0">
                <a:solidFill>
                  <a:srgbClr val="3366CC"/>
                </a:solidFill>
                <a:hlinkClick r:id="rId43"/>
              </a:rPr>
              <a:t>Solar</a:t>
            </a:r>
            <a:br>
              <a:rPr lang="en-US" sz="1200" b="1" dirty="0">
                <a:solidFill>
                  <a:srgbClr val="3366CC"/>
                </a:solidFill>
              </a:rPr>
            </a:br>
            <a:r>
              <a:rPr lang="en-US" sz="1200" b="1">
                <a:solidFill>
                  <a:srgbClr val="3366CC"/>
                </a:solidFill>
              </a:rPr>
              <a:t>years</a:t>
            </a:r>
            <a:endParaRPr lang="en-US"/>
          </a:p>
          <a:p>
            <a:pPr algn="l"/>
            <a:r>
              <a:rPr lang="en-US" sz="1200" i="1" dirty="0">
                <a:solidFill>
                  <a:srgbClr val="3366CC"/>
                </a:solidFill>
                <a:hlinkClick r:id="rId10"/>
              </a:rPr>
              <a:t>Krita</a:t>
            </a:r>
            <a:br>
              <a:rPr lang="en-US" sz="1200" i="1" dirty="0">
                <a:solidFill>
                  <a:srgbClr val="3366CC"/>
                </a:solidFill>
                <a:hlinkClick r:id="rId10"/>
              </a:rPr>
            </a:br>
            <a:r>
              <a:rPr lang="en-US" sz="1200" i="1" dirty="0">
                <a:solidFill>
                  <a:srgbClr val="3366CC"/>
                </a:solidFill>
                <a:hlinkClick r:id="rId10"/>
              </a:rPr>
              <a:t>(Satya)</a:t>
            </a:r>
            <a:endParaRPr lang="en-US"/>
          </a:p>
          <a:p>
            <a:pPr algn="l"/>
            <a:r>
              <a:rPr lang="en-US" sz="1200" i="1">
                <a:solidFill>
                  <a:srgbClr val="202122"/>
                </a:solidFill>
              </a:rPr>
              <a:t>Krita-yuga-sandhya</a:t>
            </a:r>
            <a:r>
              <a:rPr lang="en-US" sz="1200">
                <a:solidFill>
                  <a:srgbClr val="202122"/>
                </a:solidFill>
              </a:rPr>
              <a:t> (dawn)</a:t>
            </a:r>
            <a:endParaRPr lang="en-US"/>
          </a:p>
          <a:p>
            <a:pPr algn="r"/>
            <a:r>
              <a:rPr lang="en-US" sz="1200" dirty="0">
                <a:solidFill>
                  <a:srgbClr val="202122"/>
                </a:solidFill>
              </a:rPr>
              <a:t>400</a:t>
            </a:r>
            <a:endParaRPr lang="en-US" dirty="0"/>
          </a:p>
          <a:p>
            <a:pPr algn="r"/>
            <a:r>
              <a:rPr lang="en-US" sz="1200" dirty="0">
                <a:solidFill>
                  <a:srgbClr val="202122"/>
                </a:solidFill>
              </a:rPr>
              <a:t>144,000</a:t>
            </a:r>
            <a:endParaRPr lang="en-US" dirty="0"/>
          </a:p>
          <a:p>
            <a:pPr algn="l"/>
            <a:r>
              <a:rPr lang="en-US" sz="1200" i="1">
                <a:solidFill>
                  <a:srgbClr val="202122"/>
                </a:solidFill>
              </a:rPr>
              <a:t>Krita-yuga</a:t>
            </a:r>
            <a:r>
              <a:rPr lang="en-US" sz="1200">
                <a:solidFill>
                  <a:srgbClr val="202122"/>
                </a:solidFill>
              </a:rPr>
              <a:t> (proper)</a:t>
            </a:r>
            <a:endParaRPr lang="en-US"/>
          </a:p>
          <a:p>
            <a:pPr algn="r"/>
            <a:r>
              <a:rPr lang="en-US" sz="1200" dirty="0">
                <a:solidFill>
                  <a:srgbClr val="202122"/>
                </a:solidFill>
              </a:rPr>
              <a:t>4,000</a:t>
            </a:r>
            <a:endParaRPr lang="en-US" dirty="0"/>
          </a:p>
          <a:p>
            <a:pPr algn="r"/>
            <a:r>
              <a:rPr lang="en-US" sz="1200" dirty="0">
                <a:solidFill>
                  <a:srgbClr val="202122"/>
                </a:solidFill>
              </a:rPr>
              <a:t>1,440,000</a:t>
            </a:r>
            <a:endParaRPr lang="en-US" dirty="0"/>
          </a:p>
          <a:p>
            <a:pPr algn="l"/>
            <a:r>
              <a:rPr lang="en-US" sz="1200" i="1">
                <a:solidFill>
                  <a:srgbClr val="202122"/>
                </a:solidFill>
              </a:rPr>
              <a:t>Krita-yuga-sandhyamsa</a:t>
            </a:r>
            <a:r>
              <a:rPr lang="en-US" sz="1200">
                <a:solidFill>
                  <a:srgbClr val="202122"/>
                </a:solidFill>
              </a:rPr>
              <a:t> (dusk)</a:t>
            </a:r>
            <a:endParaRPr lang="en-US"/>
          </a:p>
          <a:p>
            <a:pPr algn="r"/>
            <a:r>
              <a:rPr lang="en-US" sz="1200" dirty="0">
                <a:solidFill>
                  <a:srgbClr val="202122"/>
                </a:solidFill>
              </a:rPr>
              <a:t>400</a:t>
            </a:r>
            <a:endParaRPr lang="en-US" dirty="0"/>
          </a:p>
          <a:p>
            <a:pPr algn="r"/>
            <a:r>
              <a:rPr lang="en-US" sz="1200" dirty="0">
                <a:solidFill>
                  <a:srgbClr val="202122"/>
                </a:solidFill>
              </a:rPr>
              <a:t>144,000</a:t>
            </a:r>
            <a:endParaRPr lang="en-US" dirty="0"/>
          </a:p>
          <a:p>
            <a:pPr algn="l"/>
            <a:r>
              <a:rPr lang="en-US" sz="1200" i="1" dirty="0">
                <a:solidFill>
                  <a:srgbClr val="3366CC"/>
                </a:solidFill>
                <a:hlinkClick r:id="rId11"/>
              </a:rPr>
              <a:t>Treta</a:t>
            </a:r>
            <a:endParaRPr lang="en-US"/>
          </a:p>
          <a:p>
            <a:pPr algn="l"/>
            <a:r>
              <a:rPr lang="en-US" sz="1200" i="1">
                <a:solidFill>
                  <a:srgbClr val="202122"/>
                </a:solidFill>
              </a:rPr>
              <a:t>Treta-yuga-sandhya</a:t>
            </a:r>
            <a:r>
              <a:rPr lang="en-US" sz="1200">
                <a:solidFill>
                  <a:srgbClr val="202122"/>
                </a:solidFill>
              </a:rPr>
              <a:t> (dawn)</a:t>
            </a:r>
            <a:endParaRPr lang="en-US"/>
          </a:p>
          <a:p>
            <a:pPr algn="r"/>
            <a:r>
              <a:rPr lang="en-US" sz="1200" dirty="0">
                <a:solidFill>
                  <a:srgbClr val="202122"/>
                </a:solidFill>
              </a:rPr>
              <a:t>300</a:t>
            </a:r>
            <a:endParaRPr lang="en-US" dirty="0"/>
          </a:p>
          <a:p>
            <a:pPr algn="r"/>
            <a:r>
              <a:rPr lang="en-US" sz="1200" dirty="0">
                <a:solidFill>
                  <a:srgbClr val="202122"/>
                </a:solidFill>
              </a:rPr>
              <a:t>108,000</a:t>
            </a:r>
            <a:endParaRPr lang="en-US" dirty="0"/>
          </a:p>
          <a:p>
            <a:pPr algn="l"/>
            <a:r>
              <a:rPr lang="en-US" sz="1200" i="1">
                <a:solidFill>
                  <a:srgbClr val="202122"/>
                </a:solidFill>
              </a:rPr>
              <a:t>Treta-yuga</a:t>
            </a:r>
            <a:r>
              <a:rPr lang="en-US" sz="1200">
                <a:solidFill>
                  <a:srgbClr val="202122"/>
                </a:solidFill>
              </a:rPr>
              <a:t> (proper)</a:t>
            </a:r>
            <a:endParaRPr lang="en-US"/>
          </a:p>
          <a:p>
            <a:pPr algn="r"/>
            <a:r>
              <a:rPr lang="en-US" sz="1200" dirty="0">
                <a:solidFill>
                  <a:srgbClr val="202122"/>
                </a:solidFill>
              </a:rPr>
              <a:t>3,000</a:t>
            </a:r>
            <a:endParaRPr lang="en-US" dirty="0"/>
          </a:p>
          <a:p>
            <a:pPr algn="r"/>
            <a:r>
              <a:rPr lang="en-US" sz="1200" dirty="0">
                <a:solidFill>
                  <a:srgbClr val="202122"/>
                </a:solidFill>
              </a:rPr>
              <a:t>1,080,000</a:t>
            </a:r>
            <a:endParaRPr lang="en-US" dirty="0"/>
          </a:p>
          <a:p>
            <a:pPr algn="l"/>
            <a:r>
              <a:rPr lang="en-US" sz="1200" i="1">
                <a:solidFill>
                  <a:srgbClr val="202122"/>
                </a:solidFill>
              </a:rPr>
              <a:t>Treta-yuga-sandhyamsa</a:t>
            </a:r>
            <a:r>
              <a:rPr lang="en-US" sz="1200">
                <a:solidFill>
                  <a:srgbClr val="202122"/>
                </a:solidFill>
              </a:rPr>
              <a:t> (dusk)</a:t>
            </a:r>
            <a:endParaRPr lang="en-US"/>
          </a:p>
          <a:p>
            <a:pPr algn="r"/>
            <a:r>
              <a:rPr lang="en-US" sz="1200" dirty="0">
                <a:solidFill>
                  <a:srgbClr val="202122"/>
                </a:solidFill>
              </a:rPr>
              <a:t>300</a:t>
            </a:r>
            <a:endParaRPr lang="en-US" dirty="0"/>
          </a:p>
          <a:p>
            <a:pPr algn="r"/>
            <a:r>
              <a:rPr lang="en-US" sz="1200" dirty="0">
                <a:solidFill>
                  <a:srgbClr val="202122"/>
                </a:solidFill>
              </a:rPr>
              <a:t>108,000</a:t>
            </a:r>
            <a:endParaRPr lang="en-US" dirty="0"/>
          </a:p>
          <a:p>
            <a:pPr algn="l"/>
            <a:r>
              <a:rPr lang="en-US" sz="1200" i="1" dirty="0">
                <a:solidFill>
                  <a:srgbClr val="3366CC"/>
                </a:solidFill>
                <a:hlinkClick r:id="rId12"/>
              </a:rPr>
              <a:t>Dvapara</a:t>
            </a:r>
            <a:endParaRPr lang="en-US"/>
          </a:p>
          <a:p>
            <a:pPr algn="l"/>
            <a:r>
              <a:rPr lang="en-US" sz="1200" i="1">
                <a:solidFill>
                  <a:srgbClr val="202122"/>
                </a:solidFill>
              </a:rPr>
              <a:t>Dvapara-yuga-sandhya</a:t>
            </a:r>
            <a:r>
              <a:rPr lang="en-US" sz="1200">
                <a:solidFill>
                  <a:srgbClr val="202122"/>
                </a:solidFill>
              </a:rPr>
              <a:t> (dawn)</a:t>
            </a:r>
            <a:endParaRPr lang="en-US"/>
          </a:p>
          <a:p>
            <a:pPr algn="r"/>
            <a:r>
              <a:rPr lang="en-US" sz="1200" dirty="0">
                <a:solidFill>
                  <a:srgbClr val="202122"/>
                </a:solidFill>
              </a:rPr>
              <a:t>200</a:t>
            </a:r>
            <a:endParaRPr lang="en-US" dirty="0"/>
          </a:p>
          <a:p>
            <a:pPr algn="r"/>
            <a:r>
              <a:rPr lang="en-US" sz="1200" dirty="0">
                <a:solidFill>
                  <a:srgbClr val="202122"/>
                </a:solidFill>
              </a:rPr>
              <a:t>72,000</a:t>
            </a:r>
            <a:endParaRPr lang="en-US" dirty="0"/>
          </a:p>
          <a:p>
            <a:pPr algn="l"/>
            <a:r>
              <a:rPr lang="en-US" sz="1200" i="1">
                <a:solidFill>
                  <a:srgbClr val="202122"/>
                </a:solidFill>
              </a:rPr>
              <a:t>Dvapara-yuga</a:t>
            </a:r>
            <a:r>
              <a:rPr lang="en-US" sz="1200">
                <a:solidFill>
                  <a:srgbClr val="202122"/>
                </a:solidFill>
              </a:rPr>
              <a:t> (proper)</a:t>
            </a:r>
            <a:endParaRPr lang="en-US"/>
          </a:p>
          <a:p>
            <a:pPr algn="r"/>
            <a:r>
              <a:rPr lang="en-US" sz="1200" dirty="0">
                <a:solidFill>
                  <a:srgbClr val="202122"/>
                </a:solidFill>
              </a:rPr>
              <a:t>2,000</a:t>
            </a:r>
            <a:endParaRPr lang="en-US" dirty="0"/>
          </a:p>
          <a:p>
            <a:pPr algn="r"/>
            <a:r>
              <a:rPr lang="en-US" sz="1200" dirty="0">
                <a:solidFill>
                  <a:srgbClr val="202122"/>
                </a:solidFill>
              </a:rPr>
              <a:t>720,000</a:t>
            </a:r>
            <a:endParaRPr lang="en-US" dirty="0"/>
          </a:p>
          <a:p>
            <a:pPr algn="l"/>
            <a:r>
              <a:rPr lang="en-US" sz="1200" i="1">
                <a:solidFill>
                  <a:srgbClr val="202122"/>
                </a:solidFill>
              </a:rPr>
              <a:t>Dvapara-yuga-sandhyamsa</a:t>
            </a:r>
            <a:r>
              <a:rPr lang="en-US" sz="1200">
                <a:solidFill>
                  <a:srgbClr val="202122"/>
                </a:solidFill>
              </a:rPr>
              <a:t> (dusk)</a:t>
            </a:r>
            <a:endParaRPr lang="en-US"/>
          </a:p>
          <a:p>
            <a:pPr algn="r"/>
            <a:r>
              <a:rPr lang="en-US" sz="1200" dirty="0">
                <a:solidFill>
                  <a:srgbClr val="202122"/>
                </a:solidFill>
              </a:rPr>
              <a:t>200</a:t>
            </a:r>
            <a:endParaRPr lang="en-US" dirty="0"/>
          </a:p>
          <a:p>
            <a:pPr algn="r"/>
            <a:r>
              <a:rPr lang="en-US" sz="1200" dirty="0">
                <a:solidFill>
                  <a:srgbClr val="202122"/>
                </a:solidFill>
              </a:rPr>
              <a:t>72,000</a:t>
            </a:r>
            <a:endParaRPr lang="en-US" dirty="0"/>
          </a:p>
          <a:p>
            <a:pPr algn="l"/>
            <a:r>
              <a:rPr lang="en-US" sz="1200" i="1" dirty="0">
                <a:solidFill>
                  <a:srgbClr val="3366CC"/>
                </a:solidFill>
                <a:hlinkClick r:id="rId13"/>
              </a:rPr>
              <a:t>Kali</a:t>
            </a:r>
            <a:endParaRPr lang="en-US"/>
          </a:p>
          <a:p>
            <a:pPr algn="l"/>
            <a:r>
              <a:rPr lang="en-US" sz="1200" i="1">
                <a:solidFill>
                  <a:srgbClr val="202122"/>
                </a:solidFill>
              </a:rPr>
              <a:t>Kali-yuga-sandhya</a:t>
            </a:r>
            <a:r>
              <a:rPr lang="en-US" sz="1200">
                <a:solidFill>
                  <a:srgbClr val="202122"/>
                </a:solidFill>
              </a:rPr>
              <a:t> (dawn)</a:t>
            </a:r>
            <a:endParaRPr lang="en-US"/>
          </a:p>
          <a:p>
            <a:pPr algn="r"/>
            <a:r>
              <a:rPr lang="en-US" sz="1200" dirty="0">
                <a:solidFill>
                  <a:srgbClr val="202122"/>
                </a:solidFill>
              </a:rPr>
              <a:t>100</a:t>
            </a:r>
            <a:endParaRPr lang="en-US" dirty="0"/>
          </a:p>
          <a:p>
            <a:pPr algn="r"/>
            <a:r>
              <a:rPr lang="en-US" sz="1200" dirty="0">
                <a:solidFill>
                  <a:srgbClr val="202122"/>
                </a:solidFill>
              </a:rPr>
              <a:t>36,000</a:t>
            </a:r>
            <a:endParaRPr lang="en-US" dirty="0"/>
          </a:p>
          <a:p>
            <a:pPr algn="l"/>
            <a:r>
              <a:rPr lang="en-US" sz="1200" i="1">
                <a:solidFill>
                  <a:srgbClr val="202122"/>
                </a:solidFill>
              </a:rPr>
              <a:t>Kali-yuga</a:t>
            </a:r>
            <a:r>
              <a:rPr lang="en-US" sz="1200">
                <a:solidFill>
                  <a:srgbClr val="202122"/>
                </a:solidFill>
              </a:rPr>
              <a:t> (proper)</a:t>
            </a:r>
            <a:endParaRPr lang="en-US"/>
          </a:p>
          <a:p>
            <a:pPr algn="r"/>
            <a:r>
              <a:rPr lang="en-US" sz="1200" dirty="0">
                <a:solidFill>
                  <a:srgbClr val="202122"/>
                </a:solidFill>
              </a:rPr>
              <a:t>1,000</a:t>
            </a:r>
            <a:endParaRPr lang="en-US" dirty="0"/>
          </a:p>
          <a:p>
            <a:pPr algn="r"/>
            <a:r>
              <a:rPr lang="en-US" sz="1200" dirty="0">
                <a:solidFill>
                  <a:srgbClr val="202122"/>
                </a:solidFill>
              </a:rPr>
              <a:t>360,000</a:t>
            </a:r>
            <a:endParaRPr lang="en-US" dirty="0"/>
          </a:p>
          <a:p>
            <a:pPr algn="l"/>
            <a:r>
              <a:rPr lang="en-US" sz="1200" i="1">
                <a:solidFill>
                  <a:srgbClr val="202122"/>
                </a:solidFill>
              </a:rPr>
              <a:t>Kali-yuga-sandhyamsa</a:t>
            </a:r>
            <a:r>
              <a:rPr lang="en-US" sz="1200">
                <a:solidFill>
                  <a:srgbClr val="202122"/>
                </a:solidFill>
              </a:rPr>
              <a:t> (dusk)</a:t>
            </a:r>
            <a:endParaRPr lang="en-US"/>
          </a:p>
          <a:p>
            <a:pPr algn="r"/>
            <a:r>
              <a:rPr lang="en-US" sz="1200" dirty="0">
                <a:solidFill>
                  <a:srgbClr val="202122"/>
                </a:solidFill>
              </a:rPr>
              <a:t>100</a:t>
            </a:r>
            <a:endParaRPr lang="en-US" dirty="0"/>
          </a:p>
          <a:p>
            <a:pPr algn="r"/>
            <a:r>
              <a:rPr lang="en-US" sz="1200" dirty="0">
                <a:solidFill>
                  <a:srgbClr val="202122"/>
                </a:solidFill>
              </a:rPr>
              <a:t>36,000</a:t>
            </a:r>
            <a:endParaRPr lang="en-US" dirty="0"/>
          </a:p>
          <a:p>
            <a:pPr algn="r"/>
            <a:r>
              <a:rPr lang="en-US" sz="1200" b="1">
                <a:solidFill>
                  <a:srgbClr val="202122"/>
                </a:solidFill>
              </a:rPr>
              <a:t>Total</a:t>
            </a:r>
            <a:endParaRPr lang="en-US"/>
          </a:p>
          <a:p>
            <a:pPr algn="r"/>
            <a:r>
              <a:rPr lang="en-US" sz="1200" b="1" dirty="0">
                <a:solidFill>
                  <a:srgbClr val="202122"/>
                </a:solidFill>
              </a:rPr>
              <a:t>12,000</a:t>
            </a:r>
            <a:endParaRPr lang="en-US" dirty="0"/>
          </a:p>
          <a:p>
            <a:pPr algn="r"/>
            <a:r>
              <a:rPr lang="en-US" sz="1200" b="1" dirty="0">
                <a:solidFill>
                  <a:srgbClr val="202122"/>
                </a:solidFill>
              </a:rPr>
              <a:t>4,320,000</a:t>
            </a:r>
            <a:endParaRPr lang="en-US" dirty="0"/>
          </a:p>
          <a:p>
            <a:r>
              <a:rPr lang="en" sz="1200">
                <a:solidFill>
                  <a:srgbClr val="202122"/>
                </a:solidFill>
                <a:ea typeface="+mj-lt"/>
                <a:cs typeface="+mj-lt"/>
              </a:rPr>
              <a:t>The current cycle's four </a:t>
            </a:r>
            <a:r>
              <a:rPr lang="en" sz="1200" i="1">
                <a:solidFill>
                  <a:srgbClr val="202122"/>
                </a:solidFill>
                <a:ea typeface="+mj-lt"/>
                <a:cs typeface="+mj-lt"/>
              </a:rPr>
              <a:t>yugas</a:t>
            </a:r>
            <a:r>
              <a:rPr lang="en" sz="1200">
                <a:solidFill>
                  <a:srgbClr val="202122"/>
                </a:solidFill>
                <a:ea typeface="+mj-lt"/>
                <a:cs typeface="+mj-lt"/>
              </a:rPr>
              <a:t> have the following dates based on Kali Yuga, the fourth and present age, starting in 3102 BCE:</a:t>
            </a:r>
            <a:r>
              <a:rPr lang="en" sz="1000" baseline="30000" dirty="0">
                <a:solidFill>
                  <a:srgbClr val="3366CC"/>
                </a:solidFill>
                <a:ea typeface="+mj-lt"/>
                <a:cs typeface="+mj-lt"/>
                <a:hlinkClick r:id="rId16"/>
              </a:rPr>
              <a:t>[6]</a:t>
            </a:r>
            <a:r>
              <a:rPr lang="en" sz="1000" baseline="30000" dirty="0">
                <a:solidFill>
                  <a:srgbClr val="3366CC"/>
                </a:solidFill>
                <a:ea typeface="+mj-lt"/>
                <a:cs typeface="+mj-lt"/>
                <a:hlinkClick r:id="rId33"/>
              </a:rPr>
              <a:t>[13]</a:t>
            </a:r>
            <a:r>
              <a:rPr lang="en" sz="1000" baseline="30000" dirty="0">
                <a:solidFill>
                  <a:srgbClr val="3366CC"/>
                </a:solidFill>
                <a:ea typeface="+mj-lt"/>
                <a:cs typeface="+mj-lt"/>
                <a:hlinkClick r:id="rId64"/>
              </a:rPr>
              <a:t>[23]</a:t>
            </a:r>
            <a:endParaRPr lang="en-US"/>
          </a:p>
          <a:p>
            <a:pPr algn="l"/>
            <a:r>
              <a:rPr lang="en-US"/>
              <a:t>Yuga cycle</a:t>
            </a:r>
          </a:p>
          <a:p>
            <a:r>
              <a:rPr lang="en-US" sz="1200" b="1" i="1">
                <a:solidFill>
                  <a:srgbClr val="202122"/>
                </a:solidFill>
              </a:rPr>
              <a:t>Yuga</a:t>
            </a:r>
            <a:endParaRPr lang="en-US"/>
          </a:p>
          <a:p>
            <a:r>
              <a:rPr lang="en-US" sz="1200" b="1">
                <a:solidFill>
                  <a:srgbClr val="202122"/>
                </a:solidFill>
              </a:rPr>
              <a:t>Start (– End)</a:t>
            </a:r>
            <a:endParaRPr lang="en-US"/>
          </a:p>
          <a:p>
            <a:r>
              <a:rPr lang="en-US" sz="1200" b="1">
                <a:solidFill>
                  <a:srgbClr val="202122"/>
                </a:solidFill>
              </a:rPr>
              <a:t>Length</a:t>
            </a:r>
            <a:endParaRPr lang="en-US"/>
          </a:p>
          <a:p>
            <a:pPr algn="l"/>
            <a:r>
              <a:rPr lang="en-US" sz="1200" i="1" dirty="0">
                <a:solidFill>
                  <a:srgbClr val="3366CC"/>
                </a:solidFill>
                <a:hlinkClick r:id="rId10"/>
              </a:rPr>
              <a:t>Krita (Satya)</a:t>
            </a:r>
            <a:endParaRPr lang="en-US"/>
          </a:p>
          <a:p>
            <a:pPr algn="r"/>
            <a:r>
              <a:rPr lang="en-US" sz="1200">
                <a:solidFill>
                  <a:srgbClr val="202122"/>
                </a:solidFill>
              </a:rPr>
              <a:t>3,891,102 BCE</a:t>
            </a:r>
            <a:endParaRPr lang="en-US"/>
          </a:p>
          <a:p>
            <a:pPr algn="r"/>
            <a:r>
              <a:rPr lang="en-US" sz="1200">
                <a:solidFill>
                  <a:srgbClr val="202122"/>
                </a:solidFill>
              </a:rPr>
              <a:t>1,728,000 (4,800)</a:t>
            </a:r>
            <a:endParaRPr lang="en-US"/>
          </a:p>
          <a:p>
            <a:pPr algn="l"/>
            <a:r>
              <a:rPr lang="en-US" sz="1200" i="1" dirty="0">
                <a:solidFill>
                  <a:srgbClr val="3366CC"/>
                </a:solidFill>
                <a:hlinkClick r:id="rId11"/>
              </a:rPr>
              <a:t>Treta</a:t>
            </a:r>
            <a:endParaRPr lang="en-US"/>
          </a:p>
          <a:p>
            <a:pPr algn="r"/>
            <a:r>
              <a:rPr lang="en-US" sz="1200">
                <a:solidFill>
                  <a:srgbClr val="202122"/>
                </a:solidFill>
              </a:rPr>
              <a:t>2,163,102 BCE</a:t>
            </a:r>
            <a:endParaRPr lang="en-US"/>
          </a:p>
          <a:p>
            <a:pPr algn="r"/>
            <a:r>
              <a:rPr lang="en-US" sz="1200">
                <a:solidFill>
                  <a:srgbClr val="202122"/>
                </a:solidFill>
              </a:rPr>
              <a:t>1,296,000 (3,600)</a:t>
            </a:r>
            <a:endParaRPr lang="en-US"/>
          </a:p>
          <a:p>
            <a:pPr algn="l"/>
            <a:r>
              <a:rPr lang="en-US" sz="1200" i="1" dirty="0">
                <a:solidFill>
                  <a:srgbClr val="3366CC"/>
                </a:solidFill>
                <a:hlinkClick r:id="rId12"/>
              </a:rPr>
              <a:t>Dvapara</a:t>
            </a:r>
            <a:endParaRPr lang="en-US"/>
          </a:p>
          <a:p>
            <a:pPr algn="r"/>
            <a:r>
              <a:rPr lang="en-US" sz="1200">
                <a:solidFill>
                  <a:srgbClr val="202122"/>
                </a:solidFill>
              </a:rPr>
              <a:t>867,102 BCE</a:t>
            </a:r>
            <a:endParaRPr lang="en-US"/>
          </a:p>
          <a:p>
            <a:pPr algn="r"/>
            <a:r>
              <a:rPr lang="en-US" sz="1200">
                <a:solidFill>
                  <a:srgbClr val="202122"/>
                </a:solidFill>
              </a:rPr>
              <a:t>864,000 (2,400)</a:t>
            </a:r>
            <a:endParaRPr lang="en-US"/>
          </a:p>
          <a:p>
            <a:pPr algn="l"/>
            <a:r>
              <a:rPr lang="en-US" sz="1200" i="1" dirty="0">
                <a:solidFill>
                  <a:srgbClr val="3366CC"/>
                </a:solidFill>
                <a:hlinkClick r:id="rId13"/>
              </a:rPr>
              <a:t>Kali</a:t>
            </a:r>
            <a:r>
              <a:rPr lang="en-US" sz="1200" i="1">
                <a:solidFill>
                  <a:srgbClr val="202122"/>
                </a:solidFill>
              </a:rPr>
              <a:t>*</a:t>
            </a:r>
            <a:endParaRPr lang="en-US"/>
          </a:p>
          <a:p>
            <a:pPr algn="r"/>
            <a:r>
              <a:rPr lang="en-US" sz="1200">
                <a:solidFill>
                  <a:srgbClr val="202122"/>
                </a:solidFill>
              </a:rPr>
              <a:t>3102 BCE – 428,899 CE</a:t>
            </a:r>
            <a:endParaRPr lang="en-US"/>
          </a:p>
          <a:p>
            <a:pPr algn="r"/>
            <a:r>
              <a:rPr lang="en-US" sz="1200">
                <a:solidFill>
                  <a:srgbClr val="202122"/>
                </a:solidFill>
              </a:rPr>
              <a:t>432,000 (1,200)</a:t>
            </a:r>
            <a:endParaRPr lang="en-US"/>
          </a:p>
          <a:p>
            <a:pPr algn="r"/>
            <a:r>
              <a:rPr lang="en-US" sz="1200" b="1">
                <a:solidFill>
                  <a:srgbClr val="202122"/>
                </a:solidFill>
              </a:rPr>
              <a:t>Years: 4,320,000 </a:t>
            </a:r>
            <a:r>
              <a:rPr lang="en-US" sz="1200" b="1" dirty="0">
                <a:solidFill>
                  <a:srgbClr val="3366CC"/>
                </a:solidFill>
                <a:hlinkClick r:id="rId43"/>
              </a:rPr>
              <a:t>solar</a:t>
            </a:r>
            <a:r>
              <a:rPr lang="en-US" sz="1200" b="1" dirty="0">
                <a:solidFill>
                  <a:srgbClr val="202122"/>
                </a:solidFill>
              </a:rPr>
              <a:t> </a:t>
            </a:r>
            <a:r>
              <a:rPr lang="en-US" sz="1200" b="1">
                <a:solidFill>
                  <a:srgbClr val="202122"/>
                </a:solidFill>
              </a:rPr>
              <a:t>(12,000 divine)</a:t>
            </a:r>
            <a:endParaRPr lang="en-US"/>
          </a:p>
          <a:p>
            <a:pPr algn="l"/>
            <a:r>
              <a:rPr lang="en-US" sz="800" baseline="30000">
                <a:solidFill>
                  <a:srgbClr val="202122"/>
                </a:solidFill>
              </a:rPr>
              <a:t>(*) Current.</a:t>
            </a:r>
            <a:endParaRPr lang="en-US"/>
          </a:p>
          <a:p>
            <a:pPr algn="r"/>
            <a:r>
              <a:rPr lang="en-US" sz="1000" baseline="30000" dirty="0">
                <a:solidFill>
                  <a:srgbClr val="3366CC"/>
                </a:solidFill>
                <a:hlinkClick r:id="rId65"/>
              </a:rPr>
              <a:t>[c]</a:t>
            </a:r>
            <a:r>
              <a:rPr lang="en-US" sz="1000" baseline="30000" dirty="0">
                <a:solidFill>
                  <a:srgbClr val="3366CC"/>
                </a:solidFill>
                <a:hlinkClick r:id="rId66"/>
              </a:rPr>
              <a:t>[23][24]</a:t>
            </a:r>
            <a:endParaRPr lang="en-US"/>
          </a:p>
          <a:p>
            <a:r>
              <a:rPr lang="en" sz="1200" i="1" dirty="0">
                <a:solidFill>
                  <a:srgbClr val="3366CC"/>
                </a:solidFill>
                <a:ea typeface="+mj-lt"/>
                <a:cs typeface="+mj-lt"/>
                <a:hlinkClick r:id="rId52"/>
              </a:rPr>
              <a:t>Mahabharata</a:t>
            </a:r>
            <a:r>
              <a:rPr lang="en" sz="1200">
                <a:solidFill>
                  <a:srgbClr val="202122"/>
                </a:solidFill>
                <a:ea typeface="+mj-lt"/>
                <a:cs typeface="+mj-lt"/>
              </a:rPr>
              <a:t>, Book 12 (</a:t>
            </a:r>
            <a:r>
              <a:rPr lang="en" sz="1200" dirty="0">
                <a:solidFill>
                  <a:srgbClr val="3366CC"/>
                </a:solidFill>
                <a:ea typeface="+mj-lt"/>
                <a:cs typeface="+mj-lt"/>
                <a:hlinkClick r:id="rId67"/>
              </a:rPr>
              <a:t>Shanti Parva</a:t>
            </a:r>
            <a:r>
              <a:rPr lang="en" sz="1200">
                <a:solidFill>
                  <a:srgbClr val="202122"/>
                </a:solidFill>
                <a:ea typeface="+mj-lt"/>
                <a:cs typeface="+mj-lt"/>
              </a:rPr>
              <a:t>), Ch. 231:</a:t>
            </a:r>
            <a:r>
              <a:rPr lang="en" sz="1000" baseline="30000" dirty="0">
                <a:solidFill>
                  <a:srgbClr val="3366CC"/>
                </a:solidFill>
                <a:ea typeface="+mj-lt"/>
                <a:cs typeface="+mj-lt"/>
                <a:hlinkClick r:id="rId68"/>
              </a:rPr>
              <a:t>[25]</a:t>
            </a:r>
            <a:r>
              <a:rPr lang="en" sz="1000" baseline="30000" dirty="0">
                <a:solidFill>
                  <a:srgbClr val="3366CC"/>
                </a:solidFill>
                <a:ea typeface="+mj-lt"/>
                <a:cs typeface="+mj-lt"/>
                <a:hlinkClick r:id="rId69"/>
              </a:rPr>
              <a:t>[d]</a:t>
            </a:r>
            <a:endParaRPr lang="en-US">
              <a:ea typeface="+mj-lt"/>
              <a:cs typeface="+mj-lt"/>
            </a:endParaRPr>
          </a:p>
          <a:p>
            <a:r>
              <a:rPr lang="en" sz="1200">
                <a:solidFill>
                  <a:srgbClr val="202122"/>
                </a:solidFill>
                <a:ea typeface="+mj-lt"/>
                <a:cs typeface="+mj-lt"/>
              </a:rPr>
              <a:t>(17) A year (of men) is equal to a day and night of the gods ... (19) I shall, in their order, tell you the number of years that are for different purposes calculated differently, in the Krita, the Treta, the Dwapara, and the Kali yugas. (20) Four thousand celestial years is the duration of the first or Krita age. The morning of that cycle consists of four hundred years and its evening is of four hundred years. (21) Regarding the other cycles, the duration of each gradually decreases by a quarter in respect of both the principal period with the minor portion and the conjoining portion itself. (29) The learned say that these twelve thousand celestial years form what is called a cycle ...</a:t>
            </a:r>
            <a:endParaRPr lang="en-US"/>
          </a:p>
          <a:p>
            <a:r>
              <a:rPr lang="en" sz="1200" i="1" dirty="0">
                <a:solidFill>
                  <a:srgbClr val="3366CC"/>
                </a:solidFill>
                <a:ea typeface="+mj-lt"/>
                <a:cs typeface="+mj-lt"/>
                <a:hlinkClick r:id="rId36"/>
              </a:rPr>
              <a:t>Manusmriti</a:t>
            </a:r>
            <a:r>
              <a:rPr lang="en" sz="1200">
                <a:solidFill>
                  <a:srgbClr val="202122"/>
                </a:solidFill>
                <a:ea typeface="+mj-lt"/>
                <a:cs typeface="+mj-lt"/>
              </a:rPr>
              <a:t>, Ch. 1:</a:t>
            </a:r>
            <a:r>
              <a:rPr lang="en" sz="1000" baseline="30000" dirty="0">
                <a:solidFill>
                  <a:srgbClr val="3366CC"/>
                </a:solidFill>
                <a:ea typeface="+mj-lt"/>
                <a:cs typeface="+mj-lt"/>
                <a:hlinkClick r:id="rId70"/>
              </a:rPr>
              <a:t>[26]</a:t>
            </a:r>
            <a:endParaRPr lang="en-US"/>
          </a:p>
          <a:p>
            <a:r>
              <a:rPr lang="en" sz="1200">
                <a:solidFill>
                  <a:srgbClr val="202122"/>
                </a:solidFill>
                <a:ea typeface="+mj-lt"/>
                <a:cs typeface="+mj-lt"/>
              </a:rPr>
              <a:t>(67) A year is a day and a night of the gods ... (68) But hear now the brief (description of) the duration of a night and a day of Brahman [(Brahma)] and of the several ages (of the world, yuga) according to their order. (69) They declare that the Krita age (consists of) four thousand years (of the gods); the twilight preceding it consists of as many hundreds, and the twilight following it of the same number. (70) In the other three ages with their twilights preceding and following, the thousands and hundreds are diminished by one (in each). (71) These twelve thousand (years) which thus have been just mentioned as the total of four (human) ages, are called one age of the gods.</a:t>
            </a:r>
            <a:endParaRPr lang="en-US"/>
          </a:p>
          <a:p>
            <a:r>
              <a:rPr lang="en" sz="1200" i="1" dirty="0">
                <a:solidFill>
                  <a:srgbClr val="3366CC"/>
                </a:solidFill>
                <a:ea typeface="+mj-lt"/>
                <a:cs typeface="+mj-lt"/>
                <a:hlinkClick r:id="rId35"/>
              </a:rPr>
              <a:t>Surya Siddhanta</a:t>
            </a:r>
            <a:r>
              <a:rPr lang="en" sz="1200">
                <a:solidFill>
                  <a:srgbClr val="202122"/>
                </a:solidFill>
                <a:ea typeface="+mj-lt"/>
                <a:cs typeface="+mj-lt"/>
              </a:rPr>
              <a:t>, Ch. 1:</a:t>
            </a:r>
            <a:r>
              <a:rPr lang="en" sz="1000" baseline="30000" dirty="0">
                <a:solidFill>
                  <a:srgbClr val="3366CC"/>
                </a:solidFill>
                <a:ea typeface="+mj-lt"/>
                <a:cs typeface="+mj-lt"/>
                <a:hlinkClick r:id="rId71"/>
              </a:rPr>
              <a:t>[27]</a:t>
            </a:r>
            <a:endParaRPr lang="en-US"/>
          </a:p>
          <a:p>
            <a:r>
              <a:rPr lang="en" sz="1200">
                <a:solidFill>
                  <a:srgbClr val="202122"/>
                </a:solidFill>
                <a:ea typeface="+mj-lt"/>
                <a:cs typeface="+mj-lt"/>
              </a:rPr>
              <a:t>(13) ... twelve months make a year. This is called a day of the gods. (14) ... Six times sixty [360] of them are a year of the gods ... (15) Twelve thousand of these divine years are denominated a Quadruple Age (caturyuga); of ten thousand times four hundred and thirty-two [4,320,000] solar years (16) Is composed that Quadruple Age, with its dawn and twilight. The difference of the Golden and the other Ages, as measured by the difference in the number of the feet of Virtue in each, is as follows : (17) The tenth part of an Age, multiplied successively by four, three, two, and one, gives the length of the Golden and the other Ages, in order : the sixth part of each belongs to its dawn and twilight.</a:t>
            </a:r>
            <a:endParaRPr lang="en-US"/>
          </a:p>
          <a:p>
            <a:r>
              <a:rPr lang="en-US"/>
              <a:t>Greater cycles</a:t>
            </a:r>
          </a:p>
          <a:p>
            <a:r>
              <a:rPr lang="en" sz="1200" i="1">
                <a:solidFill>
                  <a:srgbClr val="202122"/>
                </a:solidFill>
                <a:ea typeface="+mj-lt"/>
                <a:cs typeface="+mj-lt"/>
              </a:rPr>
              <a:t>Main articles: </a:t>
            </a:r>
            <a:r>
              <a:rPr lang="en" sz="1200" i="1" dirty="0">
                <a:solidFill>
                  <a:srgbClr val="3366CC"/>
                </a:solidFill>
                <a:ea typeface="+mj-lt"/>
                <a:cs typeface="+mj-lt"/>
                <a:hlinkClick r:id="rId6"/>
              </a:rPr>
              <a:t>Hindu units of time</a:t>
            </a:r>
            <a:r>
              <a:rPr lang="en" sz="1200" i="1" dirty="0">
                <a:solidFill>
                  <a:srgbClr val="202122"/>
                </a:solidFill>
                <a:ea typeface="+mj-lt"/>
                <a:cs typeface="+mj-lt"/>
              </a:rPr>
              <a:t>, </a:t>
            </a:r>
            <a:r>
              <a:rPr lang="en" sz="1200" i="1" dirty="0">
                <a:solidFill>
                  <a:srgbClr val="3366CC"/>
                </a:solidFill>
                <a:ea typeface="+mj-lt"/>
                <a:cs typeface="+mj-lt"/>
                <a:hlinkClick r:id="rId22"/>
              </a:rPr>
              <a:t>Kalpa (time)</a:t>
            </a:r>
            <a:r>
              <a:rPr lang="en" sz="1200" i="1" dirty="0">
                <a:solidFill>
                  <a:srgbClr val="202122"/>
                </a:solidFill>
                <a:ea typeface="+mj-lt"/>
                <a:cs typeface="+mj-lt"/>
              </a:rPr>
              <a:t>, </a:t>
            </a:r>
            <a:r>
              <a:rPr lang="en" sz="1200" i="1" dirty="0">
                <a:solidFill>
                  <a:srgbClr val="3366CC"/>
                </a:solidFill>
                <a:ea typeface="+mj-lt"/>
                <a:cs typeface="+mj-lt"/>
                <a:hlinkClick r:id="rId72"/>
              </a:rPr>
              <a:t>Pralaya</a:t>
            </a:r>
            <a:r>
              <a:rPr lang="en" sz="1200" i="1">
                <a:solidFill>
                  <a:srgbClr val="202122"/>
                </a:solidFill>
                <a:ea typeface="+mj-lt"/>
                <a:cs typeface="+mj-lt"/>
              </a:rPr>
              <a:t>, and </a:t>
            </a:r>
            <a:r>
              <a:rPr lang="en" sz="1200" i="1" dirty="0">
                <a:solidFill>
                  <a:srgbClr val="3366CC"/>
                </a:solidFill>
                <a:ea typeface="+mj-lt"/>
                <a:cs typeface="+mj-lt"/>
                <a:hlinkClick r:id="rId20"/>
              </a:rPr>
              <a:t>Manvantara</a:t>
            </a:r>
            <a:endParaRPr lang="en-US">
              <a:ea typeface="+mj-lt"/>
              <a:cs typeface="+mj-lt"/>
            </a:endParaRPr>
          </a:p>
          <a:p>
            <a:r>
              <a:rPr lang="en" sz="1200">
                <a:solidFill>
                  <a:srgbClr val="202122"/>
                </a:solidFill>
                <a:ea typeface="+mj-lt"/>
                <a:cs typeface="+mj-lt"/>
              </a:rPr>
              <a:t>There are 71 </a:t>
            </a:r>
            <a:r>
              <a:rPr lang="en" sz="1200" i="1">
                <a:solidFill>
                  <a:srgbClr val="202122"/>
                </a:solidFill>
                <a:ea typeface="+mj-lt"/>
                <a:cs typeface="+mj-lt"/>
              </a:rPr>
              <a:t>Yuga</a:t>
            </a:r>
            <a:r>
              <a:rPr lang="en" sz="1200">
                <a:solidFill>
                  <a:srgbClr val="202122"/>
                </a:solidFill>
                <a:ea typeface="+mj-lt"/>
                <a:cs typeface="+mj-lt"/>
              </a:rPr>
              <a:t> Cycles (306,720,000 years) in a </a:t>
            </a:r>
            <a:r>
              <a:rPr lang="en" sz="1200" i="1" dirty="0">
                <a:solidFill>
                  <a:srgbClr val="3366CC"/>
                </a:solidFill>
                <a:ea typeface="+mj-lt"/>
                <a:cs typeface="+mj-lt"/>
                <a:hlinkClick r:id="rId20"/>
              </a:rPr>
              <a:t>manvantara</a:t>
            </a:r>
            <a:r>
              <a:rPr lang="en" sz="1200">
                <a:solidFill>
                  <a:srgbClr val="202122"/>
                </a:solidFill>
                <a:ea typeface="+mj-lt"/>
                <a:cs typeface="+mj-lt"/>
              </a:rPr>
              <a:t>, a period ruled by </a:t>
            </a:r>
            <a:r>
              <a:rPr lang="en" sz="1200" dirty="0">
                <a:solidFill>
                  <a:srgbClr val="3366CC"/>
                </a:solidFill>
                <a:ea typeface="+mj-lt"/>
                <a:cs typeface="+mj-lt"/>
                <a:hlinkClick r:id="rId21"/>
              </a:rPr>
              <a:t>Manu</a:t>
            </a:r>
            <a:r>
              <a:rPr lang="en" sz="1200">
                <a:solidFill>
                  <a:srgbClr val="202122"/>
                </a:solidFill>
                <a:ea typeface="+mj-lt"/>
                <a:cs typeface="+mj-lt"/>
              </a:rPr>
              <a:t>, who is the progenitor of mankind.</a:t>
            </a:r>
            <a:r>
              <a:rPr lang="en" sz="1000" baseline="30000" dirty="0">
                <a:solidFill>
                  <a:srgbClr val="3366CC"/>
                </a:solidFill>
                <a:ea typeface="+mj-lt"/>
                <a:cs typeface="+mj-lt"/>
                <a:hlinkClick r:id="rId73"/>
              </a:rPr>
              <a:t>[28]</a:t>
            </a:r>
            <a:r>
              <a:rPr lang="en" sz="1200" dirty="0">
                <a:solidFill>
                  <a:srgbClr val="202122"/>
                </a:solidFill>
                <a:ea typeface="+mj-lt"/>
                <a:cs typeface="+mj-lt"/>
              </a:rPr>
              <a:t> </a:t>
            </a:r>
            <a:r>
              <a:rPr lang="en" sz="1200">
                <a:solidFill>
                  <a:srgbClr val="202122"/>
                </a:solidFill>
                <a:ea typeface="+mj-lt"/>
                <a:cs typeface="+mj-lt"/>
              </a:rPr>
              <a:t>There are 1,000 </a:t>
            </a:r>
            <a:r>
              <a:rPr lang="en" sz="1200" i="1">
                <a:solidFill>
                  <a:srgbClr val="202122"/>
                </a:solidFill>
                <a:ea typeface="+mj-lt"/>
                <a:cs typeface="+mj-lt"/>
              </a:rPr>
              <a:t>Yuga</a:t>
            </a:r>
            <a:r>
              <a:rPr lang="en" sz="1200">
                <a:solidFill>
                  <a:srgbClr val="202122"/>
                </a:solidFill>
                <a:ea typeface="+mj-lt"/>
                <a:cs typeface="+mj-lt"/>
              </a:rPr>
              <a:t> Cycles (4,320,000,000 years) in a </a:t>
            </a:r>
            <a:r>
              <a:rPr lang="en" sz="1200" i="1" dirty="0">
                <a:solidFill>
                  <a:srgbClr val="3366CC"/>
                </a:solidFill>
                <a:ea typeface="+mj-lt"/>
                <a:cs typeface="+mj-lt"/>
                <a:hlinkClick r:id="rId22"/>
              </a:rPr>
              <a:t>kalpa</a:t>
            </a:r>
            <a:r>
              <a:rPr lang="en" sz="1200">
                <a:solidFill>
                  <a:srgbClr val="202122"/>
                </a:solidFill>
                <a:ea typeface="+mj-lt"/>
                <a:cs typeface="+mj-lt"/>
              </a:rPr>
              <a:t>, a period that is a day (12-hour day proper) of </a:t>
            </a:r>
            <a:r>
              <a:rPr lang="en" sz="1200" dirty="0">
                <a:solidFill>
                  <a:srgbClr val="3366CC"/>
                </a:solidFill>
                <a:ea typeface="+mj-lt"/>
                <a:cs typeface="+mj-lt"/>
                <a:hlinkClick r:id="rId23"/>
              </a:rPr>
              <a:t>Brahma</a:t>
            </a:r>
            <a:r>
              <a:rPr lang="en" sz="1200">
                <a:solidFill>
                  <a:srgbClr val="202122"/>
                </a:solidFill>
                <a:ea typeface="+mj-lt"/>
                <a:cs typeface="+mj-lt"/>
              </a:rPr>
              <a:t>, who is the creator of the planets and first living entities. There are 14 </a:t>
            </a:r>
            <a:r>
              <a:rPr lang="en" sz="1200" i="1">
                <a:solidFill>
                  <a:srgbClr val="202122"/>
                </a:solidFill>
                <a:ea typeface="+mj-lt"/>
                <a:cs typeface="+mj-lt"/>
              </a:rPr>
              <a:t>manvantaras</a:t>
            </a:r>
            <a:r>
              <a:rPr lang="en" sz="1200">
                <a:solidFill>
                  <a:srgbClr val="202122"/>
                </a:solidFill>
                <a:ea typeface="+mj-lt"/>
                <a:cs typeface="+mj-lt"/>
              </a:rPr>
              <a:t> (4,294,080,000 years) in a </a:t>
            </a:r>
            <a:r>
              <a:rPr lang="en" sz="1200" i="1">
                <a:solidFill>
                  <a:srgbClr val="202122"/>
                </a:solidFill>
                <a:ea typeface="+mj-lt"/>
                <a:cs typeface="+mj-lt"/>
              </a:rPr>
              <a:t>kalpa</a:t>
            </a:r>
            <a:r>
              <a:rPr lang="en" sz="1200">
                <a:solidFill>
                  <a:srgbClr val="202122"/>
                </a:solidFill>
                <a:ea typeface="+mj-lt"/>
                <a:cs typeface="+mj-lt"/>
              </a:rPr>
              <a:t> with a remainder of 25,920,000 years assigned to 15 </a:t>
            </a:r>
            <a:r>
              <a:rPr lang="en" sz="1200" i="1">
                <a:solidFill>
                  <a:srgbClr val="202122"/>
                </a:solidFill>
                <a:ea typeface="+mj-lt"/>
                <a:cs typeface="+mj-lt"/>
              </a:rPr>
              <a:t>manvantara-sandhyas</a:t>
            </a:r>
            <a:r>
              <a:rPr lang="en" sz="1200">
                <a:solidFill>
                  <a:srgbClr val="202122"/>
                </a:solidFill>
                <a:ea typeface="+mj-lt"/>
                <a:cs typeface="+mj-lt"/>
              </a:rPr>
              <a:t> (junctures), each the length of a </a:t>
            </a:r>
            <a:r>
              <a:rPr lang="en" sz="1200" i="1">
                <a:solidFill>
                  <a:srgbClr val="202122"/>
                </a:solidFill>
                <a:ea typeface="+mj-lt"/>
                <a:cs typeface="+mj-lt"/>
              </a:rPr>
              <a:t>Satya Yuga</a:t>
            </a:r>
            <a:r>
              <a:rPr lang="en" sz="1200">
                <a:solidFill>
                  <a:srgbClr val="202122"/>
                </a:solidFill>
                <a:ea typeface="+mj-lt"/>
                <a:cs typeface="+mj-lt"/>
              </a:rPr>
              <a:t> (1,728,000 years). A </a:t>
            </a:r>
            <a:r>
              <a:rPr lang="en" sz="1200" i="1">
                <a:solidFill>
                  <a:srgbClr val="202122"/>
                </a:solidFill>
                <a:ea typeface="+mj-lt"/>
                <a:cs typeface="+mj-lt"/>
              </a:rPr>
              <a:t>kalpa</a:t>
            </a:r>
            <a:r>
              <a:rPr lang="en" sz="1200">
                <a:solidFill>
                  <a:srgbClr val="202122"/>
                </a:solidFill>
                <a:ea typeface="+mj-lt"/>
                <a:cs typeface="+mj-lt"/>
              </a:rPr>
              <a:t> is followed by a </a:t>
            </a:r>
            <a:r>
              <a:rPr lang="en" sz="1200" i="1" dirty="0">
                <a:solidFill>
                  <a:srgbClr val="3366CC"/>
                </a:solidFill>
                <a:ea typeface="+mj-lt"/>
                <a:cs typeface="+mj-lt"/>
                <a:hlinkClick r:id="rId72"/>
              </a:rPr>
              <a:t>pralaya</a:t>
            </a:r>
            <a:r>
              <a:rPr lang="en" sz="1200" dirty="0">
                <a:solidFill>
                  <a:srgbClr val="202122"/>
                </a:solidFill>
                <a:ea typeface="+mj-lt"/>
                <a:cs typeface="+mj-lt"/>
              </a:rPr>
              <a:t> </a:t>
            </a:r>
            <a:r>
              <a:rPr lang="en" sz="1200">
                <a:solidFill>
                  <a:srgbClr val="202122"/>
                </a:solidFill>
                <a:ea typeface="+mj-lt"/>
                <a:cs typeface="+mj-lt"/>
              </a:rPr>
              <a:t>(night or partial dissolution) of equal length forming a full day (24-hour day). A </a:t>
            </a:r>
            <a:r>
              <a:rPr lang="en" sz="1200" i="1">
                <a:solidFill>
                  <a:srgbClr val="202122"/>
                </a:solidFill>
                <a:ea typeface="+mj-lt"/>
                <a:cs typeface="+mj-lt"/>
              </a:rPr>
              <a:t>maha-kalpa</a:t>
            </a:r>
            <a:r>
              <a:rPr lang="en" sz="1200">
                <a:solidFill>
                  <a:srgbClr val="202122"/>
                </a:solidFill>
                <a:ea typeface="+mj-lt"/>
                <a:cs typeface="+mj-lt"/>
              </a:rPr>
              <a:t> (life of Brahma) lasts for 100 360-day years of Brahma, which lasts for 72,000,000 </a:t>
            </a:r>
            <a:r>
              <a:rPr lang="en" sz="1200" i="1">
                <a:solidFill>
                  <a:srgbClr val="202122"/>
                </a:solidFill>
                <a:ea typeface="+mj-lt"/>
                <a:cs typeface="+mj-lt"/>
              </a:rPr>
              <a:t>Yuga</a:t>
            </a:r>
            <a:r>
              <a:rPr lang="en" sz="1200">
                <a:solidFill>
                  <a:srgbClr val="202122"/>
                </a:solidFill>
                <a:ea typeface="+mj-lt"/>
                <a:cs typeface="+mj-lt"/>
              </a:rPr>
              <a:t> Cycles (311.04 trillion years) and is followed by a </a:t>
            </a:r>
            <a:r>
              <a:rPr lang="en" sz="1200" i="1">
                <a:solidFill>
                  <a:srgbClr val="202122"/>
                </a:solidFill>
                <a:ea typeface="+mj-lt"/>
                <a:cs typeface="+mj-lt"/>
              </a:rPr>
              <a:t>maha-pralaya</a:t>
            </a:r>
            <a:r>
              <a:rPr lang="en" sz="1200">
                <a:solidFill>
                  <a:srgbClr val="202122"/>
                </a:solidFill>
                <a:ea typeface="+mj-lt"/>
                <a:cs typeface="+mj-lt"/>
              </a:rPr>
              <a:t> (full dissolution) of equal length.</a:t>
            </a:r>
            <a:r>
              <a:rPr lang="en" sz="1000" baseline="30000" dirty="0">
                <a:solidFill>
                  <a:srgbClr val="3366CC"/>
                </a:solidFill>
                <a:ea typeface="+mj-lt"/>
                <a:cs typeface="+mj-lt"/>
                <a:hlinkClick r:id="rId16"/>
              </a:rPr>
              <a:t>[6]</a:t>
            </a:r>
            <a:endParaRPr lang="en-US">
              <a:ea typeface="+mj-lt"/>
              <a:cs typeface="+mj-lt"/>
            </a:endParaRPr>
          </a:p>
          <a:p>
            <a:r>
              <a:rPr lang="en" sz="1200">
                <a:solidFill>
                  <a:srgbClr val="202122"/>
                </a:solidFill>
                <a:ea typeface="+mj-lt"/>
                <a:cs typeface="+mj-lt"/>
              </a:rPr>
              <a:t>We are currently halfway through </a:t>
            </a:r>
            <a:r>
              <a:rPr lang="en" sz="1200" dirty="0">
                <a:solidFill>
                  <a:srgbClr val="3366CC"/>
                </a:solidFill>
                <a:ea typeface="+mj-lt"/>
                <a:cs typeface="+mj-lt"/>
                <a:hlinkClick r:id="rId23"/>
              </a:rPr>
              <a:t>Brahma's</a:t>
            </a:r>
            <a:r>
              <a:rPr lang="en" sz="1200" dirty="0">
                <a:solidFill>
                  <a:srgbClr val="202122"/>
                </a:solidFill>
                <a:ea typeface="+mj-lt"/>
                <a:cs typeface="+mj-lt"/>
              </a:rPr>
              <a:t> </a:t>
            </a:r>
            <a:r>
              <a:rPr lang="en" sz="1200">
                <a:solidFill>
                  <a:srgbClr val="202122"/>
                </a:solidFill>
                <a:ea typeface="+mj-lt"/>
                <a:cs typeface="+mj-lt"/>
              </a:rPr>
              <a:t>life (</a:t>
            </a:r>
            <a:r>
              <a:rPr lang="en" sz="1200" i="1">
                <a:solidFill>
                  <a:srgbClr val="202122"/>
                </a:solidFill>
                <a:ea typeface="+mj-lt"/>
                <a:cs typeface="+mj-lt"/>
              </a:rPr>
              <a:t>maha-kalpa</a:t>
            </a:r>
            <a:r>
              <a:rPr lang="en" sz="1200">
                <a:solidFill>
                  <a:srgbClr val="202122"/>
                </a:solidFill>
                <a:ea typeface="+mj-lt"/>
                <a:cs typeface="+mj-lt"/>
              </a:rPr>
              <a:t>):</a:t>
            </a:r>
            <a:r>
              <a:rPr lang="en" sz="1000" baseline="30000" dirty="0">
                <a:solidFill>
                  <a:srgbClr val="3366CC"/>
                </a:solidFill>
                <a:ea typeface="+mj-lt"/>
                <a:cs typeface="+mj-lt"/>
                <a:hlinkClick r:id="rId16"/>
              </a:rPr>
              <a:t>[6]</a:t>
            </a:r>
            <a:r>
              <a:rPr lang="en" sz="1000" baseline="30000" dirty="0">
                <a:solidFill>
                  <a:srgbClr val="3366CC"/>
                </a:solidFill>
                <a:ea typeface="+mj-lt"/>
                <a:cs typeface="+mj-lt"/>
                <a:hlinkClick r:id="rId74"/>
              </a:rPr>
              <a:t>[29]</a:t>
            </a:r>
            <a:r>
              <a:rPr lang="en" sz="1000" baseline="30000" dirty="0">
                <a:solidFill>
                  <a:srgbClr val="3366CC"/>
                </a:solidFill>
                <a:ea typeface="+mj-lt"/>
                <a:cs typeface="+mj-lt"/>
                <a:hlinkClick r:id="rId75"/>
              </a:rPr>
              <a:t>[30]</a:t>
            </a:r>
            <a:r>
              <a:rPr lang="en" sz="1000" baseline="30000" dirty="0">
                <a:solidFill>
                  <a:srgbClr val="3366CC"/>
                </a:solidFill>
                <a:ea typeface="+mj-lt"/>
                <a:cs typeface="+mj-lt"/>
                <a:hlinkClick r:id="rId76"/>
              </a:rPr>
              <a:t>[31]</a:t>
            </a:r>
            <a:endParaRPr lang="en-US">
              <a:ea typeface="+mj-lt"/>
              <a:cs typeface="+mj-lt"/>
            </a:endParaRPr>
          </a:p>
          <a:p>
            <a:pPr marL="285750" indent="-285750">
              <a:buFont typeface="Arial"/>
              <a:buChar char="•"/>
            </a:pPr>
            <a:r>
              <a:rPr lang="en" sz="1200">
                <a:solidFill>
                  <a:srgbClr val="202122"/>
                </a:solidFill>
                <a:ea typeface="+mj-lt"/>
                <a:cs typeface="+mj-lt"/>
              </a:rPr>
              <a:t>51st year of 100 (2nd half or </a:t>
            </a:r>
            <a:r>
              <a:rPr lang="en" sz="1200" i="1">
                <a:solidFill>
                  <a:srgbClr val="202122"/>
                </a:solidFill>
                <a:ea typeface="+mj-lt"/>
                <a:cs typeface="+mj-lt"/>
              </a:rPr>
              <a:t>parardha</a:t>
            </a:r>
            <a:r>
              <a:rPr lang="en" sz="1200">
                <a:solidFill>
                  <a:srgbClr val="202122"/>
                </a:solidFill>
                <a:ea typeface="+mj-lt"/>
                <a:cs typeface="+mj-lt"/>
              </a:rPr>
              <a:t>)</a:t>
            </a:r>
            <a:endParaRPr lang="en-US"/>
          </a:p>
          <a:p>
            <a:pPr marL="285750" indent="-285750">
              <a:buFont typeface="Arial"/>
              <a:buChar char="•"/>
            </a:pPr>
            <a:r>
              <a:rPr lang="en" sz="1200">
                <a:solidFill>
                  <a:srgbClr val="202122"/>
                </a:solidFill>
                <a:ea typeface="+mj-lt"/>
                <a:cs typeface="+mj-lt"/>
              </a:rPr>
              <a:t>1st month of 12</a:t>
            </a:r>
            <a:endParaRPr lang="en-US"/>
          </a:p>
          <a:p>
            <a:pPr marL="285750" indent="-285750">
              <a:buFont typeface="Arial"/>
              <a:buChar char="•"/>
            </a:pPr>
            <a:r>
              <a:rPr lang="en" sz="1200">
                <a:solidFill>
                  <a:srgbClr val="202122"/>
                </a:solidFill>
                <a:ea typeface="+mj-lt"/>
                <a:cs typeface="+mj-lt"/>
              </a:rPr>
              <a:t>1st </a:t>
            </a:r>
            <a:r>
              <a:rPr lang="en" sz="1200" i="1" dirty="0">
                <a:solidFill>
                  <a:srgbClr val="3366CC"/>
                </a:solidFill>
                <a:ea typeface="+mj-lt"/>
                <a:cs typeface="+mj-lt"/>
                <a:hlinkClick r:id="rId22"/>
              </a:rPr>
              <a:t>kalpa</a:t>
            </a:r>
            <a:r>
              <a:rPr lang="en" sz="1200" dirty="0">
                <a:solidFill>
                  <a:srgbClr val="202122"/>
                </a:solidFill>
                <a:ea typeface="+mj-lt"/>
                <a:cs typeface="+mj-lt"/>
              </a:rPr>
              <a:t> </a:t>
            </a:r>
            <a:r>
              <a:rPr lang="en" sz="1200">
                <a:solidFill>
                  <a:srgbClr val="202122"/>
                </a:solidFill>
                <a:ea typeface="+mj-lt"/>
                <a:cs typeface="+mj-lt"/>
              </a:rPr>
              <a:t>(</a:t>
            </a:r>
            <a:r>
              <a:rPr lang="en" sz="1200" i="1">
                <a:solidFill>
                  <a:srgbClr val="202122"/>
                </a:solidFill>
                <a:ea typeface="+mj-lt"/>
                <a:cs typeface="+mj-lt"/>
              </a:rPr>
              <a:t>Shveta-Varaha Kalpa</a:t>
            </a:r>
            <a:r>
              <a:rPr lang="en" sz="1200">
                <a:solidFill>
                  <a:srgbClr val="202122"/>
                </a:solidFill>
                <a:ea typeface="+mj-lt"/>
                <a:cs typeface="+mj-lt"/>
              </a:rPr>
              <a:t>) of 30</a:t>
            </a:r>
            <a:endParaRPr lang="en-US">
              <a:ea typeface="+mj-lt"/>
              <a:cs typeface="+mj-lt"/>
            </a:endParaRPr>
          </a:p>
          <a:p>
            <a:pPr marL="285750" indent="-285750">
              <a:buFont typeface="Arial"/>
              <a:buChar char="•"/>
            </a:pPr>
            <a:r>
              <a:rPr lang="en" sz="1200">
                <a:solidFill>
                  <a:srgbClr val="202122"/>
                </a:solidFill>
                <a:ea typeface="+mj-lt"/>
                <a:cs typeface="+mj-lt"/>
              </a:rPr>
              <a:t>7th </a:t>
            </a:r>
            <a:r>
              <a:rPr lang="en" sz="1200" i="1" dirty="0">
                <a:solidFill>
                  <a:srgbClr val="3366CC"/>
                </a:solidFill>
                <a:ea typeface="+mj-lt"/>
                <a:cs typeface="+mj-lt"/>
                <a:hlinkClick r:id="rId20"/>
              </a:rPr>
              <a:t>manvantara</a:t>
            </a:r>
            <a:r>
              <a:rPr lang="en" sz="1200" dirty="0">
                <a:solidFill>
                  <a:srgbClr val="202122"/>
                </a:solidFill>
                <a:ea typeface="+mj-lt"/>
                <a:cs typeface="+mj-lt"/>
              </a:rPr>
              <a:t> </a:t>
            </a:r>
            <a:r>
              <a:rPr lang="en" sz="1200">
                <a:solidFill>
                  <a:srgbClr val="202122"/>
                </a:solidFill>
                <a:ea typeface="+mj-lt"/>
                <a:cs typeface="+mj-lt"/>
              </a:rPr>
              <a:t>(</a:t>
            </a:r>
            <a:r>
              <a:rPr lang="en" sz="1200" dirty="0">
                <a:solidFill>
                  <a:srgbClr val="3366CC"/>
                </a:solidFill>
                <a:ea typeface="+mj-lt"/>
                <a:cs typeface="+mj-lt"/>
                <a:hlinkClick r:id="rId77"/>
              </a:rPr>
              <a:t>Vaivasvatha Manu</a:t>
            </a:r>
            <a:r>
              <a:rPr lang="en" sz="1200">
                <a:solidFill>
                  <a:srgbClr val="202122"/>
                </a:solidFill>
                <a:ea typeface="+mj-lt"/>
                <a:cs typeface="+mj-lt"/>
              </a:rPr>
              <a:t>) of 14</a:t>
            </a:r>
            <a:endParaRPr lang="en-US">
              <a:ea typeface="+mj-lt"/>
              <a:cs typeface="+mj-lt"/>
            </a:endParaRPr>
          </a:p>
          <a:p>
            <a:pPr marL="285750" indent="-285750">
              <a:buFont typeface="Arial"/>
              <a:buChar char="•"/>
            </a:pPr>
            <a:r>
              <a:rPr lang="en" sz="1200">
                <a:solidFill>
                  <a:srgbClr val="202122"/>
                </a:solidFill>
                <a:ea typeface="+mj-lt"/>
                <a:cs typeface="+mj-lt"/>
              </a:rPr>
              <a:t>28th </a:t>
            </a:r>
            <a:r>
              <a:rPr lang="en" sz="1200" i="1">
                <a:solidFill>
                  <a:srgbClr val="202122"/>
                </a:solidFill>
                <a:ea typeface="+mj-lt"/>
                <a:cs typeface="+mj-lt"/>
              </a:rPr>
              <a:t>chatur-yuga</a:t>
            </a:r>
            <a:r>
              <a:rPr lang="en" sz="1200">
                <a:solidFill>
                  <a:srgbClr val="202122"/>
                </a:solidFill>
                <a:ea typeface="+mj-lt"/>
                <a:cs typeface="+mj-lt"/>
              </a:rPr>
              <a:t> (</a:t>
            </a:r>
            <a:r>
              <a:rPr lang="en" sz="1200" u="sng">
                <a:solidFill>
                  <a:srgbClr val="202122"/>
                </a:solidFill>
                <a:ea typeface="+mj-lt"/>
                <a:cs typeface="+mj-lt"/>
              </a:rPr>
              <a:t>a.k.a.</a:t>
            </a:r>
            <a:r>
              <a:rPr lang="en" sz="1200">
                <a:solidFill>
                  <a:srgbClr val="202122"/>
                </a:solidFill>
                <a:ea typeface="+mj-lt"/>
                <a:cs typeface="+mj-lt"/>
              </a:rPr>
              <a:t> </a:t>
            </a:r>
            <a:r>
              <a:rPr lang="en" sz="1200" i="1">
                <a:solidFill>
                  <a:srgbClr val="202122"/>
                </a:solidFill>
                <a:ea typeface="+mj-lt"/>
                <a:cs typeface="+mj-lt"/>
              </a:rPr>
              <a:t>Yuga</a:t>
            </a:r>
            <a:r>
              <a:rPr lang="en" sz="1200">
                <a:solidFill>
                  <a:srgbClr val="202122"/>
                </a:solidFill>
                <a:ea typeface="+mj-lt"/>
                <a:cs typeface="+mj-lt"/>
              </a:rPr>
              <a:t> Cycle) of 71</a:t>
            </a:r>
            <a:endParaRPr lang="en-US"/>
          </a:p>
          <a:p>
            <a:pPr marL="285750" indent="-285750">
              <a:buFont typeface="Arial"/>
              <a:buChar char="•"/>
            </a:pPr>
            <a:r>
              <a:rPr lang="en" sz="1200">
                <a:solidFill>
                  <a:srgbClr val="202122"/>
                </a:solidFill>
                <a:ea typeface="+mj-lt"/>
                <a:cs typeface="+mj-lt"/>
              </a:rPr>
              <a:t>4th </a:t>
            </a:r>
            <a:r>
              <a:rPr lang="en" sz="1200" i="1">
                <a:solidFill>
                  <a:srgbClr val="202122"/>
                </a:solidFill>
                <a:ea typeface="+mj-lt"/>
                <a:cs typeface="+mj-lt"/>
              </a:rPr>
              <a:t>yuga</a:t>
            </a:r>
            <a:r>
              <a:rPr lang="en" sz="1200">
                <a:solidFill>
                  <a:srgbClr val="202122"/>
                </a:solidFill>
                <a:ea typeface="+mj-lt"/>
                <a:cs typeface="+mj-lt"/>
              </a:rPr>
              <a:t> (</a:t>
            </a:r>
            <a:r>
              <a:rPr lang="en" sz="1200" i="1" dirty="0">
                <a:solidFill>
                  <a:srgbClr val="3366CC"/>
                </a:solidFill>
                <a:ea typeface="+mj-lt"/>
                <a:cs typeface="+mj-lt"/>
                <a:hlinkClick r:id="rId13"/>
              </a:rPr>
              <a:t>Kali Yuga</a:t>
            </a:r>
            <a:r>
              <a:rPr lang="en" sz="1200">
                <a:solidFill>
                  <a:srgbClr val="202122"/>
                </a:solidFill>
                <a:ea typeface="+mj-lt"/>
                <a:cs typeface="+mj-lt"/>
              </a:rPr>
              <a:t>) of 4</a:t>
            </a:r>
            <a:endParaRPr lang="en-US"/>
          </a:p>
          <a:p>
            <a:r>
              <a:rPr lang="en" sz="1200" i="1">
                <a:solidFill>
                  <a:srgbClr val="202122"/>
                </a:solidFill>
                <a:ea typeface="+mj-lt"/>
                <a:cs typeface="+mj-lt"/>
              </a:rPr>
              <a:t>Yuga</a:t>
            </a:r>
            <a:r>
              <a:rPr lang="en" sz="1200">
                <a:solidFill>
                  <a:srgbClr val="202122"/>
                </a:solidFill>
                <a:ea typeface="+mj-lt"/>
                <a:cs typeface="+mj-lt"/>
              </a:rPr>
              <a:t> dates are used in an </a:t>
            </a:r>
            <a:r>
              <a:rPr lang="en" sz="1200" i="1">
                <a:solidFill>
                  <a:srgbClr val="202122"/>
                </a:solidFill>
                <a:ea typeface="+mj-lt"/>
                <a:cs typeface="+mj-lt"/>
              </a:rPr>
              <a:t>ashloka</a:t>
            </a:r>
            <a:r>
              <a:rPr lang="en" sz="1200">
                <a:solidFill>
                  <a:srgbClr val="202122"/>
                </a:solidFill>
                <a:ea typeface="+mj-lt"/>
                <a:cs typeface="+mj-lt"/>
              </a:rPr>
              <a:t>, which is read out at the beginning of Hindu rites to specify the elapsed time in Brahma's life. For example, an ashloka in 2007 CE of the </a:t>
            </a:r>
            <a:r>
              <a:rPr lang="en" sz="1200" dirty="0">
                <a:solidFill>
                  <a:srgbClr val="3366CC"/>
                </a:solidFill>
                <a:ea typeface="+mj-lt"/>
                <a:cs typeface="+mj-lt"/>
                <a:hlinkClick r:id="rId78"/>
              </a:rPr>
              <a:t>Gregorian calendar</a:t>
            </a:r>
            <a:r>
              <a:rPr lang="en" sz="1200" dirty="0">
                <a:solidFill>
                  <a:srgbClr val="202122"/>
                </a:solidFill>
                <a:ea typeface="+mj-lt"/>
                <a:cs typeface="+mj-lt"/>
              </a:rPr>
              <a:t> </a:t>
            </a:r>
            <a:r>
              <a:rPr lang="en" sz="1200">
                <a:solidFill>
                  <a:srgbClr val="202122"/>
                </a:solidFill>
                <a:ea typeface="+mj-lt"/>
                <a:cs typeface="+mj-lt"/>
              </a:rPr>
              <a:t>might include the lines:</a:t>
            </a:r>
            <a:r>
              <a:rPr lang="en" sz="1000" baseline="30000" dirty="0">
                <a:solidFill>
                  <a:srgbClr val="3366CC"/>
                </a:solidFill>
                <a:ea typeface="+mj-lt"/>
                <a:cs typeface="+mj-lt"/>
                <a:hlinkClick r:id="rId79"/>
              </a:rPr>
              <a:t>[32]</a:t>
            </a:r>
            <a:r>
              <a:rPr lang="en" sz="1000" baseline="30000" dirty="0">
                <a:solidFill>
                  <a:srgbClr val="3366CC"/>
                </a:solidFill>
                <a:ea typeface="+mj-lt"/>
                <a:cs typeface="+mj-lt"/>
                <a:hlinkClick r:id="rId80"/>
              </a:rPr>
              <a:t>[e]</a:t>
            </a:r>
            <a:endParaRPr lang="en-US">
              <a:ea typeface="+mj-lt"/>
              <a:cs typeface="+mj-lt"/>
            </a:endParaRPr>
          </a:p>
          <a:p>
            <a:r>
              <a:rPr lang="en" sz="1200">
                <a:solidFill>
                  <a:srgbClr val="202122"/>
                </a:solidFill>
                <a:ea typeface="+mj-lt"/>
                <a:cs typeface="+mj-lt"/>
              </a:rPr>
              <a:t>5109 of </a:t>
            </a:r>
            <a:r>
              <a:rPr lang="en" sz="1200" i="1">
                <a:solidFill>
                  <a:srgbClr val="202122"/>
                </a:solidFill>
                <a:ea typeface="+mj-lt"/>
                <a:cs typeface="+mj-lt"/>
              </a:rPr>
              <a:t>Kalyugi</a:t>
            </a:r>
            <a:r>
              <a:rPr lang="en" sz="1200">
                <a:solidFill>
                  <a:srgbClr val="202122"/>
                </a:solidFill>
                <a:ea typeface="+mj-lt"/>
                <a:cs typeface="+mj-lt"/>
              </a:rPr>
              <a:t> year of the 28th </a:t>
            </a:r>
            <a:r>
              <a:rPr lang="en" sz="1200" i="1">
                <a:solidFill>
                  <a:srgbClr val="202122"/>
                </a:solidFill>
                <a:ea typeface="+mj-lt"/>
                <a:cs typeface="+mj-lt"/>
              </a:rPr>
              <a:t>Chaturyugee</a:t>
            </a:r>
            <a:r>
              <a:rPr lang="en" sz="1200">
                <a:solidFill>
                  <a:srgbClr val="202122"/>
                </a:solidFill>
                <a:ea typeface="+mj-lt"/>
                <a:cs typeface="+mj-lt"/>
              </a:rPr>
              <a:t> of the 7th </a:t>
            </a:r>
            <a:r>
              <a:rPr lang="en" sz="1200" i="1">
                <a:solidFill>
                  <a:srgbClr val="202122"/>
                </a:solidFill>
                <a:ea typeface="+mj-lt"/>
                <a:cs typeface="+mj-lt"/>
              </a:rPr>
              <a:t>Manvantara</a:t>
            </a:r>
            <a:r>
              <a:rPr lang="en" sz="1200">
                <a:solidFill>
                  <a:srgbClr val="202122"/>
                </a:solidFill>
                <a:ea typeface="+mj-lt"/>
                <a:cs typeface="+mj-lt"/>
              </a:rPr>
              <a:t> on the first day of the 51st year of the 2nd </a:t>
            </a:r>
            <a:r>
              <a:rPr lang="en" sz="1200" i="1">
                <a:solidFill>
                  <a:srgbClr val="202122"/>
                </a:solidFill>
                <a:ea typeface="+mj-lt"/>
                <a:cs typeface="+mj-lt"/>
              </a:rPr>
              <a:t>Brahma</a:t>
            </a:r>
            <a:r>
              <a:rPr lang="en" sz="1200">
                <a:solidFill>
                  <a:srgbClr val="202122"/>
                </a:solidFill>
                <a:ea typeface="+mj-lt"/>
                <a:cs typeface="+mj-lt"/>
              </a:rPr>
              <a:t> [(2nd half of Brahma's life)].</a:t>
            </a:r>
            <a:endParaRPr lang="en-US"/>
          </a:p>
          <a:p>
            <a:r>
              <a:rPr lang="en-US"/>
              <a:t>Virtues</a:t>
            </a:r>
          </a:p>
          <a:p>
            <a:pPr algn="l"/>
            <a:r>
              <a:rPr lang="en-US" sz="1100"/>
              <a:t>This section </a:t>
            </a:r>
            <a:r>
              <a:rPr lang="en-US" sz="1100" b="1"/>
              <a:t>needs expansion</a:t>
            </a:r>
            <a:r>
              <a:rPr lang="en-US" sz="1100"/>
              <a:t>. You can help by </a:t>
            </a:r>
            <a:r>
              <a:rPr lang="en-US" sz="1100" dirty="0">
                <a:solidFill>
                  <a:srgbClr val="3366CC"/>
                </a:solidFill>
                <a:hlinkClick r:id="rId81"/>
              </a:rPr>
              <a:t>adding to it</a:t>
            </a:r>
            <a:r>
              <a:rPr lang="en-US" sz="1100"/>
              <a:t>. </a:t>
            </a:r>
            <a:r>
              <a:rPr lang="en-US" sz="1100" i="1"/>
              <a:t>(February 2025)</a:t>
            </a:r>
            <a:endParaRPr lang="en-US"/>
          </a:p>
          <a:p>
            <a:r>
              <a:rPr lang="en" sz="1200">
                <a:solidFill>
                  <a:srgbClr val="202122"/>
                </a:solidFill>
                <a:ea typeface="+mj-lt"/>
                <a:cs typeface="+mj-lt"/>
              </a:rPr>
              <a:t>According to the </a:t>
            </a:r>
            <a:r>
              <a:rPr lang="en" sz="1200" dirty="0">
                <a:solidFill>
                  <a:srgbClr val="3366CC"/>
                </a:solidFill>
                <a:ea typeface="+mj-lt"/>
                <a:cs typeface="+mj-lt"/>
                <a:hlinkClick r:id="rId36"/>
              </a:rPr>
              <a:t>Manusmriti</a:t>
            </a:r>
            <a:r>
              <a:rPr lang="en" sz="1200">
                <a:solidFill>
                  <a:srgbClr val="202122"/>
                </a:solidFill>
                <a:ea typeface="+mj-lt"/>
                <a:cs typeface="+mj-lt"/>
              </a:rPr>
              <a:t>, the virtue (</a:t>
            </a:r>
            <a:r>
              <a:rPr lang="en" sz="1200" i="1" dirty="0">
                <a:solidFill>
                  <a:srgbClr val="3366CC"/>
                </a:solidFill>
                <a:ea typeface="+mj-lt"/>
                <a:cs typeface="+mj-lt"/>
                <a:hlinkClick r:id="rId82"/>
              </a:rPr>
              <a:t>dharma</a:t>
            </a:r>
            <a:r>
              <a:rPr lang="en" sz="1200">
                <a:solidFill>
                  <a:srgbClr val="202122"/>
                </a:solidFill>
                <a:ea typeface="+mj-lt"/>
                <a:cs typeface="+mj-lt"/>
              </a:rPr>
              <a:t>) of human beings varies across the four yugas (ages). The text states:</a:t>
            </a:r>
            <a:endParaRPr lang="en-US">
              <a:ea typeface="+mj-lt"/>
              <a:cs typeface="+mj-lt"/>
            </a:endParaRPr>
          </a:p>
          <a:p>
            <a:r>
              <a:rPr lang="en" sz="1200">
                <a:solidFill>
                  <a:srgbClr val="202122"/>
                </a:solidFill>
                <a:ea typeface="+mj-lt"/>
                <a:cs typeface="+mj-lt"/>
              </a:rPr>
              <a:t>तपः परं कृतयुगे त्रेतायां ज्ञानमुच्यते ।</a:t>
            </a:r>
            <a:br>
              <a:rPr lang="en" sz="1200" dirty="0">
                <a:solidFill>
                  <a:srgbClr val="202122"/>
                </a:solidFill>
                <a:ea typeface="+mj-lt"/>
                <a:cs typeface="+mj-lt"/>
              </a:rPr>
            </a:br>
            <a:r>
              <a:rPr lang="en" sz="1200">
                <a:solidFill>
                  <a:srgbClr val="202122"/>
                </a:solidFill>
                <a:ea typeface="+mj-lt"/>
                <a:cs typeface="+mj-lt"/>
              </a:rPr>
              <a:t>द्वापरे यज्ञमेवाहुर्दानमेकं कलौ युगे ॥</a:t>
            </a:r>
            <a:endParaRPr lang="en-US"/>
          </a:p>
          <a:p>
            <a:r>
              <a:rPr lang="en" sz="1200">
                <a:solidFill>
                  <a:srgbClr val="202122"/>
                </a:solidFill>
                <a:ea typeface="+mj-lt"/>
                <a:cs typeface="+mj-lt"/>
              </a:rPr>
              <a:t>tapaḥ paraṃ kṛtayuge tretāyāṃ jñānamucyate</a:t>
            </a:r>
            <a:endParaRPr lang="en-US"/>
          </a:p>
          <a:p>
            <a:r>
              <a:rPr lang="en" sz="1200">
                <a:solidFill>
                  <a:srgbClr val="202122"/>
                </a:solidFill>
                <a:ea typeface="+mj-lt"/>
                <a:cs typeface="+mj-lt"/>
              </a:rPr>
              <a:t>dvāpare yajñamevāhurdānamekaṃ kalau yuge</a:t>
            </a:r>
            <a:endParaRPr lang="en-US"/>
          </a:p>
          <a:p>
            <a:r>
              <a:rPr lang="en" sz="1200">
                <a:solidFill>
                  <a:srgbClr val="202122"/>
                </a:solidFill>
                <a:ea typeface="+mj-lt"/>
                <a:cs typeface="+mj-lt"/>
              </a:rPr>
              <a:t>In the </a:t>
            </a:r>
            <a:r>
              <a:rPr lang="en" sz="1200" dirty="0">
                <a:solidFill>
                  <a:srgbClr val="3366CC"/>
                </a:solidFill>
                <a:ea typeface="+mj-lt"/>
                <a:cs typeface="+mj-lt"/>
                <a:hlinkClick r:id="rId83"/>
              </a:rPr>
              <a:t>Krita Yuga</a:t>
            </a:r>
            <a:r>
              <a:rPr lang="en" sz="1200">
                <a:solidFill>
                  <a:srgbClr val="202122"/>
                </a:solidFill>
                <a:ea typeface="+mj-lt"/>
                <a:cs typeface="+mj-lt"/>
              </a:rPr>
              <a:t>, the virtue is </a:t>
            </a:r>
            <a:r>
              <a:rPr lang="en" sz="1200" b="1">
                <a:solidFill>
                  <a:srgbClr val="202122"/>
                </a:solidFill>
                <a:ea typeface="+mj-lt"/>
                <a:cs typeface="+mj-lt"/>
              </a:rPr>
              <a:t>austerity</a:t>
            </a:r>
            <a:r>
              <a:rPr lang="en" sz="1200">
                <a:solidFill>
                  <a:srgbClr val="202122"/>
                </a:solidFill>
                <a:ea typeface="+mj-lt"/>
                <a:cs typeface="+mj-lt"/>
              </a:rPr>
              <a:t> (</a:t>
            </a:r>
            <a:r>
              <a:rPr lang="en" sz="1200" i="1" dirty="0">
                <a:solidFill>
                  <a:srgbClr val="3366CC"/>
                </a:solidFill>
                <a:ea typeface="+mj-lt"/>
                <a:cs typeface="+mj-lt"/>
                <a:hlinkClick r:id="rId84"/>
              </a:rPr>
              <a:t>tapas</a:t>
            </a:r>
            <a:r>
              <a:rPr lang="en" sz="1200">
                <a:solidFill>
                  <a:srgbClr val="202122"/>
                </a:solidFill>
                <a:ea typeface="+mj-lt"/>
                <a:cs typeface="+mj-lt"/>
              </a:rPr>
              <a:t>); in the </a:t>
            </a:r>
            <a:r>
              <a:rPr lang="en" sz="1200" dirty="0">
                <a:solidFill>
                  <a:srgbClr val="3366CC"/>
                </a:solidFill>
                <a:ea typeface="+mj-lt"/>
                <a:cs typeface="+mj-lt"/>
                <a:hlinkClick r:id="rId11"/>
              </a:rPr>
              <a:t>Treta Yuga</a:t>
            </a:r>
            <a:r>
              <a:rPr lang="en" sz="1200">
                <a:solidFill>
                  <a:srgbClr val="202122"/>
                </a:solidFill>
                <a:ea typeface="+mj-lt"/>
                <a:cs typeface="+mj-lt"/>
              </a:rPr>
              <a:t>, it is </a:t>
            </a:r>
            <a:r>
              <a:rPr lang="en" sz="1200" b="1">
                <a:solidFill>
                  <a:srgbClr val="202122"/>
                </a:solidFill>
                <a:ea typeface="+mj-lt"/>
                <a:cs typeface="+mj-lt"/>
              </a:rPr>
              <a:t>knowledge</a:t>
            </a:r>
            <a:r>
              <a:rPr lang="en" sz="1200">
                <a:solidFill>
                  <a:srgbClr val="202122"/>
                </a:solidFill>
                <a:ea typeface="+mj-lt"/>
                <a:cs typeface="+mj-lt"/>
              </a:rPr>
              <a:t> (</a:t>
            </a:r>
            <a:r>
              <a:rPr lang="en" sz="1200" i="1" dirty="0">
                <a:solidFill>
                  <a:srgbClr val="3366CC"/>
                </a:solidFill>
                <a:ea typeface="+mj-lt"/>
                <a:cs typeface="+mj-lt"/>
                <a:hlinkClick r:id="rId85"/>
              </a:rPr>
              <a:t>jnana</a:t>
            </a:r>
            <a:r>
              <a:rPr lang="en" sz="1200">
                <a:solidFill>
                  <a:srgbClr val="202122"/>
                </a:solidFill>
                <a:ea typeface="+mj-lt"/>
                <a:cs typeface="+mj-lt"/>
              </a:rPr>
              <a:t>); in the </a:t>
            </a:r>
            <a:r>
              <a:rPr lang="en" sz="1200" dirty="0">
                <a:solidFill>
                  <a:srgbClr val="3366CC"/>
                </a:solidFill>
                <a:ea typeface="+mj-lt"/>
                <a:cs typeface="+mj-lt"/>
                <a:hlinkClick r:id="rId12"/>
              </a:rPr>
              <a:t>Dvapara Yuga</a:t>
            </a:r>
            <a:r>
              <a:rPr lang="en" sz="1200">
                <a:solidFill>
                  <a:srgbClr val="202122"/>
                </a:solidFill>
                <a:ea typeface="+mj-lt"/>
                <a:cs typeface="+mj-lt"/>
              </a:rPr>
              <a:t>, it is </a:t>
            </a:r>
            <a:r>
              <a:rPr lang="en" sz="1200" b="1">
                <a:solidFill>
                  <a:srgbClr val="202122"/>
                </a:solidFill>
                <a:ea typeface="+mj-lt"/>
                <a:cs typeface="+mj-lt"/>
              </a:rPr>
              <a:t>sacrifice</a:t>
            </a:r>
            <a:r>
              <a:rPr lang="en" sz="1200">
                <a:solidFill>
                  <a:srgbClr val="202122"/>
                </a:solidFill>
                <a:ea typeface="+mj-lt"/>
                <a:cs typeface="+mj-lt"/>
              </a:rPr>
              <a:t> (</a:t>
            </a:r>
            <a:r>
              <a:rPr lang="en" sz="1200" i="1" dirty="0">
                <a:solidFill>
                  <a:srgbClr val="3366CC"/>
                </a:solidFill>
                <a:ea typeface="+mj-lt"/>
                <a:cs typeface="+mj-lt"/>
                <a:hlinkClick r:id="rId86"/>
              </a:rPr>
              <a:t>yajna</a:t>
            </a:r>
            <a:r>
              <a:rPr lang="en" sz="1200">
                <a:solidFill>
                  <a:srgbClr val="202122"/>
                </a:solidFill>
                <a:ea typeface="+mj-lt"/>
                <a:cs typeface="+mj-lt"/>
              </a:rPr>
              <a:t>); and in the </a:t>
            </a:r>
            <a:r>
              <a:rPr lang="en" sz="1200" dirty="0">
                <a:solidFill>
                  <a:srgbClr val="3366CC"/>
                </a:solidFill>
                <a:ea typeface="+mj-lt"/>
                <a:cs typeface="+mj-lt"/>
                <a:hlinkClick r:id="rId13"/>
              </a:rPr>
              <a:t>Kali Yuga</a:t>
            </a:r>
            <a:r>
              <a:rPr lang="en" sz="1200">
                <a:solidFill>
                  <a:srgbClr val="202122"/>
                </a:solidFill>
                <a:ea typeface="+mj-lt"/>
                <a:cs typeface="+mj-lt"/>
              </a:rPr>
              <a:t>, it is </a:t>
            </a:r>
            <a:r>
              <a:rPr lang="en" sz="1200" b="1">
                <a:solidFill>
                  <a:srgbClr val="202122"/>
                </a:solidFill>
                <a:ea typeface="+mj-lt"/>
                <a:cs typeface="+mj-lt"/>
              </a:rPr>
              <a:t>charity</a:t>
            </a:r>
            <a:r>
              <a:rPr lang="en" sz="1200">
                <a:solidFill>
                  <a:srgbClr val="202122"/>
                </a:solidFill>
                <a:ea typeface="+mj-lt"/>
                <a:cs typeface="+mj-lt"/>
              </a:rPr>
              <a:t> (</a:t>
            </a:r>
            <a:r>
              <a:rPr lang="en" sz="1200" i="1" dirty="0">
                <a:solidFill>
                  <a:srgbClr val="3366CC"/>
                </a:solidFill>
                <a:ea typeface="+mj-lt"/>
                <a:cs typeface="+mj-lt"/>
                <a:hlinkClick r:id="rId87"/>
              </a:rPr>
              <a:t>dāna</a:t>
            </a:r>
            <a:r>
              <a:rPr lang="en" sz="1200">
                <a:solidFill>
                  <a:srgbClr val="202122"/>
                </a:solidFill>
                <a:ea typeface="+mj-lt"/>
                <a:cs typeface="+mj-lt"/>
              </a:rPr>
              <a:t>).</a:t>
            </a:r>
            <a:r>
              <a:rPr lang="en" sz="1000" baseline="30000" dirty="0">
                <a:solidFill>
                  <a:srgbClr val="3366CC"/>
                </a:solidFill>
                <a:ea typeface="+mj-lt"/>
                <a:cs typeface="+mj-lt"/>
                <a:hlinkClick r:id="rId88"/>
              </a:rPr>
              <a:t>[33]</a:t>
            </a:r>
            <a:endParaRPr lang="en-US">
              <a:ea typeface="+mj-lt"/>
              <a:cs typeface="+mj-lt"/>
            </a:endParaRPr>
          </a:p>
          <a:p>
            <a:r>
              <a:rPr lang="en-US"/>
              <a:t>Avatars</a:t>
            </a:r>
          </a:p>
          <a:p>
            <a:pPr algn="l"/>
            <a:r>
              <a:rPr lang="en-US" sz="1100"/>
              <a:t>This section </a:t>
            </a:r>
            <a:r>
              <a:rPr lang="en-US" sz="1100" b="1"/>
              <a:t>needs expansion</a:t>
            </a:r>
            <a:r>
              <a:rPr lang="en-US" sz="1100"/>
              <a:t>. You can help by </a:t>
            </a:r>
            <a:r>
              <a:rPr lang="en-US" sz="1100" dirty="0">
                <a:solidFill>
                  <a:srgbClr val="3366CC"/>
                </a:solidFill>
                <a:hlinkClick r:id="rId81"/>
              </a:rPr>
              <a:t>adding to it</a:t>
            </a:r>
            <a:r>
              <a:rPr lang="en-US" sz="1100"/>
              <a:t>. </a:t>
            </a:r>
            <a:r>
              <a:rPr lang="en-US" sz="1100" i="1"/>
              <a:t>(November 2020)</a:t>
            </a:r>
            <a:endParaRPr lang="en-US"/>
          </a:p>
          <a:p>
            <a:r>
              <a:rPr lang="en-US" b="1"/>
              <a:t>Ganesha</a:t>
            </a:r>
            <a:endParaRPr lang="en-US"/>
          </a:p>
          <a:p>
            <a:r>
              <a:rPr lang="en" sz="1200" i="1">
                <a:solidFill>
                  <a:srgbClr val="202122"/>
                </a:solidFill>
                <a:ea typeface="+mj-lt"/>
                <a:cs typeface="+mj-lt"/>
              </a:rPr>
              <a:t>Main article: </a:t>
            </a:r>
            <a:r>
              <a:rPr lang="en" sz="1200" i="1" dirty="0">
                <a:solidFill>
                  <a:srgbClr val="3366CC"/>
                </a:solidFill>
                <a:ea typeface="+mj-lt"/>
                <a:cs typeface="+mj-lt"/>
                <a:hlinkClick r:id="rId89"/>
              </a:rPr>
              <a:t>Ganesha Purana § Kridakhanda: Ganesha in four Yugas</a:t>
            </a:r>
            <a:endParaRPr lang="en-US"/>
          </a:p>
          <a:p>
            <a:r>
              <a:rPr lang="en" sz="1200">
                <a:solidFill>
                  <a:srgbClr val="202122"/>
                </a:solidFill>
                <a:ea typeface="+mj-lt"/>
                <a:cs typeface="+mj-lt"/>
              </a:rPr>
              <a:t>Ganesha avatars are described as coming during specific </a:t>
            </a:r>
            <a:r>
              <a:rPr lang="en" sz="1200" i="1">
                <a:solidFill>
                  <a:srgbClr val="202122"/>
                </a:solidFill>
                <a:ea typeface="+mj-lt"/>
                <a:cs typeface="+mj-lt"/>
              </a:rPr>
              <a:t>yugas</a:t>
            </a:r>
            <a:r>
              <a:rPr lang="en" sz="1200">
                <a:solidFill>
                  <a:srgbClr val="202122"/>
                </a:solidFill>
                <a:ea typeface="+mj-lt"/>
                <a:cs typeface="+mj-lt"/>
              </a:rPr>
              <a:t>.</a:t>
            </a:r>
            <a:r>
              <a:rPr lang="en" sz="1000" baseline="30000" dirty="0">
                <a:solidFill>
                  <a:srgbClr val="3366CC"/>
                </a:solidFill>
                <a:ea typeface="+mj-lt"/>
                <a:cs typeface="+mj-lt"/>
                <a:hlinkClick r:id="rId90"/>
              </a:rPr>
              <a:t>[34]</a:t>
            </a:r>
            <a:r>
              <a:rPr lang="en" sz="1000" baseline="30000" dirty="0">
                <a:solidFill>
                  <a:srgbClr val="3366CC"/>
                </a:solidFill>
                <a:ea typeface="+mj-lt"/>
                <a:cs typeface="+mj-lt"/>
                <a:hlinkClick r:id="rId91"/>
              </a:rPr>
              <a:t>[35]</a:t>
            </a:r>
            <a:r>
              <a:rPr lang="en" sz="1000" baseline="30000" dirty="0">
                <a:solidFill>
                  <a:srgbClr val="3366CC"/>
                </a:solidFill>
                <a:ea typeface="+mj-lt"/>
                <a:cs typeface="+mj-lt"/>
                <a:hlinkClick r:id="rId92"/>
              </a:rPr>
              <a:t>[36]</a:t>
            </a:r>
            <a:endParaRPr lang="en-US"/>
          </a:p>
          <a:p>
            <a:r>
              <a:rPr lang="en-US" b="1"/>
              <a:t>Vishnu</a:t>
            </a:r>
            <a:endParaRPr lang="en-US"/>
          </a:p>
          <a:p>
            <a:r>
              <a:rPr lang="en" sz="1200" i="1">
                <a:solidFill>
                  <a:srgbClr val="202122"/>
                </a:solidFill>
                <a:ea typeface="+mj-lt"/>
                <a:cs typeface="+mj-lt"/>
              </a:rPr>
              <a:t>Main articles: </a:t>
            </a:r>
            <a:r>
              <a:rPr lang="en" sz="1200" i="1" dirty="0">
                <a:solidFill>
                  <a:srgbClr val="3366CC"/>
                </a:solidFill>
                <a:ea typeface="+mj-lt"/>
                <a:cs typeface="+mj-lt"/>
                <a:hlinkClick r:id="rId93"/>
              </a:rPr>
              <a:t>Dashavatara § List of Avatars</a:t>
            </a:r>
            <a:r>
              <a:rPr lang="en" sz="1200" i="1">
                <a:solidFill>
                  <a:srgbClr val="202122"/>
                </a:solidFill>
                <a:ea typeface="+mj-lt"/>
                <a:cs typeface="+mj-lt"/>
              </a:rPr>
              <a:t>, and </a:t>
            </a:r>
            <a:r>
              <a:rPr lang="en" sz="1200" i="1" dirty="0">
                <a:solidFill>
                  <a:srgbClr val="3366CC"/>
                </a:solidFill>
                <a:ea typeface="+mj-lt"/>
                <a:cs typeface="+mj-lt"/>
                <a:hlinkClick r:id="rId94"/>
              </a:rPr>
              <a:t>Vamana § Vayu Purana</a:t>
            </a:r>
            <a:endParaRPr lang="en-US">
              <a:ea typeface="+mj-lt"/>
              <a:cs typeface="+mj-lt"/>
            </a:endParaRPr>
          </a:p>
          <a:p>
            <a:r>
              <a:rPr lang="en" sz="1200">
                <a:solidFill>
                  <a:srgbClr val="202122"/>
                </a:solidFill>
                <a:ea typeface="+mj-lt"/>
                <a:cs typeface="+mj-lt"/>
              </a:rPr>
              <a:t>The </a:t>
            </a:r>
            <a:r>
              <a:rPr lang="en" sz="1200" dirty="0">
                <a:solidFill>
                  <a:srgbClr val="3366CC"/>
                </a:solidFill>
                <a:ea typeface="+mj-lt"/>
                <a:cs typeface="+mj-lt"/>
                <a:hlinkClick r:id="rId53"/>
              </a:rPr>
              <a:t>Puranas</a:t>
            </a:r>
            <a:r>
              <a:rPr lang="en" sz="1200" dirty="0">
                <a:solidFill>
                  <a:srgbClr val="202122"/>
                </a:solidFill>
                <a:ea typeface="+mj-lt"/>
                <a:cs typeface="+mj-lt"/>
              </a:rPr>
              <a:t> </a:t>
            </a:r>
            <a:r>
              <a:rPr lang="en" sz="1200">
                <a:solidFill>
                  <a:srgbClr val="202122"/>
                </a:solidFill>
                <a:ea typeface="+mj-lt"/>
                <a:cs typeface="+mj-lt"/>
              </a:rPr>
              <a:t>describe </a:t>
            </a:r>
            <a:r>
              <a:rPr lang="en" sz="1200" dirty="0">
                <a:solidFill>
                  <a:srgbClr val="3366CC"/>
                </a:solidFill>
                <a:ea typeface="+mj-lt"/>
                <a:cs typeface="+mj-lt"/>
                <a:hlinkClick r:id="rId93"/>
              </a:rPr>
              <a:t>Vishnu avatars</a:t>
            </a:r>
            <a:r>
              <a:rPr lang="en" sz="1200" dirty="0">
                <a:solidFill>
                  <a:srgbClr val="202122"/>
                </a:solidFill>
                <a:ea typeface="+mj-lt"/>
                <a:cs typeface="+mj-lt"/>
              </a:rPr>
              <a:t> </a:t>
            </a:r>
            <a:r>
              <a:rPr lang="en" sz="1200">
                <a:solidFill>
                  <a:srgbClr val="202122"/>
                </a:solidFill>
                <a:ea typeface="+mj-lt"/>
                <a:cs typeface="+mj-lt"/>
              </a:rPr>
              <a:t>that come during specific </a:t>
            </a:r>
            <a:r>
              <a:rPr lang="en" sz="1200" i="1">
                <a:solidFill>
                  <a:srgbClr val="202122"/>
                </a:solidFill>
                <a:ea typeface="+mj-lt"/>
                <a:cs typeface="+mj-lt"/>
              </a:rPr>
              <a:t>yugas</a:t>
            </a:r>
            <a:r>
              <a:rPr lang="en" sz="1200">
                <a:solidFill>
                  <a:srgbClr val="202122"/>
                </a:solidFill>
                <a:ea typeface="+mj-lt"/>
                <a:cs typeface="+mj-lt"/>
              </a:rPr>
              <a:t>, but may not occur in every </a:t>
            </a:r>
            <a:r>
              <a:rPr lang="en" sz="1200" i="1">
                <a:solidFill>
                  <a:srgbClr val="202122"/>
                </a:solidFill>
                <a:ea typeface="+mj-lt"/>
                <a:cs typeface="+mj-lt"/>
              </a:rPr>
              <a:t>Yuga</a:t>
            </a:r>
            <a:r>
              <a:rPr lang="en" sz="1200">
                <a:solidFill>
                  <a:srgbClr val="202122"/>
                </a:solidFill>
                <a:ea typeface="+mj-lt"/>
                <a:cs typeface="+mj-lt"/>
              </a:rPr>
              <a:t> Cycle.</a:t>
            </a:r>
            <a:endParaRPr lang="en-US">
              <a:ea typeface="+mj-lt"/>
              <a:cs typeface="+mj-lt"/>
            </a:endParaRPr>
          </a:p>
          <a:p>
            <a:r>
              <a:rPr lang="en" sz="1200" dirty="0">
                <a:solidFill>
                  <a:srgbClr val="3366CC"/>
                </a:solidFill>
                <a:ea typeface="+mj-lt"/>
                <a:cs typeface="+mj-lt"/>
                <a:hlinkClick r:id="rId95"/>
              </a:rPr>
              <a:t>Vamana</a:t>
            </a:r>
            <a:r>
              <a:rPr lang="en" sz="1200" dirty="0">
                <a:solidFill>
                  <a:srgbClr val="202122"/>
                </a:solidFill>
                <a:ea typeface="+mj-lt"/>
                <a:cs typeface="+mj-lt"/>
              </a:rPr>
              <a:t> </a:t>
            </a:r>
            <a:r>
              <a:rPr lang="en" sz="1200">
                <a:solidFill>
                  <a:srgbClr val="202122"/>
                </a:solidFill>
                <a:ea typeface="+mj-lt"/>
                <a:cs typeface="+mj-lt"/>
              </a:rPr>
              <a:t>appears at the beginning of </a:t>
            </a:r>
            <a:r>
              <a:rPr lang="en" sz="1200" i="1" dirty="0">
                <a:solidFill>
                  <a:srgbClr val="3366CC"/>
                </a:solidFill>
                <a:ea typeface="+mj-lt"/>
                <a:cs typeface="+mj-lt"/>
                <a:hlinkClick r:id="rId11"/>
              </a:rPr>
              <a:t>Treta Yuga</a:t>
            </a:r>
            <a:r>
              <a:rPr lang="en" sz="1200">
                <a:solidFill>
                  <a:srgbClr val="202122"/>
                </a:solidFill>
                <a:ea typeface="+mj-lt"/>
                <a:cs typeface="+mj-lt"/>
              </a:rPr>
              <a:t>. According to </a:t>
            </a:r>
            <a:r>
              <a:rPr lang="en" sz="1200" i="1" dirty="0">
                <a:solidFill>
                  <a:srgbClr val="3366CC"/>
                </a:solidFill>
                <a:ea typeface="+mj-lt"/>
                <a:cs typeface="+mj-lt"/>
                <a:hlinkClick r:id="rId96"/>
              </a:rPr>
              <a:t>Vayu Purana</a:t>
            </a:r>
            <a:r>
              <a:rPr lang="en" sz="1200">
                <a:solidFill>
                  <a:srgbClr val="202122"/>
                </a:solidFill>
                <a:ea typeface="+mj-lt"/>
                <a:cs typeface="+mj-lt"/>
              </a:rPr>
              <a:t>, Vamana's 3rd appearance was in the 7th </a:t>
            </a:r>
            <a:r>
              <a:rPr lang="en" sz="1200" i="1">
                <a:solidFill>
                  <a:srgbClr val="202122"/>
                </a:solidFill>
                <a:ea typeface="+mj-lt"/>
                <a:cs typeface="+mj-lt"/>
              </a:rPr>
              <a:t>Treta Yuga</a:t>
            </a:r>
            <a:r>
              <a:rPr lang="en" sz="1200">
                <a:solidFill>
                  <a:srgbClr val="202122"/>
                </a:solidFill>
                <a:ea typeface="+mj-lt"/>
                <a:cs typeface="+mj-lt"/>
              </a:rPr>
              <a:t>.</a:t>
            </a:r>
            <a:r>
              <a:rPr lang="en" sz="1000" baseline="30000" dirty="0">
                <a:solidFill>
                  <a:srgbClr val="3366CC"/>
                </a:solidFill>
                <a:ea typeface="+mj-lt"/>
                <a:cs typeface="+mj-lt"/>
                <a:hlinkClick r:id="rId97"/>
              </a:rPr>
              <a:t>[37]</a:t>
            </a:r>
            <a:r>
              <a:rPr lang="en" sz="1000" baseline="30000" dirty="0">
                <a:solidFill>
                  <a:srgbClr val="3366CC"/>
                </a:solidFill>
                <a:ea typeface="+mj-lt"/>
                <a:cs typeface="+mj-lt"/>
                <a:hlinkClick r:id="rId98"/>
              </a:rPr>
              <a:t>[38]</a:t>
            </a:r>
            <a:endParaRPr lang="en-US">
              <a:ea typeface="+mj-lt"/>
              <a:cs typeface="+mj-lt"/>
            </a:endParaRPr>
          </a:p>
          <a:p>
            <a:r>
              <a:rPr lang="en" sz="1200" dirty="0">
                <a:solidFill>
                  <a:srgbClr val="3366CC"/>
                </a:solidFill>
                <a:ea typeface="+mj-lt"/>
                <a:cs typeface="+mj-lt"/>
                <a:hlinkClick r:id="rId99"/>
              </a:rPr>
              <a:t>Rama</a:t>
            </a:r>
            <a:r>
              <a:rPr lang="en" sz="1200" dirty="0">
                <a:solidFill>
                  <a:srgbClr val="202122"/>
                </a:solidFill>
                <a:ea typeface="+mj-lt"/>
                <a:cs typeface="+mj-lt"/>
              </a:rPr>
              <a:t> </a:t>
            </a:r>
            <a:r>
              <a:rPr lang="en" sz="1200">
                <a:solidFill>
                  <a:srgbClr val="202122"/>
                </a:solidFill>
                <a:ea typeface="+mj-lt"/>
                <a:cs typeface="+mj-lt"/>
              </a:rPr>
              <a:t>appears at the end of </a:t>
            </a:r>
            <a:r>
              <a:rPr lang="en" sz="1200" i="1" dirty="0">
                <a:solidFill>
                  <a:srgbClr val="3366CC"/>
                </a:solidFill>
                <a:ea typeface="+mj-lt"/>
                <a:cs typeface="+mj-lt"/>
                <a:hlinkClick r:id="rId11"/>
              </a:rPr>
              <a:t>Treta Yuga</a:t>
            </a:r>
            <a:r>
              <a:rPr lang="en" sz="1200" dirty="0">
                <a:solidFill>
                  <a:srgbClr val="202122"/>
                </a:solidFill>
                <a:ea typeface="+mj-lt"/>
                <a:cs typeface="+mj-lt"/>
              </a:rPr>
              <a:t>.</a:t>
            </a:r>
            <a:r>
              <a:rPr lang="en" sz="1000" baseline="30000" dirty="0">
                <a:solidFill>
                  <a:srgbClr val="3366CC"/>
                </a:solidFill>
                <a:ea typeface="+mj-lt"/>
                <a:cs typeface="+mj-lt"/>
                <a:hlinkClick r:id="rId100"/>
              </a:rPr>
              <a:t>[39]</a:t>
            </a:r>
            <a:r>
              <a:rPr lang="en" sz="1200" dirty="0">
                <a:solidFill>
                  <a:srgbClr val="202122"/>
                </a:solidFill>
                <a:ea typeface="+mj-lt"/>
                <a:cs typeface="+mj-lt"/>
              </a:rPr>
              <a:t> </a:t>
            </a:r>
            <a:r>
              <a:rPr lang="en" sz="1200">
                <a:solidFill>
                  <a:srgbClr val="202122"/>
                </a:solidFill>
                <a:ea typeface="+mj-lt"/>
                <a:cs typeface="+mj-lt"/>
              </a:rPr>
              <a:t>According to </a:t>
            </a:r>
            <a:r>
              <a:rPr lang="en" sz="1200" i="1" dirty="0">
                <a:solidFill>
                  <a:srgbClr val="3366CC"/>
                </a:solidFill>
                <a:ea typeface="+mj-lt"/>
                <a:cs typeface="+mj-lt"/>
                <a:hlinkClick r:id="rId96"/>
              </a:rPr>
              <a:t>Vayu Purana</a:t>
            </a:r>
            <a:r>
              <a:rPr lang="en" sz="1200" dirty="0">
                <a:solidFill>
                  <a:srgbClr val="202122"/>
                </a:solidFill>
                <a:ea typeface="+mj-lt"/>
                <a:cs typeface="+mj-lt"/>
              </a:rPr>
              <a:t> </a:t>
            </a:r>
            <a:r>
              <a:rPr lang="en" sz="1200">
                <a:solidFill>
                  <a:srgbClr val="202122"/>
                </a:solidFill>
                <a:ea typeface="+mj-lt"/>
                <a:cs typeface="+mj-lt"/>
              </a:rPr>
              <a:t>and </a:t>
            </a:r>
            <a:r>
              <a:rPr lang="en" sz="1200" i="1" dirty="0">
                <a:solidFill>
                  <a:srgbClr val="3366CC"/>
                </a:solidFill>
                <a:ea typeface="+mj-lt"/>
                <a:cs typeface="+mj-lt"/>
                <a:hlinkClick r:id="rId58"/>
              </a:rPr>
              <a:t>Matsya Purana</a:t>
            </a:r>
            <a:r>
              <a:rPr lang="en" sz="1200">
                <a:solidFill>
                  <a:srgbClr val="202122"/>
                </a:solidFill>
                <a:ea typeface="+mj-lt"/>
                <a:cs typeface="+mj-lt"/>
              </a:rPr>
              <a:t>, Rama appeared in the 24th </a:t>
            </a:r>
            <a:r>
              <a:rPr lang="en" sz="1200" i="1">
                <a:solidFill>
                  <a:srgbClr val="202122"/>
                </a:solidFill>
                <a:ea typeface="+mj-lt"/>
                <a:cs typeface="+mj-lt"/>
              </a:rPr>
              <a:t>Yuga</a:t>
            </a:r>
            <a:r>
              <a:rPr lang="en" sz="1200">
                <a:solidFill>
                  <a:srgbClr val="202122"/>
                </a:solidFill>
                <a:ea typeface="+mj-lt"/>
                <a:cs typeface="+mj-lt"/>
              </a:rPr>
              <a:t> Cycle.</a:t>
            </a:r>
            <a:r>
              <a:rPr lang="en" sz="1000" baseline="30000" dirty="0">
                <a:solidFill>
                  <a:srgbClr val="3366CC"/>
                </a:solidFill>
                <a:ea typeface="+mj-lt"/>
                <a:cs typeface="+mj-lt"/>
                <a:hlinkClick r:id="rId101"/>
              </a:rPr>
              <a:t>[40]</a:t>
            </a:r>
            <a:r>
              <a:rPr lang="en" sz="1200" dirty="0">
                <a:solidFill>
                  <a:srgbClr val="202122"/>
                </a:solidFill>
                <a:ea typeface="+mj-lt"/>
                <a:cs typeface="+mj-lt"/>
              </a:rPr>
              <a:t> </a:t>
            </a:r>
            <a:r>
              <a:rPr lang="en" sz="1200">
                <a:solidFill>
                  <a:srgbClr val="202122"/>
                </a:solidFill>
                <a:ea typeface="+mj-lt"/>
                <a:cs typeface="+mj-lt"/>
              </a:rPr>
              <a:t>According to </a:t>
            </a:r>
            <a:r>
              <a:rPr lang="en" sz="1200" i="1" dirty="0">
                <a:solidFill>
                  <a:srgbClr val="3366CC"/>
                </a:solidFill>
                <a:ea typeface="+mj-lt"/>
                <a:cs typeface="+mj-lt"/>
                <a:hlinkClick r:id="rId102"/>
              </a:rPr>
              <a:t>Padma Purana</a:t>
            </a:r>
            <a:r>
              <a:rPr lang="en" sz="1200">
                <a:solidFill>
                  <a:srgbClr val="202122"/>
                </a:solidFill>
                <a:ea typeface="+mj-lt"/>
                <a:cs typeface="+mj-lt"/>
              </a:rPr>
              <a:t>, Rama also appeared in the 27th </a:t>
            </a:r>
            <a:r>
              <a:rPr lang="en" sz="1200" i="1">
                <a:solidFill>
                  <a:srgbClr val="202122"/>
                </a:solidFill>
                <a:ea typeface="+mj-lt"/>
                <a:cs typeface="+mj-lt"/>
              </a:rPr>
              <a:t>Yuga</a:t>
            </a:r>
            <a:r>
              <a:rPr lang="en" sz="1200">
                <a:solidFill>
                  <a:srgbClr val="202122"/>
                </a:solidFill>
                <a:ea typeface="+mj-lt"/>
                <a:cs typeface="+mj-lt"/>
              </a:rPr>
              <a:t> Cycle of the 6th (previous) </a:t>
            </a:r>
            <a:r>
              <a:rPr lang="en" sz="1200" i="1" dirty="0">
                <a:solidFill>
                  <a:srgbClr val="3366CC"/>
                </a:solidFill>
                <a:ea typeface="+mj-lt"/>
                <a:cs typeface="+mj-lt"/>
                <a:hlinkClick r:id="rId20"/>
              </a:rPr>
              <a:t>manvantara</a:t>
            </a:r>
            <a:r>
              <a:rPr lang="en" sz="1200" dirty="0">
                <a:solidFill>
                  <a:srgbClr val="202122"/>
                </a:solidFill>
                <a:ea typeface="+mj-lt"/>
                <a:cs typeface="+mj-lt"/>
              </a:rPr>
              <a:t>.</a:t>
            </a:r>
            <a:r>
              <a:rPr lang="en" sz="1000" baseline="30000" dirty="0">
                <a:solidFill>
                  <a:srgbClr val="3366CC"/>
                </a:solidFill>
                <a:ea typeface="+mj-lt"/>
                <a:cs typeface="+mj-lt"/>
                <a:hlinkClick r:id="rId103"/>
              </a:rPr>
              <a:t>[41]</a:t>
            </a:r>
            <a:endParaRPr lang="en-US">
              <a:ea typeface="+mj-lt"/>
              <a:cs typeface="+mj-lt"/>
            </a:endParaRPr>
          </a:p>
          <a:p>
            <a:r>
              <a:rPr lang="en-US" b="1"/>
              <a:t>Vyasa</a:t>
            </a:r>
            <a:endParaRPr lang="en-US"/>
          </a:p>
          <a:p>
            <a:r>
              <a:rPr lang="en" sz="1200" dirty="0">
                <a:solidFill>
                  <a:srgbClr val="3366CC"/>
                </a:solidFill>
                <a:ea typeface="+mj-lt"/>
                <a:cs typeface="+mj-lt"/>
                <a:hlinkClick r:id="rId104"/>
              </a:rPr>
              <a:t>Vyasa</a:t>
            </a:r>
            <a:r>
              <a:rPr lang="en" sz="1200" dirty="0">
                <a:solidFill>
                  <a:srgbClr val="202122"/>
                </a:solidFill>
                <a:ea typeface="+mj-lt"/>
                <a:cs typeface="+mj-lt"/>
              </a:rPr>
              <a:t> </a:t>
            </a:r>
            <a:r>
              <a:rPr lang="en" sz="1200">
                <a:solidFill>
                  <a:srgbClr val="202122"/>
                </a:solidFill>
                <a:ea typeface="+mj-lt"/>
                <a:cs typeface="+mj-lt"/>
              </a:rPr>
              <a:t>is attributed as the compiler of the four </a:t>
            </a:r>
            <a:r>
              <a:rPr lang="en" sz="1200" dirty="0">
                <a:solidFill>
                  <a:srgbClr val="3366CC"/>
                </a:solidFill>
                <a:ea typeface="+mj-lt"/>
                <a:cs typeface="+mj-lt"/>
                <a:hlinkClick r:id="rId46"/>
              </a:rPr>
              <a:t>Vedas</a:t>
            </a:r>
            <a:r>
              <a:rPr lang="en" sz="1200" dirty="0">
                <a:solidFill>
                  <a:srgbClr val="202122"/>
                </a:solidFill>
                <a:ea typeface="+mj-lt"/>
                <a:cs typeface="+mj-lt"/>
              </a:rPr>
              <a:t>, </a:t>
            </a:r>
            <a:r>
              <a:rPr lang="en" sz="1200" i="1" dirty="0">
                <a:solidFill>
                  <a:srgbClr val="3366CC"/>
                </a:solidFill>
                <a:ea typeface="+mj-lt"/>
                <a:cs typeface="+mj-lt"/>
                <a:hlinkClick r:id="rId52"/>
              </a:rPr>
              <a:t>Mahabharata</a:t>
            </a:r>
            <a:r>
              <a:rPr lang="en" sz="1200">
                <a:solidFill>
                  <a:srgbClr val="202122"/>
                </a:solidFill>
                <a:ea typeface="+mj-lt"/>
                <a:cs typeface="+mj-lt"/>
              </a:rPr>
              <a:t>, and </a:t>
            </a:r>
            <a:r>
              <a:rPr lang="en" sz="1200" dirty="0">
                <a:solidFill>
                  <a:srgbClr val="3366CC"/>
                </a:solidFill>
                <a:ea typeface="+mj-lt"/>
                <a:cs typeface="+mj-lt"/>
                <a:hlinkClick r:id="rId53"/>
              </a:rPr>
              <a:t>Puranas</a:t>
            </a:r>
            <a:r>
              <a:rPr lang="en" sz="1200">
                <a:solidFill>
                  <a:srgbClr val="202122"/>
                </a:solidFill>
                <a:ea typeface="+mj-lt"/>
                <a:cs typeface="+mj-lt"/>
              </a:rPr>
              <a:t>. According to the </a:t>
            </a:r>
            <a:r>
              <a:rPr lang="en" sz="1200" i="1" dirty="0">
                <a:solidFill>
                  <a:srgbClr val="3366CC"/>
                </a:solidFill>
                <a:ea typeface="+mj-lt"/>
                <a:cs typeface="+mj-lt"/>
                <a:hlinkClick r:id="rId105"/>
              </a:rPr>
              <a:t>Vishnu Purana</a:t>
            </a:r>
            <a:r>
              <a:rPr lang="en" sz="1200" dirty="0">
                <a:solidFill>
                  <a:srgbClr val="202122"/>
                </a:solidFill>
                <a:ea typeface="+mj-lt"/>
                <a:cs typeface="+mj-lt"/>
              </a:rPr>
              <a:t>, </a:t>
            </a:r>
            <a:r>
              <a:rPr lang="en" sz="1200" i="1" dirty="0">
                <a:solidFill>
                  <a:srgbClr val="3366CC"/>
                </a:solidFill>
                <a:ea typeface="+mj-lt"/>
                <a:cs typeface="+mj-lt"/>
                <a:hlinkClick r:id="rId106"/>
              </a:rPr>
              <a:t>Kurma Purana</a:t>
            </a:r>
            <a:r>
              <a:rPr lang="en" sz="1200">
                <a:solidFill>
                  <a:srgbClr val="202122"/>
                </a:solidFill>
                <a:ea typeface="+mj-lt"/>
                <a:cs typeface="+mj-lt"/>
              </a:rPr>
              <a:t>, and </a:t>
            </a:r>
            <a:r>
              <a:rPr lang="en" sz="1200" i="1" dirty="0">
                <a:solidFill>
                  <a:srgbClr val="3366CC"/>
                </a:solidFill>
                <a:ea typeface="+mj-lt"/>
                <a:cs typeface="+mj-lt"/>
                <a:hlinkClick r:id="rId107"/>
              </a:rPr>
              <a:t>Shiva Purana</a:t>
            </a:r>
            <a:r>
              <a:rPr lang="en" sz="1200">
                <a:solidFill>
                  <a:srgbClr val="202122"/>
                </a:solidFill>
                <a:ea typeface="+mj-lt"/>
                <a:cs typeface="+mj-lt"/>
              </a:rPr>
              <a:t>, a different Vyasa comes at the end of each </a:t>
            </a:r>
            <a:r>
              <a:rPr lang="en" sz="1200" i="1" dirty="0">
                <a:solidFill>
                  <a:srgbClr val="3366CC"/>
                </a:solidFill>
                <a:ea typeface="+mj-lt"/>
                <a:cs typeface="+mj-lt"/>
                <a:hlinkClick r:id="rId12"/>
              </a:rPr>
              <a:t>Dvapara Yuga</a:t>
            </a:r>
            <a:r>
              <a:rPr lang="en" sz="1200" dirty="0">
                <a:solidFill>
                  <a:srgbClr val="202122"/>
                </a:solidFill>
                <a:ea typeface="+mj-lt"/>
                <a:cs typeface="+mj-lt"/>
              </a:rPr>
              <a:t> </a:t>
            </a:r>
            <a:r>
              <a:rPr lang="en" sz="1200">
                <a:solidFill>
                  <a:srgbClr val="202122"/>
                </a:solidFill>
                <a:ea typeface="+mj-lt"/>
                <a:cs typeface="+mj-lt"/>
              </a:rPr>
              <a:t>to write down </a:t>
            </a:r>
            <a:r>
              <a:rPr lang="en" sz="1200" i="1" dirty="0">
                <a:solidFill>
                  <a:srgbClr val="3366CC"/>
                </a:solidFill>
                <a:ea typeface="+mj-lt"/>
                <a:cs typeface="+mj-lt"/>
                <a:hlinkClick r:id="rId46"/>
              </a:rPr>
              <a:t>veda</a:t>
            </a:r>
            <a:r>
              <a:rPr lang="en" sz="1200" dirty="0">
                <a:solidFill>
                  <a:srgbClr val="202122"/>
                </a:solidFill>
                <a:ea typeface="+mj-lt"/>
                <a:cs typeface="+mj-lt"/>
              </a:rPr>
              <a:t> </a:t>
            </a:r>
            <a:r>
              <a:rPr lang="en" sz="1200">
                <a:solidFill>
                  <a:srgbClr val="202122"/>
                </a:solidFill>
                <a:ea typeface="+mj-lt"/>
                <a:cs typeface="+mj-lt"/>
              </a:rPr>
              <a:t>(knowledge) to guide humans in the degraded age of </a:t>
            </a:r>
            <a:r>
              <a:rPr lang="en" sz="1200" i="1" dirty="0">
                <a:solidFill>
                  <a:srgbClr val="3366CC"/>
                </a:solidFill>
                <a:ea typeface="+mj-lt"/>
                <a:cs typeface="+mj-lt"/>
                <a:hlinkClick r:id="rId13"/>
              </a:rPr>
              <a:t>Kali Yuga</a:t>
            </a:r>
            <a:r>
              <a:rPr lang="en" sz="1200" dirty="0">
                <a:solidFill>
                  <a:srgbClr val="202122"/>
                </a:solidFill>
                <a:ea typeface="+mj-lt"/>
                <a:cs typeface="+mj-lt"/>
              </a:rPr>
              <a:t>.</a:t>
            </a:r>
            <a:r>
              <a:rPr lang="en" sz="1000" baseline="30000" dirty="0">
                <a:solidFill>
                  <a:srgbClr val="3366CC"/>
                </a:solidFill>
                <a:ea typeface="+mj-lt"/>
                <a:cs typeface="+mj-lt"/>
                <a:hlinkClick r:id="rId108"/>
              </a:rPr>
              <a:t>[42]</a:t>
            </a:r>
            <a:r>
              <a:rPr lang="en" sz="1000" baseline="30000" dirty="0">
                <a:solidFill>
                  <a:srgbClr val="3366CC"/>
                </a:solidFill>
                <a:ea typeface="+mj-lt"/>
                <a:cs typeface="+mj-lt"/>
                <a:hlinkClick r:id="rId109"/>
              </a:rPr>
              <a:t>[43]</a:t>
            </a:r>
            <a:r>
              <a:rPr lang="en" sz="1000" baseline="30000" dirty="0">
                <a:solidFill>
                  <a:srgbClr val="3366CC"/>
                </a:solidFill>
                <a:ea typeface="+mj-lt"/>
                <a:cs typeface="+mj-lt"/>
                <a:hlinkClick r:id="rId110"/>
              </a:rPr>
              <a:t>[44]</a:t>
            </a:r>
            <a:endParaRPr lang="en-US">
              <a:ea typeface="+mj-lt"/>
              <a:cs typeface="+mj-lt"/>
            </a:endParaRPr>
          </a:p>
          <a:p>
            <a:r>
              <a:rPr lang="en-US"/>
              <a:t>Modern theories</a:t>
            </a:r>
          </a:p>
          <a:p>
            <a:r>
              <a:rPr lang="en" sz="1200">
                <a:solidFill>
                  <a:srgbClr val="202122"/>
                </a:solidFill>
                <a:ea typeface="+mj-lt"/>
                <a:cs typeface="+mj-lt"/>
              </a:rPr>
              <a:t>Breaking from the long duration of a </a:t>
            </a:r>
            <a:r>
              <a:rPr lang="en" sz="1200" i="1">
                <a:solidFill>
                  <a:srgbClr val="202122"/>
                </a:solidFill>
                <a:ea typeface="+mj-lt"/>
                <a:cs typeface="+mj-lt"/>
              </a:rPr>
              <a:t>Yuga</a:t>
            </a:r>
            <a:r>
              <a:rPr lang="en" sz="1200">
                <a:solidFill>
                  <a:srgbClr val="202122"/>
                </a:solidFill>
                <a:ea typeface="+mj-lt"/>
                <a:cs typeface="+mj-lt"/>
              </a:rPr>
              <a:t> Cycle, new theories have emerged regarding the length, number, and order of the </a:t>
            </a:r>
            <a:r>
              <a:rPr lang="en" sz="1200" i="1">
                <a:solidFill>
                  <a:srgbClr val="202122"/>
                </a:solidFill>
                <a:ea typeface="+mj-lt"/>
                <a:cs typeface="+mj-lt"/>
              </a:rPr>
              <a:t>yugas</a:t>
            </a:r>
            <a:r>
              <a:rPr lang="en" sz="1200">
                <a:solidFill>
                  <a:srgbClr val="202122"/>
                </a:solidFill>
                <a:ea typeface="+mj-lt"/>
                <a:cs typeface="+mj-lt"/>
              </a:rPr>
              <a:t>.</a:t>
            </a:r>
            <a:endParaRPr lang="en-US"/>
          </a:p>
          <a:p>
            <a:r>
              <a:rPr lang="en-US" b="1"/>
              <a:t>Sri Yukteswar Giri</a:t>
            </a:r>
            <a:endParaRPr lang="en-US"/>
          </a:p>
          <a:p>
            <a:r>
              <a:rPr lang="en" sz="1200" i="1">
                <a:solidFill>
                  <a:srgbClr val="202122"/>
                </a:solidFill>
                <a:ea typeface="+mj-lt"/>
                <a:cs typeface="+mj-lt"/>
              </a:rPr>
              <a:t>See also: </a:t>
            </a:r>
            <a:r>
              <a:rPr lang="en" sz="1200" i="1" dirty="0">
                <a:solidFill>
                  <a:srgbClr val="3366CC"/>
                </a:solidFill>
                <a:ea typeface="+mj-lt"/>
                <a:cs typeface="+mj-lt"/>
                <a:hlinkClick r:id="rId111"/>
              </a:rPr>
              <a:t>The Holy Science § Yuga theory</a:t>
            </a:r>
            <a:endParaRPr lang="en-US"/>
          </a:p>
          <a:p>
            <a:r>
              <a:rPr lang="en" sz="1200" dirty="0">
                <a:solidFill>
                  <a:srgbClr val="3366CC"/>
                </a:solidFill>
                <a:ea typeface="+mj-lt"/>
                <a:cs typeface="+mj-lt"/>
                <a:hlinkClick r:id="rId112"/>
              </a:rPr>
              <a:t>Swami Sri Yukteswar Giri</a:t>
            </a:r>
            <a:r>
              <a:rPr lang="en" sz="1200" dirty="0">
                <a:solidFill>
                  <a:srgbClr val="202122"/>
                </a:solidFill>
                <a:ea typeface="+mj-lt"/>
                <a:cs typeface="+mj-lt"/>
              </a:rPr>
              <a:t> </a:t>
            </a:r>
            <a:r>
              <a:rPr lang="en" sz="1200">
                <a:solidFill>
                  <a:srgbClr val="202122"/>
                </a:solidFill>
                <a:ea typeface="+mj-lt"/>
                <a:cs typeface="+mj-lt"/>
              </a:rPr>
              <a:t>(1855–1936) proposed a </a:t>
            </a:r>
            <a:r>
              <a:rPr lang="en" sz="1200" i="1">
                <a:solidFill>
                  <a:srgbClr val="202122"/>
                </a:solidFill>
                <a:ea typeface="+mj-lt"/>
                <a:cs typeface="+mj-lt"/>
              </a:rPr>
              <a:t>Yuga</a:t>
            </a:r>
            <a:r>
              <a:rPr lang="en" sz="1200">
                <a:solidFill>
                  <a:srgbClr val="202122"/>
                </a:solidFill>
                <a:ea typeface="+mj-lt"/>
                <a:cs typeface="+mj-lt"/>
              </a:rPr>
              <a:t> Cycle of 24,000 years in the introduction of his book </a:t>
            </a:r>
            <a:r>
              <a:rPr lang="en" sz="1200" i="1" dirty="0">
                <a:solidFill>
                  <a:srgbClr val="3366CC"/>
                </a:solidFill>
                <a:ea typeface="+mj-lt"/>
                <a:cs typeface="+mj-lt"/>
                <a:hlinkClick r:id="rId113"/>
              </a:rPr>
              <a:t>The Holy Science</a:t>
            </a:r>
            <a:r>
              <a:rPr lang="en" sz="1200" dirty="0">
                <a:solidFill>
                  <a:srgbClr val="202122"/>
                </a:solidFill>
                <a:ea typeface="+mj-lt"/>
                <a:cs typeface="+mj-lt"/>
              </a:rPr>
              <a:t> </a:t>
            </a:r>
            <a:r>
              <a:rPr lang="en" sz="1200">
                <a:solidFill>
                  <a:srgbClr val="202122"/>
                </a:solidFill>
                <a:ea typeface="+mj-lt"/>
                <a:cs typeface="+mj-lt"/>
              </a:rPr>
              <a:t>(1894).</a:t>
            </a:r>
            <a:r>
              <a:rPr lang="en" sz="1000" baseline="30000" dirty="0">
                <a:solidFill>
                  <a:srgbClr val="3366CC"/>
                </a:solidFill>
                <a:ea typeface="+mj-lt"/>
                <a:cs typeface="+mj-lt"/>
                <a:hlinkClick r:id="rId114"/>
              </a:rPr>
              <a:t>[45]</a:t>
            </a:r>
            <a:endParaRPr lang="en-US">
              <a:ea typeface="+mj-lt"/>
              <a:cs typeface="+mj-lt"/>
            </a:endParaRPr>
          </a:p>
          <a:p>
            <a:r>
              <a:rPr lang="en" sz="1200">
                <a:solidFill>
                  <a:srgbClr val="202122"/>
                </a:solidFill>
                <a:ea typeface="+mj-lt"/>
                <a:cs typeface="+mj-lt"/>
              </a:rPr>
              <a:t>He claimed the understanding that </a:t>
            </a:r>
            <a:r>
              <a:rPr lang="en" sz="1200" i="1">
                <a:solidFill>
                  <a:srgbClr val="202122"/>
                </a:solidFill>
                <a:ea typeface="+mj-lt"/>
                <a:cs typeface="+mj-lt"/>
              </a:rPr>
              <a:t>Kali Yuga</a:t>
            </a:r>
            <a:r>
              <a:rPr lang="en" sz="1200">
                <a:solidFill>
                  <a:srgbClr val="202122"/>
                </a:solidFill>
                <a:ea typeface="+mj-lt"/>
                <a:cs typeface="+mj-lt"/>
              </a:rPr>
              <a:t> lasts for 432,000 years was a mistake, which he traced back to </a:t>
            </a:r>
            <a:r>
              <a:rPr lang="en" sz="1200" dirty="0">
                <a:solidFill>
                  <a:srgbClr val="3366CC"/>
                </a:solidFill>
                <a:ea typeface="+mj-lt"/>
                <a:cs typeface="+mj-lt"/>
                <a:hlinkClick r:id="rId115"/>
              </a:rPr>
              <a:t>Raja Parikshit</a:t>
            </a:r>
            <a:r>
              <a:rPr lang="en" sz="1200">
                <a:solidFill>
                  <a:srgbClr val="202122"/>
                </a:solidFill>
                <a:ea typeface="+mj-lt"/>
                <a:cs typeface="+mj-lt"/>
              </a:rPr>
              <a:t>, just after the descending </a:t>
            </a:r>
            <a:r>
              <a:rPr lang="en" sz="1200" i="1">
                <a:solidFill>
                  <a:srgbClr val="202122"/>
                </a:solidFill>
                <a:ea typeface="+mj-lt"/>
                <a:cs typeface="+mj-lt"/>
              </a:rPr>
              <a:t>Dvapara Yuga</a:t>
            </a:r>
            <a:r>
              <a:rPr lang="en" sz="1200">
                <a:solidFill>
                  <a:srgbClr val="202122"/>
                </a:solidFill>
                <a:ea typeface="+mj-lt"/>
                <a:cs typeface="+mj-lt"/>
              </a:rPr>
              <a:t> ended (</a:t>
            </a:r>
            <a:r>
              <a:rPr lang="en" sz="1200" u="sng">
                <a:solidFill>
                  <a:srgbClr val="202122"/>
                </a:solidFill>
                <a:ea typeface="+mj-lt"/>
                <a:cs typeface="+mj-lt"/>
              </a:rPr>
              <a:t>c.</a:t>
            </a:r>
            <a:r>
              <a:rPr lang="en" sz="1200">
                <a:solidFill>
                  <a:srgbClr val="202122"/>
                </a:solidFill>
                <a:ea typeface="+mj-lt"/>
                <a:cs typeface="+mj-lt"/>
              </a:rPr>
              <a:t> 3101 BCE) and all the wise men of his court retired to the Himalaya Mountains. With no one left to correctly calculate the ages, </a:t>
            </a:r>
            <a:r>
              <a:rPr lang="en" sz="1200" i="1">
                <a:solidFill>
                  <a:srgbClr val="202122"/>
                </a:solidFill>
                <a:ea typeface="+mj-lt"/>
                <a:cs typeface="+mj-lt"/>
              </a:rPr>
              <a:t>Kali Yuga</a:t>
            </a:r>
            <a:r>
              <a:rPr lang="en" sz="1200">
                <a:solidFill>
                  <a:srgbClr val="202122"/>
                </a:solidFill>
                <a:ea typeface="+mj-lt"/>
                <a:cs typeface="+mj-lt"/>
              </a:rPr>
              <a:t> never officially started. After 499 CE, in ascending </a:t>
            </a:r>
            <a:r>
              <a:rPr lang="en" sz="1200" i="1">
                <a:solidFill>
                  <a:srgbClr val="202122"/>
                </a:solidFill>
                <a:ea typeface="+mj-lt"/>
                <a:cs typeface="+mj-lt"/>
              </a:rPr>
              <a:t>Dvapara Yuga</a:t>
            </a:r>
            <a:r>
              <a:rPr lang="en" sz="1200">
                <a:solidFill>
                  <a:srgbClr val="202122"/>
                </a:solidFill>
                <a:ea typeface="+mj-lt"/>
                <a:cs typeface="+mj-lt"/>
              </a:rPr>
              <a:t>, when the intellect of men began to develop, but not fully, they noticed mistakes and attempted to correct them by converting what they thought to be divine years to human years (1:360 ratio). Yukteswar's </a:t>
            </a:r>
            <a:r>
              <a:rPr lang="en" sz="1200" i="1">
                <a:solidFill>
                  <a:srgbClr val="202122"/>
                </a:solidFill>
                <a:ea typeface="+mj-lt"/>
                <a:cs typeface="+mj-lt"/>
              </a:rPr>
              <a:t>yuga</a:t>
            </a:r>
            <a:r>
              <a:rPr lang="en" sz="1200">
                <a:solidFill>
                  <a:srgbClr val="202122"/>
                </a:solidFill>
                <a:ea typeface="+mj-lt"/>
                <a:cs typeface="+mj-lt"/>
              </a:rPr>
              <a:t> lengths for </a:t>
            </a:r>
            <a:r>
              <a:rPr lang="en" sz="1200" i="1">
                <a:solidFill>
                  <a:srgbClr val="202122"/>
                </a:solidFill>
                <a:ea typeface="+mj-lt"/>
                <a:cs typeface="+mj-lt"/>
              </a:rPr>
              <a:t>Satya</a:t>
            </a:r>
            <a:r>
              <a:rPr lang="en" sz="1200">
                <a:solidFill>
                  <a:srgbClr val="202122"/>
                </a:solidFill>
                <a:ea typeface="+mj-lt"/>
                <a:cs typeface="+mj-lt"/>
              </a:rPr>
              <a:t>, </a:t>
            </a:r>
            <a:r>
              <a:rPr lang="en" sz="1200" i="1">
                <a:solidFill>
                  <a:srgbClr val="202122"/>
                </a:solidFill>
                <a:ea typeface="+mj-lt"/>
                <a:cs typeface="+mj-lt"/>
              </a:rPr>
              <a:t>Treta</a:t>
            </a:r>
            <a:r>
              <a:rPr lang="en" sz="1200">
                <a:solidFill>
                  <a:srgbClr val="202122"/>
                </a:solidFill>
                <a:ea typeface="+mj-lt"/>
                <a:cs typeface="+mj-lt"/>
              </a:rPr>
              <a:t>, </a:t>
            </a:r>
            <a:r>
              <a:rPr lang="en" sz="1200" i="1">
                <a:solidFill>
                  <a:srgbClr val="202122"/>
                </a:solidFill>
                <a:ea typeface="+mj-lt"/>
                <a:cs typeface="+mj-lt"/>
              </a:rPr>
              <a:t>Dvapara</a:t>
            </a:r>
            <a:r>
              <a:rPr lang="en" sz="1200">
                <a:solidFill>
                  <a:srgbClr val="202122"/>
                </a:solidFill>
                <a:ea typeface="+mj-lt"/>
                <a:cs typeface="+mj-lt"/>
              </a:rPr>
              <a:t>, and </a:t>
            </a:r>
            <a:r>
              <a:rPr lang="en" sz="1200" i="1">
                <a:solidFill>
                  <a:srgbClr val="202122"/>
                </a:solidFill>
                <a:ea typeface="+mj-lt"/>
                <a:cs typeface="+mj-lt"/>
              </a:rPr>
              <a:t>Kali</a:t>
            </a:r>
            <a:r>
              <a:rPr lang="en" sz="1200">
                <a:solidFill>
                  <a:srgbClr val="202122"/>
                </a:solidFill>
                <a:ea typeface="+mj-lt"/>
                <a:cs typeface="+mj-lt"/>
              </a:rPr>
              <a:t> are respectively 4,800, 3,600, 2,400, and 1,200 "human" years (12,000 years total).</a:t>
            </a:r>
            <a:r>
              <a:rPr lang="en" sz="1000" baseline="30000" dirty="0">
                <a:solidFill>
                  <a:srgbClr val="3366CC"/>
                </a:solidFill>
                <a:ea typeface="+mj-lt"/>
                <a:cs typeface="+mj-lt"/>
                <a:hlinkClick r:id="rId116"/>
              </a:rPr>
              <a:t>[46]</a:t>
            </a:r>
            <a:r>
              <a:rPr lang="en" sz="1000" baseline="30000" dirty="0">
                <a:solidFill>
                  <a:srgbClr val="3366CC"/>
                </a:solidFill>
                <a:ea typeface="+mj-lt"/>
                <a:cs typeface="+mj-lt"/>
                <a:hlinkClick r:id="rId117"/>
              </a:rPr>
              <a:t>[47]</a:t>
            </a:r>
            <a:endParaRPr lang="en-US">
              <a:ea typeface="+mj-lt"/>
              <a:cs typeface="+mj-lt"/>
            </a:endParaRPr>
          </a:p>
          <a:p>
            <a:r>
              <a:rPr lang="en" sz="1200">
                <a:solidFill>
                  <a:srgbClr val="202122"/>
                </a:solidFill>
                <a:ea typeface="+mj-lt"/>
                <a:cs typeface="+mj-lt"/>
              </a:rPr>
              <a:t>He accepted the four </a:t>
            </a:r>
            <a:r>
              <a:rPr lang="en" sz="1200" i="1">
                <a:solidFill>
                  <a:srgbClr val="202122"/>
                </a:solidFill>
                <a:ea typeface="+mj-lt"/>
                <a:cs typeface="+mj-lt"/>
              </a:rPr>
              <a:t>yugas</a:t>
            </a:r>
            <a:r>
              <a:rPr lang="en" sz="1200">
                <a:solidFill>
                  <a:srgbClr val="202122"/>
                </a:solidFill>
                <a:ea typeface="+mj-lt"/>
                <a:cs typeface="+mj-lt"/>
              </a:rPr>
              <a:t> and their 4:3:2:1 length and </a:t>
            </a:r>
            <a:r>
              <a:rPr lang="en" sz="1200" i="1">
                <a:solidFill>
                  <a:srgbClr val="202122"/>
                </a:solidFill>
                <a:ea typeface="+mj-lt"/>
                <a:cs typeface="+mj-lt"/>
              </a:rPr>
              <a:t>dharma</a:t>
            </a:r>
            <a:r>
              <a:rPr lang="en" sz="1200">
                <a:solidFill>
                  <a:srgbClr val="202122"/>
                </a:solidFill>
                <a:ea typeface="+mj-lt"/>
                <a:cs typeface="+mj-lt"/>
              </a:rPr>
              <a:t> proportions, but his </a:t>
            </a:r>
            <a:r>
              <a:rPr lang="en" sz="1200" i="1">
                <a:solidFill>
                  <a:srgbClr val="202122"/>
                </a:solidFill>
                <a:ea typeface="+mj-lt"/>
                <a:cs typeface="+mj-lt"/>
              </a:rPr>
              <a:t>Yuga</a:t>
            </a:r>
            <a:r>
              <a:rPr lang="en" sz="1200">
                <a:solidFill>
                  <a:srgbClr val="202122"/>
                </a:solidFill>
                <a:ea typeface="+mj-lt"/>
                <a:cs typeface="+mj-lt"/>
              </a:rPr>
              <a:t> Cycle contained eight </a:t>
            </a:r>
            <a:r>
              <a:rPr lang="en" sz="1200" i="1">
                <a:solidFill>
                  <a:srgbClr val="202122"/>
                </a:solidFill>
                <a:ea typeface="+mj-lt"/>
                <a:cs typeface="+mj-lt"/>
              </a:rPr>
              <a:t>yugas</a:t>
            </a:r>
            <a:r>
              <a:rPr lang="en" sz="1200">
                <a:solidFill>
                  <a:srgbClr val="202122"/>
                </a:solidFill>
                <a:ea typeface="+mj-lt"/>
                <a:cs typeface="+mj-lt"/>
              </a:rPr>
              <a:t>, the original descending set of the four </a:t>
            </a:r>
            <a:r>
              <a:rPr lang="en" sz="1200" i="1">
                <a:solidFill>
                  <a:srgbClr val="202122"/>
                </a:solidFill>
                <a:ea typeface="+mj-lt"/>
                <a:cs typeface="+mj-lt"/>
              </a:rPr>
              <a:t>yugas</a:t>
            </a:r>
            <a:r>
              <a:rPr lang="en" sz="1200">
                <a:solidFill>
                  <a:srgbClr val="202122"/>
                </a:solidFill>
                <a:ea typeface="+mj-lt"/>
                <a:cs typeface="+mj-lt"/>
              </a:rPr>
              <a:t> followed by an ascending (reversed) set, where he called each set a "</a:t>
            </a:r>
            <a:r>
              <a:rPr lang="en" sz="1200" i="1">
                <a:solidFill>
                  <a:srgbClr val="202122"/>
                </a:solidFill>
                <a:ea typeface="+mj-lt"/>
                <a:cs typeface="+mj-lt"/>
              </a:rPr>
              <a:t>Daiva Yuga</a:t>
            </a:r>
            <a:r>
              <a:rPr lang="en" sz="1200">
                <a:solidFill>
                  <a:srgbClr val="202122"/>
                </a:solidFill>
                <a:ea typeface="+mj-lt"/>
                <a:cs typeface="+mj-lt"/>
              </a:rPr>
              <a:t>" or "Electric Couple". His </a:t>
            </a:r>
            <a:r>
              <a:rPr lang="en" sz="1200" i="1">
                <a:solidFill>
                  <a:srgbClr val="202122"/>
                </a:solidFill>
                <a:ea typeface="+mj-lt"/>
                <a:cs typeface="+mj-lt"/>
              </a:rPr>
              <a:t>Yuga</a:t>
            </a:r>
            <a:r>
              <a:rPr lang="en" sz="1200">
                <a:solidFill>
                  <a:srgbClr val="202122"/>
                </a:solidFill>
                <a:ea typeface="+mj-lt"/>
                <a:cs typeface="+mj-lt"/>
              </a:rPr>
              <a:t> Cycle lasts for 24,000 years, which he believed equals one </a:t>
            </a:r>
            <a:r>
              <a:rPr lang="en" sz="1200" dirty="0">
                <a:solidFill>
                  <a:srgbClr val="3366CC"/>
                </a:solidFill>
                <a:ea typeface="+mj-lt"/>
                <a:cs typeface="+mj-lt"/>
                <a:hlinkClick r:id="rId118"/>
              </a:rPr>
              <a:t>precession of the equinoxes</a:t>
            </a:r>
            <a:r>
              <a:rPr lang="en" sz="1200" dirty="0">
                <a:solidFill>
                  <a:srgbClr val="202122"/>
                </a:solidFill>
                <a:ea typeface="+mj-lt"/>
                <a:cs typeface="+mj-lt"/>
              </a:rPr>
              <a:t> </a:t>
            </a:r>
            <a:r>
              <a:rPr lang="en" sz="1200">
                <a:solidFill>
                  <a:srgbClr val="202122"/>
                </a:solidFill>
                <a:ea typeface="+mj-lt"/>
                <a:cs typeface="+mj-lt"/>
              </a:rPr>
              <a:t>(traditionally 25,920 years; 1,920 years difference). He states that the world entered the </a:t>
            </a:r>
            <a:r>
              <a:rPr lang="en" sz="1200" dirty="0">
                <a:solidFill>
                  <a:srgbClr val="3366CC"/>
                </a:solidFill>
                <a:ea typeface="+mj-lt"/>
                <a:cs typeface="+mj-lt"/>
                <a:hlinkClick r:id="rId119"/>
              </a:rPr>
              <a:t>Pisces-Virgo Age</a:t>
            </a:r>
            <a:r>
              <a:rPr lang="en" sz="1200" dirty="0">
                <a:solidFill>
                  <a:srgbClr val="202122"/>
                </a:solidFill>
                <a:ea typeface="+mj-lt"/>
                <a:cs typeface="+mj-lt"/>
              </a:rPr>
              <a:t> </a:t>
            </a:r>
            <a:r>
              <a:rPr lang="en" sz="1200">
                <a:solidFill>
                  <a:srgbClr val="202122"/>
                </a:solidFill>
                <a:ea typeface="+mj-lt"/>
                <a:cs typeface="+mj-lt"/>
              </a:rPr>
              <a:t>in 499 CE ("cycle bottom"), and that the current age of ascending </a:t>
            </a:r>
            <a:r>
              <a:rPr lang="en" sz="1200" i="1">
                <a:solidFill>
                  <a:srgbClr val="202122"/>
                </a:solidFill>
                <a:ea typeface="+mj-lt"/>
                <a:cs typeface="+mj-lt"/>
              </a:rPr>
              <a:t>Dvapara Yuga</a:t>
            </a:r>
            <a:r>
              <a:rPr lang="en" sz="1200">
                <a:solidFill>
                  <a:srgbClr val="202122"/>
                </a:solidFill>
                <a:ea typeface="+mj-lt"/>
                <a:cs typeface="+mj-lt"/>
              </a:rPr>
              <a:t> started in 1699 CE around the time of scientific discoveries and advancements such as electricity.</a:t>
            </a:r>
            <a:r>
              <a:rPr lang="en" sz="1000" baseline="30000" dirty="0">
                <a:solidFill>
                  <a:srgbClr val="3366CC"/>
                </a:solidFill>
                <a:ea typeface="+mj-lt"/>
                <a:cs typeface="+mj-lt"/>
                <a:hlinkClick r:id="rId120"/>
              </a:rPr>
              <a:t>[48]</a:t>
            </a:r>
            <a:r>
              <a:rPr lang="en" sz="1000" baseline="30000" dirty="0">
                <a:solidFill>
                  <a:srgbClr val="3366CC"/>
                </a:solidFill>
                <a:ea typeface="+mj-lt"/>
                <a:cs typeface="+mj-lt"/>
                <a:hlinkClick r:id="rId117"/>
              </a:rPr>
              <a:t>[47]</a:t>
            </a:r>
            <a:endParaRPr lang="en-US">
              <a:ea typeface="+mj-lt"/>
              <a:cs typeface="+mj-lt"/>
            </a:endParaRPr>
          </a:p>
          <a:p>
            <a:r>
              <a:rPr lang="en" sz="1200">
                <a:solidFill>
                  <a:srgbClr val="202122"/>
                </a:solidFill>
                <a:ea typeface="+mj-lt"/>
                <a:cs typeface="+mj-lt"/>
              </a:rPr>
              <a:t>He explained that in a 24,000-year </a:t>
            </a:r>
            <a:r>
              <a:rPr lang="en" sz="1200" i="1">
                <a:solidFill>
                  <a:srgbClr val="202122"/>
                </a:solidFill>
                <a:ea typeface="+mj-lt"/>
                <a:cs typeface="+mj-lt"/>
              </a:rPr>
              <a:t>Yuga</a:t>
            </a:r>
            <a:r>
              <a:rPr lang="en" sz="1200">
                <a:solidFill>
                  <a:srgbClr val="202122"/>
                </a:solidFill>
                <a:ea typeface="+mj-lt"/>
                <a:cs typeface="+mj-lt"/>
              </a:rPr>
              <a:t> Cycle, the Sun completes one orbit around some </a:t>
            </a:r>
            <a:r>
              <a:rPr lang="en" sz="1200" dirty="0">
                <a:solidFill>
                  <a:srgbClr val="3366CC"/>
                </a:solidFill>
                <a:ea typeface="+mj-lt"/>
                <a:cs typeface="+mj-lt"/>
                <a:hlinkClick r:id="rId121"/>
              </a:rPr>
              <a:t>dual star</a:t>
            </a:r>
            <a:r>
              <a:rPr lang="en" sz="1200">
                <a:solidFill>
                  <a:srgbClr val="202122"/>
                </a:solidFill>
                <a:ea typeface="+mj-lt"/>
                <a:cs typeface="+mj-lt"/>
              </a:rPr>
              <a:t>, becoming nearer and farther to a </a:t>
            </a:r>
            <a:r>
              <a:rPr lang="en" sz="1200" dirty="0">
                <a:solidFill>
                  <a:srgbClr val="3366CC"/>
                </a:solidFill>
                <a:ea typeface="+mj-lt"/>
                <a:cs typeface="+mj-lt"/>
                <a:hlinkClick r:id="rId122"/>
              </a:rPr>
              <a:t>galactic center</a:t>
            </a:r>
            <a:r>
              <a:rPr lang="en" sz="1200">
                <a:solidFill>
                  <a:srgbClr val="202122"/>
                </a:solidFill>
                <a:ea typeface="+mj-lt"/>
                <a:cs typeface="+mj-lt"/>
              </a:rPr>
              <a:t>, which the pair orbit in a longer period. He called this galactic center </a:t>
            </a:r>
            <a:r>
              <a:rPr lang="en" sz="1200" i="1" dirty="0">
                <a:solidFill>
                  <a:srgbClr val="3366CC"/>
                </a:solidFill>
                <a:ea typeface="+mj-lt"/>
                <a:cs typeface="+mj-lt"/>
                <a:hlinkClick r:id="rId123"/>
              </a:rPr>
              <a:t>Vishnunabhi</a:t>
            </a:r>
            <a:r>
              <a:rPr lang="en" sz="1200" dirty="0">
                <a:solidFill>
                  <a:srgbClr val="202122"/>
                </a:solidFill>
                <a:ea typeface="+mj-lt"/>
                <a:cs typeface="+mj-lt"/>
              </a:rPr>
              <a:t> </a:t>
            </a:r>
            <a:r>
              <a:rPr lang="en" sz="1200">
                <a:solidFill>
                  <a:srgbClr val="202122"/>
                </a:solidFill>
                <a:ea typeface="+mj-lt"/>
                <a:cs typeface="+mj-lt"/>
              </a:rPr>
              <a:t>(</a:t>
            </a:r>
            <a:r>
              <a:rPr lang="en" sz="1200" dirty="0">
                <a:solidFill>
                  <a:srgbClr val="3366CC"/>
                </a:solidFill>
                <a:ea typeface="+mj-lt"/>
                <a:cs typeface="+mj-lt"/>
                <a:hlinkClick r:id="rId124"/>
              </a:rPr>
              <a:t>Vishnu</a:t>
            </a:r>
            <a:r>
              <a:rPr lang="en" sz="1200">
                <a:solidFill>
                  <a:srgbClr val="202122"/>
                </a:solidFill>
                <a:ea typeface="+mj-lt"/>
                <a:cs typeface="+mj-lt"/>
              </a:rPr>
              <a:t>'s Navel), where </a:t>
            </a:r>
            <a:r>
              <a:rPr lang="en" sz="1200" dirty="0">
                <a:solidFill>
                  <a:srgbClr val="3366CC"/>
                </a:solidFill>
                <a:ea typeface="+mj-lt"/>
                <a:cs typeface="+mj-lt"/>
                <a:hlinkClick r:id="rId23"/>
              </a:rPr>
              <a:t>Brahma</a:t>
            </a:r>
            <a:r>
              <a:rPr lang="en" sz="1200" dirty="0">
                <a:solidFill>
                  <a:srgbClr val="202122"/>
                </a:solidFill>
                <a:ea typeface="+mj-lt"/>
                <a:cs typeface="+mj-lt"/>
              </a:rPr>
              <a:t> </a:t>
            </a:r>
            <a:r>
              <a:rPr lang="en" sz="1200">
                <a:solidFill>
                  <a:srgbClr val="202122"/>
                </a:solidFill>
                <a:ea typeface="+mj-lt"/>
                <a:cs typeface="+mj-lt"/>
              </a:rPr>
              <a:t>regulates </a:t>
            </a:r>
            <a:r>
              <a:rPr lang="en" sz="1200" i="1" dirty="0">
                <a:solidFill>
                  <a:srgbClr val="3366CC"/>
                </a:solidFill>
                <a:ea typeface="+mj-lt"/>
                <a:cs typeface="+mj-lt"/>
                <a:hlinkClick r:id="rId17"/>
              </a:rPr>
              <a:t>dharma</a:t>
            </a:r>
            <a:r>
              <a:rPr lang="en" sz="1200" dirty="0">
                <a:solidFill>
                  <a:srgbClr val="202122"/>
                </a:solidFill>
                <a:ea typeface="+mj-lt"/>
                <a:cs typeface="+mj-lt"/>
              </a:rPr>
              <a:t> </a:t>
            </a:r>
            <a:r>
              <a:rPr lang="en" sz="1200">
                <a:solidFill>
                  <a:srgbClr val="202122"/>
                </a:solidFill>
                <a:ea typeface="+mj-lt"/>
                <a:cs typeface="+mj-lt"/>
              </a:rPr>
              <a:t>or, as Yukteswar defined it, mental virtue. </a:t>
            </a:r>
            <a:r>
              <a:rPr lang="en" sz="1200" i="1">
                <a:solidFill>
                  <a:srgbClr val="202122"/>
                </a:solidFill>
                <a:ea typeface="+mj-lt"/>
                <a:cs typeface="+mj-lt"/>
              </a:rPr>
              <a:t>Dharma</a:t>
            </a:r>
            <a:r>
              <a:rPr lang="en" sz="1200">
                <a:solidFill>
                  <a:srgbClr val="202122"/>
                </a:solidFill>
                <a:ea typeface="+mj-lt"/>
                <a:cs typeface="+mj-lt"/>
              </a:rPr>
              <a:t> is lowest when farthest from Brahma at the descending-ascending intersection ("cycle-bottom"), where the opposite occurs at the "cycle-top" when nearest. At </a:t>
            </a:r>
            <a:r>
              <a:rPr lang="en" sz="1200" i="1">
                <a:solidFill>
                  <a:srgbClr val="202122"/>
                </a:solidFill>
                <a:ea typeface="+mj-lt"/>
                <a:cs typeface="+mj-lt"/>
              </a:rPr>
              <a:t>dharma's</a:t>
            </a:r>
            <a:r>
              <a:rPr lang="en" sz="1200">
                <a:solidFill>
                  <a:srgbClr val="202122"/>
                </a:solidFill>
                <a:ea typeface="+mj-lt"/>
                <a:cs typeface="+mj-lt"/>
              </a:rPr>
              <a:t> lowest (499 CE), human intellect cannot comprehend anything beyond the </a:t>
            </a:r>
            <a:r>
              <a:rPr lang="en" sz="1200" dirty="0">
                <a:solidFill>
                  <a:srgbClr val="3366CC"/>
                </a:solidFill>
                <a:ea typeface="+mj-lt"/>
                <a:cs typeface="+mj-lt"/>
                <a:hlinkClick r:id="rId125"/>
              </a:rPr>
              <a:t>gross material world</a:t>
            </a:r>
            <a:r>
              <a:rPr lang="en" sz="1200" dirty="0">
                <a:solidFill>
                  <a:srgbClr val="202122"/>
                </a:solidFill>
                <a:ea typeface="+mj-lt"/>
                <a:cs typeface="+mj-lt"/>
              </a:rPr>
              <a:t>.</a:t>
            </a:r>
            <a:r>
              <a:rPr lang="en" sz="1000" baseline="30000" dirty="0">
                <a:solidFill>
                  <a:srgbClr val="3366CC"/>
                </a:solidFill>
                <a:ea typeface="+mj-lt"/>
                <a:cs typeface="+mj-lt"/>
                <a:hlinkClick r:id="rId126"/>
              </a:rPr>
              <a:t>[49]</a:t>
            </a:r>
            <a:r>
              <a:rPr lang="en" sz="1000" baseline="30000" dirty="0">
                <a:solidFill>
                  <a:srgbClr val="3366CC"/>
                </a:solidFill>
                <a:ea typeface="+mj-lt"/>
                <a:cs typeface="+mj-lt"/>
                <a:hlinkClick r:id="rId127"/>
              </a:rPr>
              <a:t>[50]</a:t>
            </a:r>
            <a:endParaRPr lang="en-US">
              <a:ea typeface="+mj-lt"/>
              <a:cs typeface="+mj-lt"/>
            </a:endParaRPr>
          </a:p>
          <a:p>
            <a:pPr algn="l"/>
            <a:r>
              <a:rPr lang="en-US"/>
              <a:t>Sri Yukteswar's yuga cycle</a:t>
            </a:r>
          </a:p>
          <a:p>
            <a:r>
              <a:rPr lang="en-US" sz="1200" b="1" i="1">
                <a:solidFill>
                  <a:srgbClr val="202122"/>
                </a:solidFill>
              </a:rPr>
              <a:t>Yuga</a:t>
            </a:r>
            <a:endParaRPr lang="en-US"/>
          </a:p>
          <a:p>
            <a:r>
              <a:rPr lang="en-US" sz="1200" b="1">
                <a:solidFill>
                  <a:srgbClr val="202122"/>
                </a:solidFill>
              </a:rPr>
              <a:t>Start (– End)</a:t>
            </a:r>
            <a:endParaRPr lang="en-US"/>
          </a:p>
          <a:p>
            <a:r>
              <a:rPr lang="en-US" sz="1200" b="1">
                <a:solidFill>
                  <a:srgbClr val="202122"/>
                </a:solidFill>
              </a:rPr>
              <a:t>Length</a:t>
            </a:r>
            <a:endParaRPr lang="en-US"/>
          </a:p>
          <a:p>
            <a:pPr algn="l"/>
            <a:r>
              <a:rPr lang="en-US" sz="1200" b="1">
                <a:solidFill>
                  <a:srgbClr val="202122"/>
                </a:solidFill>
              </a:rPr>
              <a:t>Descending (12,000 years)</a:t>
            </a:r>
            <a:endParaRPr lang="en-US"/>
          </a:p>
          <a:p>
            <a:pPr algn="l"/>
            <a:r>
              <a:rPr lang="en-US" sz="1200" i="1">
                <a:solidFill>
                  <a:srgbClr val="202122"/>
                </a:solidFill>
              </a:rPr>
              <a:t>Krita (Satya)</a:t>
            </a:r>
            <a:endParaRPr lang="en-US"/>
          </a:p>
          <a:p>
            <a:pPr algn="r"/>
            <a:r>
              <a:rPr lang="en-US" sz="1200">
                <a:solidFill>
                  <a:srgbClr val="202122"/>
                </a:solidFill>
              </a:rPr>
              <a:t>11,501 BCE</a:t>
            </a:r>
            <a:endParaRPr lang="en-US"/>
          </a:p>
          <a:p>
            <a:pPr algn="r"/>
            <a:r>
              <a:rPr lang="en-US" sz="1200" dirty="0">
                <a:solidFill>
                  <a:srgbClr val="202122"/>
                </a:solidFill>
              </a:rPr>
              <a:t>4,800</a:t>
            </a:r>
            <a:endParaRPr lang="en-US" dirty="0"/>
          </a:p>
          <a:p>
            <a:pPr algn="l"/>
            <a:r>
              <a:rPr lang="en-US" sz="1200" i="1">
                <a:solidFill>
                  <a:srgbClr val="202122"/>
                </a:solidFill>
              </a:rPr>
              <a:t>Treta</a:t>
            </a:r>
            <a:endParaRPr lang="en-US"/>
          </a:p>
          <a:p>
            <a:pPr algn="r"/>
            <a:r>
              <a:rPr lang="en-US" sz="1200">
                <a:solidFill>
                  <a:srgbClr val="202122"/>
                </a:solidFill>
              </a:rPr>
              <a:t>6701 BCE</a:t>
            </a:r>
            <a:endParaRPr lang="en-US"/>
          </a:p>
          <a:p>
            <a:pPr algn="r"/>
            <a:r>
              <a:rPr lang="en-US" sz="1200" dirty="0">
                <a:solidFill>
                  <a:srgbClr val="202122"/>
                </a:solidFill>
              </a:rPr>
              <a:t>3,600</a:t>
            </a:r>
            <a:endParaRPr lang="en-US" dirty="0"/>
          </a:p>
          <a:p>
            <a:pPr algn="l"/>
            <a:r>
              <a:rPr lang="en-US" sz="1200" i="1">
                <a:solidFill>
                  <a:srgbClr val="202122"/>
                </a:solidFill>
              </a:rPr>
              <a:t>Dvapara</a:t>
            </a:r>
            <a:endParaRPr lang="en-US"/>
          </a:p>
          <a:p>
            <a:pPr algn="r"/>
            <a:r>
              <a:rPr lang="en-US" sz="1200">
                <a:solidFill>
                  <a:srgbClr val="202122"/>
                </a:solidFill>
              </a:rPr>
              <a:t>3101 BCE</a:t>
            </a:r>
            <a:endParaRPr lang="en-US"/>
          </a:p>
          <a:p>
            <a:pPr algn="r"/>
            <a:r>
              <a:rPr lang="en-US" sz="1200" dirty="0">
                <a:solidFill>
                  <a:srgbClr val="202122"/>
                </a:solidFill>
              </a:rPr>
              <a:t>2,400</a:t>
            </a:r>
            <a:endParaRPr lang="en-US" dirty="0"/>
          </a:p>
          <a:p>
            <a:pPr algn="l"/>
            <a:r>
              <a:rPr lang="en-US" sz="1200" i="1">
                <a:solidFill>
                  <a:srgbClr val="202122"/>
                </a:solidFill>
              </a:rPr>
              <a:t>Kali</a:t>
            </a:r>
            <a:endParaRPr lang="en-US"/>
          </a:p>
          <a:p>
            <a:pPr algn="r"/>
            <a:r>
              <a:rPr lang="en-US" sz="1200">
                <a:solidFill>
                  <a:srgbClr val="202122"/>
                </a:solidFill>
              </a:rPr>
              <a:t>701 BCE</a:t>
            </a:r>
            <a:endParaRPr lang="en-US"/>
          </a:p>
          <a:p>
            <a:pPr algn="r"/>
            <a:r>
              <a:rPr lang="en-US" sz="1200" dirty="0">
                <a:solidFill>
                  <a:srgbClr val="202122"/>
                </a:solidFill>
              </a:rPr>
              <a:t>1,200</a:t>
            </a:r>
            <a:endParaRPr lang="en-US" dirty="0"/>
          </a:p>
          <a:p>
            <a:pPr algn="l"/>
            <a:r>
              <a:rPr lang="en-US" sz="1200" b="1">
                <a:solidFill>
                  <a:srgbClr val="202122"/>
                </a:solidFill>
              </a:rPr>
              <a:t>Ascending (12,000 years)</a:t>
            </a:r>
            <a:endParaRPr lang="en-US"/>
          </a:p>
          <a:p>
            <a:pPr algn="l"/>
            <a:r>
              <a:rPr lang="en-US" sz="1200" i="1">
                <a:solidFill>
                  <a:srgbClr val="202122"/>
                </a:solidFill>
              </a:rPr>
              <a:t>Kali</a:t>
            </a:r>
            <a:endParaRPr lang="en-US"/>
          </a:p>
          <a:p>
            <a:pPr algn="r"/>
            <a:r>
              <a:rPr lang="en-US" sz="1200">
                <a:solidFill>
                  <a:srgbClr val="202122"/>
                </a:solidFill>
              </a:rPr>
              <a:t>499 CE</a:t>
            </a:r>
            <a:endParaRPr lang="en-US"/>
          </a:p>
          <a:p>
            <a:pPr algn="r"/>
            <a:r>
              <a:rPr lang="en-US" sz="1200" dirty="0">
                <a:solidFill>
                  <a:srgbClr val="202122"/>
                </a:solidFill>
              </a:rPr>
              <a:t>1,200</a:t>
            </a:r>
            <a:endParaRPr lang="en-US" dirty="0"/>
          </a:p>
          <a:p>
            <a:pPr algn="l"/>
            <a:r>
              <a:rPr lang="en-US" sz="1200" i="1">
                <a:solidFill>
                  <a:srgbClr val="202122"/>
                </a:solidFill>
              </a:rPr>
              <a:t>Dvapara*</a:t>
            </a:r>
            <a:endParaRPr lang="en-US"/>
          </a:p>
          <a:p>
            <a:pPr algn="r"/>
            <a:r>
              <a:rPr lang="en-US" sz="1200">
                <a:solidFill>
                  <a:srgbClr val="202122"/>
                </a:solidFill>
              </a:rPr>
              <a:t>1699 CE</a:t>
            </a:r>
            <a:endParaRPr lang="en-US"/>
          </a:p>
          <a:p>
            <a:pPr algn="r"/>
            <a:r>
              <a:rPr lang="en-US" sz="1200" dirty="0">
                <a:solidFill>
                  <a:srgbClr val="202122"/>
                </a:solidFill>
              </a:rPr>
              <a:t>2,400</a:t>
            </a:r>
            <a:endParaRPr lang="en-US" dirty="0"/>
          </a:p>
          <a:p>
            <a:pPr algn="l"/>
            <a:r>
              <a:rPr lang="en-US" sz="1200" i="1">
                <a:solidFill>
                  <a:srgbClr val="202122"/>
                </a:solidFill>
              </a:rPr>
              <a:t>Treta</a:t>
            </a:r>
            <a:endParaRPr lang="en-US"/>
          </a:p>
          <a:p>
            <a:pPr algn="r"/>
            <a:r>
              <a:rPr lang="en-US" sz="1200">
                <a:solidFill>
                  <a:srgbClr val="202122"/>
                </a:solidFill>
              </a:rPr>
              <a:t>4099 CE</a:t>
            </a:r>
            <a:endParaRPr lang="en-US"/>
          </a:p>
          <a:p>
            <a:pPr algn="r"/>
            <a:r>
              <a:rPr lang="en-US" sz="1200" dirty="0">
                <a:solidFill>
                  <a:srgbClr val="202122"/>
                </a:solidFill>
              </a:rPr>
              <a:t>3,600</a:t>
            </a:r>
            <a:endParaRPr lang="en-US" dirty="0"/>
          </a:p>
          <a:p>
            <a:pPr algn="l"/>
            <a:r>
              <a:rPr lang="en-US" sz="1200" i="1">
                <a:solidFill>
                  <a:srgbClr val="202122"/>
                </a:solidFill>
              </a:rPr>
              <a:t>Krita (Satya)</a:t>
            </a:r>
            <a:endParaRPr lang="en-US"/>
          </a:p>
          <a:p>
            <a:pPr algn="r"/>
            <a:r>
              <a:rPr lang="en-US" sz="1200">
                <a:solidFill>
                  <a:srgbClr val="202122"/>
                </a:solidFill>
              </a:rPr>
              <a:t>7699–12,499 CE</a:t>
            </a:r>
            <a:endParaRPr lang="en-US"/>
          </a:p>
          <a:p>
            <a:pPr algn="r"/>
            <a:r>
              <a:rPr lang="en-US" sz="1200" dirty="0">
                <a:solidFill>
                  <a:srgbClr val="202122"/>
                </a:solidFill>
              </a:rPr>
              <a:t>4,800</a:t>
            </a:r>
            <a:endParaRPr lang="en-US" dirty="0"/>
          </a:p>
          <a:p>
            <a:pPr algn="r"/>
            <a:r>
              <a:rPr lang="en-US" sz="1200" b="1">
                <a:solidFill>
                  <a:srgbClr val="202122"/>
                </a:solidFill>
              </a:rPr>
              <a:t>Years: 24,000</a:t>
            </a:r>
            <a:endParaRPr lang="en-US"/>
          </a:p>
          <a:p>
            <a:pPr algn="l"/>
            <a:r>
              <a:rPr lang="en-US" sz="800" baseline="30000">
                <a:solidFill>
                  <a:srgbClr val="202122"/>
                </a:solidFill>
              </a:rPr>
              <a:t>(*) Current.</a:t>
            </a:r>
            <a:endParaRPr lang="en-US"/>
          </a:p>
          <a:p>
            <a:pPr algn="r"/>
            <a:r>
              <a:rPr lang="en-US" sz="1000" baseline="30000" dirty="0">
                <a:solidFill>
                  <a:srgbClr val="3366CC"/>
                </a:solidFill>
                <a:hlinkClick r:id="rId80"/>
              </a:rPr>
              <a:t>[e]</a:t>
            </a:r>
            <a:endParaRPr lang="en-US"/>
          </a:p>
          <a:p>
            <a:r>
              <a:rPr lang="en" sz="1200" dirty="0">
                <a:solidFill>
                  <a:srgbClr val="3366CC"/>
                </a:solidFill>
                <a:ea typeface="+mj-lt"/>
                <a:cs typeface="+mj-lt"/>
                <a:hlinkClick r:id="rId128"/>
              </a:rPr>
              <a:t>Joscelyn Godwin</a:t>
            </a:r>
            <a:r>
              <a:rPr lang="en" sz="1200" dirty="0">
                <a:solidFill>
                  <a:srgbClr val="202122"/>
                </a:solidFill>
                <a:ea typeface="+mj-lt"/>
                <a:cs typeface="+mj-lt"/>
              </a:rPr>
              <a:t> </a:t>
            </a:r>
            <a:r>
              <a:rPr lang="en" sz="1200">
                <a:solidFill>
                  <a:srgbClr val="202122"/>
                </a:solidFill>
                <a:ea typeface="+mj-lt"/>
                <a:cs typeface="+mj-lt"/>
              </a:rPr>
              <a:t>states that Yukteswar believed the traditional chronology of the </a:t>
            </a:r>
            <a:r>
              <a:rPr lang="en" sz="1200" i="1">
                <a:solidFill>
                  <a:srgbClr val="202122"/>
                </a:solidFill>
                <a:ea typeface="+mj-lt"/>
                <a:cs typeface="+mj-lt"/>
              </a:rPr>
              <a:t>yugas</a:t>
            </a:r>
            <a:r>
              <a:rPr lang="en" sz="1200">
                <a:solidFill>
                  <a:srgbClr val="202122"/>
                </a:solidFill>
                <a:ea typeface="+mj-lt"/>
                <a:cs typeface="+mj-lt"/>
              </a:rPr>
              <a:t> wrong and rigged for political reasons, but that Yukteswar may have had political reasons of his own, evident in a police report printed in </a:t>
            </a:r>
            <a:r>
              <a:rPr lang="en" sz="1200" i="1">
                <a:solidFill>
                  <a:srgbClr val="202122"/>
                </a:solidFill>
                <a:ea typeface="+mj-lt"/>
                <a:cs typeface="+mj-lt"/>
              </a:rPr>
              <a:t>Atlantis and the Cycles of Time</a:t>
            </a:r>
            <a:r>
              <a:rPr lang="en" sz="1200">
                <a:solidFill>
                  <a:srgbClr val="202122"/>
                </a:solidFill>
                <a:ea typeface="+mj-lt"/>
                <a:cs typeface="+mj-lt"/>
              </a:rPr>
              <a:t>, which links Yukteswar to a secret anti-colonial movement called </a:t>
            </a:r>
            <a:r>
              <a:rPr lang="en" sz="1200" dirty="0">
                <a:solidFill>
                  <a:srgbClr val="3366CC"/>
                </a:solidFill>
                <a:ea typeface="+mj-lt"/>
                <a:cs typeface="+mj-lt"/>
                <a:hlinkClick r:id="rId129"/>
              </a:rPr>
              <a:t>Yugantar</a:t>
            </a:r>
            <a:r>
              <a:rPr lang="en" sz="1200">
                <a:solidFill>
                  <a:srgbClr val="202122"/>
                </a:solidFill>
                <a:ea typeface="+mj-lt"/>
                <a:cs typeface="+mj-lt"/>
              </a:rPr>
              <a:t>, meaning "new age" or "transition of an epoch".</a:t>
            </a:r>
            <a:r>
              <a:rPr lang="en" sz="1000" baseline="30000" dirty="0">
                <a:solidFill>
                  <a:srgbClr val="3366CC"/>
                </a:solidFill>
                <a:ea typeface="+mj-lt"/>
                <a:cs typeface="+mj-lt"/>
                <a:hlinkClick r:id="rId130"/>
              </a:rPr>
              <a:t>[51]</a:t>
            </a:r>
            <a:endParaRPr lang="en-US">
              <a:ea typeface="+mj-lt"/>
              <a:cs typeface="+mj-lt"/>
            </a:endParaRPr>
          </a:p>
          <a:p>
            <a:r>
              <a:rPr lang="en" sz="1200">
                <a:solidFill>
                  <a:srgbClr val="202122"/>
                </a:solidFill>
                <a:ea typeface="+mj-lt"/>
                <a:cs typeface="+mj-lt"/>
              </a:rPr>
              <a:t>Godwin claims the </a:t>
            </a:r>
            <a:r>
              <a:rPr lang="en" sz="1200" dirty="0">
                <a:solidFill>
                  <a:srgbClr val="3366CC"/>
                </a:solidFill>
                <a:ea typeface="+mj-lt"/>
                <a:cs typeface="+mj-lt"/>
                <a:hlinkClick r:id="rId4"/>
              </a:rPr>
              <a:t>Jain time cycle</a:t>
            </a:r>
            <a:r>
              <a:rPr lang="en" sz="1200" dirty="0">
                <a:solidFill>
                  <a:srgbClr val="202122"/>
                </a:solidFill>
                <a:ea typeface="+mj-lt"/>
                <a:cs typeface="+mj-lt"/>
              </a:rPr>
              <a:t> </a:t>
            </a:r>
            <a:r>
              <a:rPr lang="en" sz="1200">
                <a:solidFill>
                  <a:srgbClr val="202122"/>
                </a:solidFill>
                <a:ea typeface="+mj-lt"/>
                <a:cs typeface="+mj-lt"/>
              </a:rPr>
              <a:t>and the </a:t>
            </a:r>
            <a:r>
              <a:rPr lang="en" sz="1200" dirty="0">
                <a:solidFill>
                  <a:srgbClr val="3366CC"/>
                </a:solidFill>
                <a:ea typeface="+mj-lt"/>
                <a:cs typeface="+mj-lt"/>
                <a:hlinkClick r:id="rId131"/>
              </a:rPr>
              <a:t>European myth of progress</a:t>
            </a:r>
            <a:r>
              <a:rPr lang="en" sz="1200" dirty="0">
                <a:solidFill>
                  <a:srgbClr val="202122"/>
                </a:solidFill>
                <a:ea typeface="+mj-lt"/>
                <a:cs typeface="+mj-lt"/>
              </a:rPr>
              <a:t> </a:t>
            </a:r>
            <a:r>
              <a:rPr lang="en" sz="1200">
                <a:solidFill>
                  <a:srgbClr val="202122"/>
                </a:solidFill>
                <a:ea typeface="+mj-lt"/>
                <a:cs typeface="+mj-lt"/>
              </a:rPr>
              <a:t>influenced Yukteswar, whose theory only recently became prominent outside India. Humanity in an upward cycle is contrary to traditional ideas. Godwin points out many philosophies and religions that started during a time when "man could not see beyond the gross material world" (701 BCE – 1699 CE). Only </a:t>
            </a:r>
            <a:r>
              <a:rPr lang="en" sz="1200" dirty="0">
                <a:solidFill>
                  <a:srgbClr val="3366CC"/>
                </a:solidFill>
                <a:ea typeface="+mj-lt"/>
                <a:cs typeface="+mj-lt"/>
                <a:hlinkClick r:id="rId132"/>
              </a:rPr>
              <a:t>materialists</a:t>
            </a:r>
            <a:r>
              <a:rPr lang="en" sz="1200" dirty="0">
                <a:solidFill>
                  <a:srgbClr val="202122"/>
                </a:solidFill>
                <a:ea typeface="+mj-lt"/>
                <a:cs typeface="+mj-lt"/>
              </a:rPr>
              <a:t> </a:t>
            </a:r>
            <a:r>
              <a:rPr lang="en" sz="1200">
                <a:solidFill>
                  <a:srgbClr val="202122"/>
                </a:solidFill>
                <a:ea typeface="+mj-lt"/>
                <a:cs typeface="+mj-lt"/>
              </a:rPr>
              <a:t>and </a:t>
            </a:r>
            <a:r>
              <a:rPr lang="en" sz="1200" dirty="0">
                <a:solidFill>
                  <a:srgbClr val="3366CC"/>
                </a:solidFill>
                <a:ea typeface="+mj-lt"/>
                <a:cs typeface="+mj-lt"/>
                <a:hlinkClick r:id="rId133"/>
              </a:rPr>
              <a:t>atheists</a:t>
            </a:r>
            <a:r>
              <a:rPr lang="en" sz="1200" dirty="0">
                <a:solidFill>
                  <a:srgbClr val="202122"/>
                </a:solidFill>
                <a:ea typeface="+mj-lt"/>
                <a:cs typeface="+mj-lt"/>
              </a:rPr>
              <a:t> </a:t>
            </a:r>
            <a:r>
              <a:rPr lang="en" sz="1200">
                <a:solidFill>
                  <a:srgbClr val="202122"/>
                </a:solidFill>
                <a:ea typeface="+mj-lt"/>
                <a:cs typeface="+mj-lt"/>
              </a:rPr>
              <a:t>would welcome the post-1700 age as an improvement.</a:t>
            </a:r>
            <a:r>
              <a:rPr lang="en" sz="1000" baseline="30000" dirty="0">
                <a:solidFill>
                  <a:srgbClr val="3366CC"/>
                </a:solidFill>
                <a:ea typeface="+mj-lt"/>
                <a:cs typeface="+mj-lt"/>
                <a:hlinkClick r:id="rId134"/>
              </a:rPr>
              <a:t>[52]</a:t>
            </a:r>
            <a:endParaRPr lang="en-US">
              <a:ea typeface="+mj-lt"/>
              <a:cs typeface="+mj-lt"/>
            </a:endParaRPr>
          </a:p>
          <a:p>
            <a:r>
              <a:rPr lang="en" sz="1200" dirty="0">
                <a:solidFill>
                  <a:srgbClr val="3366CC"/>
                </a:solidFill>
                <a:ea typeface="+mj-lt"/>
                <a:cs typeface="+mj-lt"/>
                <a:hlinkClick r:id="rId135"/>
              </a:rPr>
              <a:t>John Major Jenkins</a:t>
            </a:r>
            <a:r>
              <a:rPr lang="en" sz="1200">
                <a:solidFill>
                  <a:srgbClr val="202122"/>
                </a:solidFill>
                <a:ea typeface="+mj-lt"/>
                <a:cs typeface="+mj-lt"/>
              </a:rPr>
              <a:t>, who adjusted ascending </a:t>
            </a:r>
            <a:r>
              <a:rPr lang="en" sz="1200" i="1">
                <a:solidFill>
                  <a:srgbClr val="202122"/>
                </a:solidFill>
                <a:ea typeface="+mj-lt"/>
                <a:cs typeface="+mj-lt"/>
              </a:rPr>
              <a:t>Kali Yuga</a:t>
            </a:r>
            <a:r>
              <a:rPr lang="en" sz="1200">
                <a:solidFill>
                  <a:srgbClr val="202122"/>
                </a:solidFill>
                <a:ea typeface="+mj-lt"/>
                <a:cs typeface="+mj-lt"/>
              </a:rPr>
              <a:t> from 499 CE to 2012 in his version, criticizes Yukteswar as wanting the "cycle-bottom" to correspond to his education, beliefs, and historical understanding. Technology has thrust us deeper into material dependency and spiritual darkness.</a:t>
            </a:r>
            <a:r>
              <a:rPr lang="en" sz="1000" baseline="30000" dirty="0">
                <a:solidFill>
                  <a:srgbClr val="3366CC"/>
                </a:solidFill>
                <a:ea typeface="+mj-lt"/>
                <a:cs typeface="+mj-lt"/>
                <a:hlinkClick r:id="rId136"/>
              </a:rPr>
              <a:t>[53]</a:t>
            </a:r>
            <a:endParaRPr lang="en-US"/>
          </a:p>
          <a:p>
            <a:r>
              <a:rPr lang="en-US" b="1"/>
              <a:t>René Guénon</a:t>
            </a:r>
            <a:endParaRPr lang="en-US"/>
          </a:p>
          <a:p>
            <a:r>
              <a:rPr lang="en" sz="1200" i="1">
                <a:solidFill>
                  <a:srgbClr val="202122"/>
                </a:solidFill>
                <a:ea typeface="+mj-lt"/>
                <a:cs typeface="+mj-lt"/>
              </a:rPr>
              <a:t>See also: </a:t>
            </a:r>
            <a:r>
              <a:rPr lang="en" sz="1200" i="1" dirty="0">
                <a:solidFill>
                  <a:srgbClr val="3366CC"/>
                </a:solidFill>
                <a:ea typeface="+mj-lt"/>
                <a:cs typeface="+mj-lt"/>
                <a:hlinkClick r:id="rId137"/>
              </a:rPr>
              <a:t>The Reign of Quantity and the Signs of the Times</a:t>
            </a:r>
            <a:endParaRPr lang="en-US"/>
          </a:p>
          <a:p>
            <a:r>
              <a:rPr lang="en" sz="1200" dirty="0">
                <a:solidFill>
                  <a:srgbClr val="3366CC"/>
                </a:solidFill>
                <a:ea typeface="+mj-lt"/>
                <a:cs typeface="+mj-lt"/>
                <a:hlinkClick r:id="rId138"/>
              </a:rPr>
              <a:t>René Guénon</a:t>
            </a:r>
            <a:r>
              <a:rPr lang="en" sz="1200" dirty="0">
                <a:solidFill>
                  <a:srgbClr val="202122"/>
                </a:solidFill>
                <a:ea typeface="+mj-lt"/>
                <a:cs typeface="+mj-lt"/>
              </a:rPr>
              <a:t> </a:t>
            </a:r>
            <a:r>
              <a:rPr lang="en" sz="1200">
                <a:solidFill>
                  <a:srgbClr val="202122"/>
                </a:solidFill>
                <a:ea typeface="+mj-lt"/>
                <a:cs typeface="+mj-lt"/>
              </a:rPr>
              <a:t>(1886–1951) proposed a </a:t>
            </a:r>
            <a:r>
              <a:rPr lang="en" sz="1200" i="1">
                <a:solidFill>
                  <a:srgbClr val="202122"/>
                </a:solidFill>
                <a:ea typeface="+mj-lt"/>
                <a:cs typeface="+mj-lt"/>
              </a:rPr>
              <a:t>Yuga</a:t>
            </a:r>
            <a:r>
              <a:rPr lang="en" sz="1200">
                <a:solidFill>
                  <a:srgbClr val="202122"/>
                </a:solidFill>
                <a:ea typeface="+mj-lt"/>
                <a:cs typeface="+mj-lt"/>
              </a:rPr>
              <a:t> Cycle of 64,800 years in his 1931 French article, which was later translated in the book </a:t>
            </a:r>
            <a:r>
              <a:rPr lang="en" sz="1200" i="1">
                <a:solidFill>
                  <a:srgbClr val="202122"/>
                </a:solidFill>
                <a:ea typeface="+mj-lt"/>
                <a:cs typeface="+mj-lt"/>
              </a:rPr>
              <a:t>Traditional Forms &amp; Cosmic Cycles</a:t>
            </a:r>
            <a:r>
              <a:rPr lang="en" sz="1200">
                <a:solidFill>
                  <a:srgbClr val="202122"/>
                </a:solidFill>
                <a:ea typeface="+mj-lt"/>
                <a:cs typeface="+mj-lt"/>
              </a:rPr>
              <a:t> (2001).</a:t>
            </a:r>
            <a:r>
              <a:rPr lang="en" sz="1000" baseline="30000" dirty="0">
                <a:solidFill>
                  <a:srgbClr val="3366CC"/>
                </a:solidFill>
                <a:ea typeface="+mj-lt"/>
                <a:cs typeface="+mj-lt"/>
                <a:hlinkClick r:id="rId139"/>
              </a:rPr>
              <a:t>[54]</a:t>
            </a:r>
            <a:endParaRPr lang="en-US"/>
          </a:p>
          <a:p>
            <a:r>
              <a:rPr lang="en" sz="1200">
                <a:solidFill>
                  <a:srgbClr val="202122"/>
                </a:solidFill>
                <a:ea typeface="+mj-lt"/>
                <a:cs typeface="+mj-lt"/>
              </a:rPr>
              <a:t>Guénon accepted the doctrine of the four </a:t>
            </a:r>
            <a:r>
              <a:rPr lang="en" sz="1200" i="1">
                <a:solidFill>
                  <a:srgbClr val="202122"/>
                </a:solidFill>
                <a:ea typeface="+mj-lt"/>
                <a:cs typeface="+mj-lt"/>
              </a:rPr>
              <a:t>yugas</a:t>
            </a:r>
            <a:r>
              <a:rPr lang="en" sz="1200">
                <a:solidFill>
                  <a:srgbClr val="202122"/>
                </a:solidFill>
                <a:ea typeface="+mj-lt"/>
                <a:cs typeface="+mj-lt"/>
              </a:rPr>
              <a:t>, the 4:3:2:1 </a:t>
            </a:r>
            <a:r>
              <a:rPr lang="en" sz="1200" i="1">
                <a:solidFill>
                  <a:srgbClr val="202122"/>
                </a:solidFill>
                <a:ea typeface="+mj-lt"/>
                <a:cs typeface="+mj-lt"/>
              </a:rPr>
              <a:t>yuga</a:t>
            </a:r>
            <a:r>
              <a:rPr lang="en" sz="1200">
                <a:solidFill>
                  <a:srgbClr val="202122"/>
                </a:solidFill>
                <a:ea typeface="+mj-lt"/>
                <a:cs typeface="+mj-lt"/>
              </a:rPr>
              <a:t> length proportions, and </a:t>
            </a:r>
            <a:r>
              <a:rPr lang="en" sz="1200" i="1">
                <a:solidFill>
                  <a:srgbClr val="202122"/>
                </a:solidFill>
                <a:ea typeface="+mj-lt"/>
                <a:cs typeface="+mj-lt"/>
              </a:rPr>
              <a:t>Kali Yuga</a:t>
            </a:r>
            <a:r>
              <a:rPr lang="en" sz="1200">
                <a:solidFill>
                  <a:srgbClr val="202122"/>
                </a:solidFill>
                <a:ea typeface="+mj-lt"/>
                <a:cs typeface="+mj-lt"/>
              </a:rPr>
              <a:t> as the present age. He couldn't accept the extremely large lengths and felt they were encoded with additional zeros to mislead those who might use it to predict the future. He reduced a </a:t>
            </a:r>
            <a:r>
              <a:rPr lang="en" sz="1200" i="1">
                <a:solidFill>
                  <a:srgbClr val="202122"/>
                </a:solidFill>
                <a:ea typeface="+mj-lt"/>
                <a:cs typeface="+mj-lt"/>
              </a:rPr>
              <a:t>Yuga</a:t>
            </a:r>
            <a:r>
              <a:rPr lang="en" sz="1200">
                <a:solidFill>
                  <a:srgbClr val="202122"/>
                </a:solidFill>
                <a:ea typeface="+mj-lt"/>
                <a:cs typeface="+mj-lt"/>
              </a:rPr>
              <a:t> Cycle from 4,320,000 to 4,320 years (1,728 + 1,296 + 864 + 432), but he felt this was too short for humanity's history.</a:t>
            </a:r>
            <a:r>
              <a:rPr lang="en" sz="1000" baseline="30000" dirty="0">
                <a:solidFill>
                  <a:srgbClr val="3366CC"/>
                </a:solidFill>
                <a:ea typeface="+mj-lt"/>
                <a:cs typeface="+mj-lt"/>
                <a:hlinkClick r:id="rId140"/>
              </a:rPr>
              <a:t>[55]</a:t>
            </a:r>
            <a:endParaRPr lang="en-US"/>
          </a:p>
          <a:p>
            <a:r>
              <a:rPr lang="en" sz="1200">
                <a:solidFill>
                  <a:srgbClr val="202122"/>
                </a:solidFill>
                <a:ea typeface="+mj-lt"/>
                <a:cs typeface="+mj-lt"/>
              </a:rPr>
              <a:t>In looking for a multiplier, he worked backwards from the </a:t>
            </a:r>
            <a:r>
              <a:rPr lang="en" sz="1200" dirty="0">
                <a:solidFill>
                  <a:srgbClr val="3366CC"/>
                </a:solidFill>
                <a:ea typeface="+mj-lt"/>
                <a:cs typeface="+mj-lt"/>
                <a:hlinkClick r:id="rId118"/>
              </a:rPr>
              <a:t>precession of the equinoxes</a:t>
            </a:r>
            <a:r>
              <a:rPr lang="en" sz="1200" dirty="0">
                <a:solidFill>
                  <a:srgbClr val="202122"/>
                </a:solidFill>
                <a:ea typeface="+mj-lt"/>
                <a:cs typeface="+mj-lt"/>
              </a:rPr>
              <a:t> </a:t>
            </a:r>
            <a:r>
              <a:rPr lang="en" sz="1200">
                <a:solidFill>
                  <a:srgbClr val="202122"/>
                </a:solidFill>
                <a:ea typeface="+mj-lt"/>
                <a:cs typeface="+mj-lt"/>
              </a:rPr>
              <a:t>(traditionally 25,920 years; 360 72-year degrees). Using 25,920 and 72, he calculated the sub-multiplier to be 4,320 years (72 × 60 = 4,320; 4,320 × 6 = 25,920). In noticing the "</a:t>
            </a:r>
            <a:r>
              <a:rPr lang="en" sz="1200" dirty="0">
                <a:solidFill>
                  <a:srgbClr val="3366CC"/>
                </a:solidFill>
                <a:ea typeface="+mj-lt"/>
                <a:cs typeface="+mj-lt"/>
                <a:hlinkClick r:id="rId141"/>
              </a:rPr>
              <a:t>great year</a:t>
            </a:r>
            <a:r>
              <a:rPr lang="en" sz="1200">
                <a:solidFill>
                  <a:srgbClr val="202122"/>
                </a:solidFill>
                <a:ea typeface="+mj-lt"/>
                <a:cs typeface="+mj-lt"/>
              </a:rPr>
              <a:t>" of the Persians (~12,000) and Greeks (~13,000) as almost half the precession, he concluded a "great year" must be 12,960 years (4,320 × 3). In trying to find the whole number of "great years" in a </a:t>
            </a:r>
            <a:r>
              <a:rPr lang="en" sz="1200" i="1" dirty="0">
                <a:solidFill>
                  <a:srgbClr val="3366CC"/>
                </a:solidFill>
                <a:ea typeface="+mj-lt"/>
                <a:cs typeface="+mj-lt"/>
                <a:hlinkClick r:id="rId20"/>
              </a:rPr>
              <a:t>manvantara</a:t>
            </a:r>
            <a:r>
              <a:rPr lang="en" sz="1200" dirty="0">
                <a:solidFill>
                  <a:srgbClr val="202122"/>
                </a:solidFill>
                <a:ea typeface="+mj-lt"/>
                <a:cs typeface="+mj-lt"/>
              </a:rPr>
              <a:t> </a:t>
            </a:r>
            <a:r>
              <a:rPr lang="en" sz="1200">
                <a:solidFill>
                  <a:srgbClr val="202122"/>
                </a:solidFill>
                <a:ea typeface="+mj-lt"/>
                <a:cs typeface="+mj-lt"/>
              </a:rPr>
              <a:t>or reign of </a:t>
            </a:r>
            <a:r>
              <a:rPr lang="en" sz="1200" dirty="0">
                <a:solidFill>
                  <a:srgbClr val="3366CC"/>
                </a:solidFill>
                <a:ea typeface="+mj-lt"/>
                <a:cs typeface="+mj-lt"/>
                <a:hlinkClick r:id="rId77"/>
              </a:rPr>
              <a:t>Vaivasvata Manu</a:t>
            </a:r>
            <a:r>
              <a:rPr lang="en" sz="1200">
                <a:solidFill>
                  <a:srgbClr val="202122"/>
                </a:solidFill>
                <a:ea typeface="+mj-lt"/>
                <a:cs typeface="+mj-lt"/>
              </a:rPr>
              <a:t>, he found the reign of </a:t>
            </a:r>
            <a:r>
              <a:rPr lang="en" sz="1200" dirty="0">
                <a:solidFill>
                  <a:srgbClr val="3366CC"/>
                </a:solidFill>
                <a:ea typeface="+mj-lt"/>
                <a:cs typeface="+mj-lt"/>
                <a:hlinkClick r:id="rId142"/>
              </a:rPr>
              <a:t>Xisuthros</a:t>
            </a:r>
            <a:r>
              <a:rPr lang="en" sz="1200" dirty="0">
                <a:solidFill>
                  <a:srgbClr val="202122"/>
                </a:solidFill>
                <a:ea typeface="+mj-lt"/>
                <a:cs typeface="+mj-lt"/>
              </a:rPr>
              <a:t> </a:t>
            </a:r>
            <a:r>
              <a:rPr lang="en" sz="1200">
                <a:solidFill>
                  <a:srgbClr val="202122"/>
                </a:solidFill>
                <a:ea typeface="+mj-lt"/>
                <a:cs typeface="+mj-lt"/>
              </a:rPr>
              <a:t>of the </a:t>
            </a:r>
            <a:r>
              <a:rPr lang="en" sz="1200" dirty="0">
                <a:solidFill>
                  <a:srgbClr val="3366CC"/>
                </a:solidFill>
                <a:ea typeface="+mj-lt"/>
                <a:cs typeface="+mj-lt"/>
                <a:hlinkClick r:id="rId143"/>
              </a:rPr>
              <a:t>Chaldeans</a:t>
            </a:r>
            <a:r>
              <a:rPr lang="en" sz="1200" dirty="0">
                <a:solidFill>
                  <a:srgbClr val="202122"/>
                </a:solidFill>
                <a:ea typeface="+mj-lt"/>
                <a:cs typeface="+mj-lt"/>
              </a:rPr>
              <a:t> </a:t>
            </a:r>
            <a:r>
              <a:rPr lang="en" sz="1200">
                <a:solidFill>
                  <a:srgbClr val="202122"/>
                </a:solidFill>
                <a:ea typeface="+mj-lt"/>
                <a:cs typeface="+mj-lt"/>
              </a:rPr>
              <a:t>to be set to 64,800 years (12,960 × 5), someone he thought to be the same Manu. Guénon felt 64,800 years was a more plausible length that may line up with humanity's history. He calculated a 64,800 </a:t>
            </a:r>
            <a:r>
              <a:rPr lang="en" sz="1200" i="1">
                <a:solidFill>
                  <a:srgbClr val="202122"/>
                </a:solidFill>
                <a:ea typeface="+mj-lt"/>
                <a:cs typeface="+mj-lt"/>
              </a:rPr>
              <a:t>manvantara</a:t>
            </a:r>
            <a:r>
              <a:rPr lang="en" sz="1200">
                <a:solidFill>
                  <a:srgbClr val="202122"/>
                </a:solidFill>
                <a:ea typeface="+mj-lt"/>
                <a:cs typeface="+mj-lt"/>
              </a:rPr>
              <a:t> divided into a 4,320 "encoded" </a:t>
            </a:r>
            <a:r>
              <a:rPr lang="en" sz="1200" i="1">
                <a:solidFill>
                  <a:srgbClr val="202122"/>
                </a:solidFill>
                <a:ea typeface="+mj-lt"/>
                <a:cs typeface="+mj-lt"/>
              </a:rPr>
              <a:t>Yuga</a:t>
            </a:r>
            <a:r>
              <a:rPr lang="en" sz="1200">
                <a:solidFill>
                  <a:srgbClr val="202122"/>
                </a:solidFill>
                <a:ea typeface="+mj-lt"/>
                <a:cs typeface="+mj-lt"/>
              </a:rPr>
              <a:t> Cycle gave a multiplier of 15 (5 "great years"). Using 15 as the multiplier, he "decoded" a 5-"great year" </a:t>
            </a:r>
            <a:r>
              <a:rPr lang="en" sz="1200" i="1">
                <a:solidFill>
                  <a:srgbClr val="202122"/>
                </a:solidFill>
                <a:ea typeface="+mj-lt"/>
                <a:cs typeface="+mj-lt"/>
              </a:rPr>
              <a:t>Yuga</a:t>
            </a:r>
            <a:r>
              <a:rPr lang="en" sz="1200">
                <a:solidFill>
                  <a:srgbClr val="202122"/>
                </a:solidFill>
                <a:ea typeface="+mj-lt"/>
                <a:cs typeface="+mj-lt"/>
              </a:rPr>
              <a:t> Cycle as having the following </a:t>
            </a:r>
            <a:r>
              <a:rPr lang="en" sz="1200" i="1">
                <a:solidFill>
                  <a:srgbClr val="202122"/>
                </a:solidFill>
                <a:ea typeface="+mj-lt"/>
                <a:cs typeface="+mj-lt"/>
              </a:rPr>
              <a:t>yuga</a:t>
            </a:r>
            <a:r>
              <a:rPr lang="en" sz="1200">
                <a:solidFill>
                  <a:srgbClr val="202122"/>
                </a:solidFill>
                <a:ea typeface="+mj-lt"/>
                <a:cs typeface="+mj-lt"/>
              </a:rPr>
              <a:t> lengths:</a:t>
            </a:r>
            <a:r>
              <a:rPr lang="en" sz="1000" baseline="30000" dirty="0">
                <a:solidFill>
                  <a:srgbClr val="3366CC"/>
                </a:solidFill>
                <a:ea typeface="+mj-lt"/>
                <a:cs typeface="+mj-lt"/>
                <a:hlinkClick r:id="rId139"/>
              </a:rPr>
              <a:t>[54]</a:t>
            </a:r>
            <a:r>
              <a:rPr lang="en" sz="1000" baseline="30000" dirty="0">
                <a:solidFill>
                  <a:srgbClr val="3366CC"/>
                </a:solidFill>
                <a:ea typeface="+mj-lt"/>
                <a:cs typeface="+mj-lt"/>
                <a:hlinkClick r:id="rId144"/>
              </a:rPr>
              <a:t>[56]</a:t>
            </a:r>
            <a:endParaRPr lang="en-US">
              <a:ea typeface="+mj-lt"/>
              <a:cs typeface="+mj-lt"/>
            </a:endParaRPr>
          </a:p>
          <a:p>
            <a:pPr marL="285750" indent="-285750">
              <a:buFont typeface="Arial"/>
              <a:buChar char="•"/>
            </a:pPr>
            <a:r>
              <a:rPr lang="en" sz="1200" i="1">
                <a:solidFill>
                  <a:srgbClr val="202122"/>
                </a:solidFill>
                <a:ea typeface="+mj-lt"/>
                <a:cs typeface="+mj-lt"/>
              </a:rPr>
              <a:t>Satya</a:t>
            </a:r>
            <a:r>
              <a:rPr lang="en" sz="1200">
                <a:solidFill>
                  <a:srgbClr val="202122"/>
                </a:solidFill>
                <a:ea typeface="+mj-lt"/>
                <a:cs typeface="+mj-lt"/>
              </a:rPr>
              <a:t>: 25,920 (4 ratio or 2 × "great year"; 15 × 1,728)</a:t>
            </a:r>
            <a:endParaRPr lang="en-US"/>
          </a:p>
          <a:p>
            <a:pPr marL="285750" indent="-285750">
              <a:buFont typeface="Arial"/>
              <a:buChar char="•"/>
            </a:pPr>
            <a:r>
              <a:rPr lang="en" sz="1200" i="1">
                <a:solidFill>
                  <a:srgbClr val="202122"/>
                </a:solidFill>
                <a:ea typeface="+mj-lt"/>
                <a:cs typeface="+mj-lt"/>
              </a:rPr>
              <a:t>Treta</a:t>
            </a:r>
            <a:r>
              <a:rPr lang="en" sz="1200">
                <a:solidFill>
                  <a:srgbClr val="202122"/>
                </a:solidFill>
                <a:ea typeface="+mj-lt"/>
                <a:cs typeface="+mj-lt"/>
              </a:rPr>
              <a:t>: 19,440 (3 ratio or 1.5 × "great year"; 15 × 1,296)</a:t>
            </a:r>
            <a:endParaRPr lang="en-US"/>
          </a:p>
          <a:p>
            <a:pPr marL="285750" indent="-285750">
              <a:buFont typeface="Arial"/>
              <a:buChar char="•"/>
            </a:pPr>
            <a:r>
              <a:rPr lang="en" sz="1200" i="1">
                <a:solidFill>
                  <a:srgbClr val="202122"/>
                </a:solidFill>
                <a:ea typeface="+mj-lt"/>
                <a:cs typeface="+mj-lt"/>
              </a:rPr>
              <a:t>Dvapara</a:t>
            </a:r>
            <a:r>
              <a:rPr lang="en" sz="1200">
                <a:solidFill>
                  <a:srgbClr val="202122"/>
                </a:solidFill>
                <a:ea typeface="+mj-lt"/>
                <a:cs typeface="+mj-lt"/>
              </a:rPr>
              <a:t>: 12,960 (2 ratio or 1 × "great year"; 15 × 864)</a:t>
            </a:r>
            <a:endParaRPr lang="en-US"/>
          </a:p>
          <a:p>
            <a:pPr marL="285750" indent="-285750">
              <a:buFont typeface="Arial"/>
              <a:buChar char="•"/>
            </a:pPr>
            <a:r>
              <a:rPr lang="en" sz="1200" i="1">
                <a:solidFill>
                  <a:srgbClr val="202122"/>
                </a:solidFill>
                <a:ea typeface="+mj-lt"/>
                <a:cs typeface="+mj-lt"/>
              </a:rPr>
              <a:t>Kali</a:t>
            </a:r>
            <a:r>
              <a:rPr lang="en" sz="1200">
                <a:solidFill>
                  <a:srgbClr val="202122"/>
                </a:solidFill>
                <a:ea typeface="+mj-lt"/>
                <a:cs typeface="+mj-lt"/>
              </a:rPr>
              <a:t>: 6,480 (1 ratio or 0.5 × "great year"; 15 × 432)</a:t>
            </a:r>
            <a:endParaRPr lang="en-US"/>
          </a:p>
          <a:p>
            <a:r>
              <a:rPr lang="en" sz="1200">
                <a:solidFill>
                  <a:srgbClr val="202122"/>
                </a:solidFill>
                <a:ea typeface="+mj-lt"/>
                <a:cs typeface="+mj-lt"/>
              </a:rPr>
              <a:t>Guénon did not give a start date for </a:t>
            </a:r>
            <a:r>
              <a:rPr lang="en" sz="1200" i="1">
                <a:solidFill>
                  <a:srgbClr val="202122"/>
                </a:solidFill>
                <a:ea typeface="+mj-lt"/>
                <a:cs typeface="+mj-lt"/>
              </a:rPr>
              <a:t>Kali Yuga</a:t>
            </a:r>
            <a:r>
              <a:rPr lang="en" sz="1200">
                <a:solidFill>
                  <a:srgbClr val="202122"/>
                </a:solidFill>
                <a:ea typeface="+mj-lt"/>
                <a:cs typeface="+mj-lt"/>
              </a:rPr>
              <a:t>, but instead left clues in his description of the cataclysmic destruction of the </a:t>
            </a:r>
            <a:r>
              <a:rPr lang="en" sz="1200" dirty="0">
                <a:solidFill>
                  <a:srgbClr val="3366CC"/>
                </a:solidFill>
                <a:ea typeface="+mj-lt"/>
                <a:cs typeface="+mj-lt"/>
                <a:hlinkClick r:id="rId145"/>
              </a:rPr>
              <a:t>Atlantean civilization</a:t>
            </a:r>
            <a:r>
              <a:rPr lang="en" sz="1200">
                <a:solidFill>
                  <a:srgbClr val="202122"/>
                </a:solidFill>
                <a:ea typeface="+mj-lt"/>
                <a:cs typeface="+mj-lt"/>
              </a:rPr>
              <a:t>. His commentator, </a:t>
            </a:r>
            <a:r>
              <a:rPr lang="en" sz="1200" dirty="0">
                <a:solidFill>
                  <a:srgbClr val="3366CC"/>
                </a:solidFill>
                <a:ea typeface="+mj-lt"/>
                <a:cs typeface="+mj-lt"/>
                <a:hlinkClick r:id="rId146"/>
              </a:rPr>
              <a:t>Jean Robin</a:t>
            </a:r>
            <a:r>
              <a:rPr lang="en" sz="1200">
                <a:solidFill>
                  <a:srgbClr val="202122"/>
                </a:solidFill>
                <a:ea typeface="+mj-lt"/>
                <a:cs typeface="+mj-lt"/>
              </a:rPr>
              <a:t>, in an early 1980s publication, claimed to have decoded this description and calculated that </a:t>
            </a:r>
            <a:r>
              <a:rPr lang="en" sz="1200" i="1">
                <a:solidFill>
                  <a:srgbClr val="202122"/>
                </a:solidFill>
                <a:ea typeface="+mj-lt"/>
                <a:cs typeface="+mj-lt"/>
              </a:rPr>
              <a:t>Kali Yuga</a:t>
            </a:r>
            <a:r>
              <a:rPr lang="en" sz="1200">
                <a:solidFill>
                  <a:srgbClr val="202122"/>
                </a:solidFill>
                <a:ea typeface="+mj-lt"/>
                <a:cs typeface="+mj-lt"/>
              </a:rPr>
              <a:t> lasted from 4481 BCE to 1999 CE (2000 CE excluding year 0).</a:t>
            </a:r>
            <a:r>
              <a:rPr lang="en" sz="1000" baseline="30000" dirty="0">
                <a:solidFill>
                  <a:srgbClr val="3366CC"/>
                </a:solidFill>
                <a:ea typeface="+mj-lt"/>
                <a:cs typeface="+mj-lt"/>
                <a:hlinkClick r:id="rId147"/>
              </a:rPr>
              <a:t>[57]</a:t>
            </a:r>
            <a:r>
              <a:rPr lang="en" sz="1200" dirty="0">
                <a:solidFill>
                  <a:srgbClr val="202122"/>
                </a:solidFill>
                <a:ea typeface="+mj-lt"/>
                <a:cs typeface="+mj-lt"/>
              </a:rPr>
              <a:t> </a:t>
            </a:r>
            <a:r>
              <a:rPr lang="en" sz="1200">
                <a:solidFill>
                  <a:srgbClr val="202122"/>
                </a:solidFill>
                <a:ea typeface="+mj-lt"/>
                <a:cs typeface="+mj-lt"/>
              </a:rPr>
              <a:t>In </a:t>
            </a:r>
            <a:r>
              <a:rPr lang="en" sz="1200" i="1">
                <a:solidFill>
                  <a:srgbClr val="202122"/>
                </a:solidFill>
                <a:ea typeface="+mj-lt"/>
                <a:cs typeface="+mj-lt"/>
              </a:rPr>
              <a:t>Les Quatre Âges de L’Humanité</a:t>
            </a:r>
            <a:r>
              <a:rPr lang="en" sz="1200">
                <a:solidFill>
                  <a:srgbClr val="202122"/>
                </a:solidFill>
                <a:ea typeface="+mj-lt"/>
                <a:cs typeface="+mj-lt"/>
              </a:rPr>
              <a:t> (</a:t>
            </a:r>
            <a:r>
              <a:rPr lang="en" sz="1200" i="1">
                <a:solidFill>
                  <a:srgbClr val="202122"/>
                </a:solidFill>
                <a:ea typeface="+mj-lt"/>
                <a:cs typeface="+mj-lt"/>
              </a:rPr>
              <a:t>The Four Ages of Humanity</a:t>
            </a:r>
            <a:r>
              <a:rPr lang="en" sz="1200">
                <a:solidFill>
                  <a:srgbClr val="202122"/>
                </a:solidFill>
                <a:ea typeface="+mj-lt"/>
                <a:cs typeface="+mj-lt"/>
              </a:rPr>
              <a:t>), a book written in 1949 by Gaston Georgel, this same end date of 1999 CE was calculated; although, in his 1983 book titled </a:t>
            </a:r>
            <a:r>
              <a:rPr lang="en" sz="1200" i="1">
                <a:solidFill>
                  <a:srgbClr val="202122"/>
                </a:solidFill>
                <a:ea typeface="+mj-lt"/>
                <a:cs typeface="+mj-lt"/>
              </a:rPr>
              <a:t>Le Cycle Judéo-Chrétien</a:t>
            </a:r>
            <a:r>
              <a:rPr lang="en" sz="1200">
                <a:solidFill>
                  <a:srgbClr val="202122"/>
                </a:solidFill>
                <a:ea typeface="+mj-lt"/>
                <a:cs typeface="+mj-lt"/>
              </a:rPr>
              <a:t> (</a:t>
            </a:r>
            <a:r>
              <a:rPr lang="en" sz="1200" i="1">
                <a:solidFill>
                  <a:srgbClr val="202122"/>
                </a:solidFill>
                <a:ea typeface="+mj-lt"/>
                <a:cs typeface="+mj-lt"/>
              </a:rPr>
              <a:t>The Judeo-Christian Cycle</a:t>
            </a:r>
            <a:r>
              <a:rPr lang="en" sz="1200">
                <a:solidFill>
                  <a:srgbClr val="202122"/>
                </a:solidFill>
                <a:ea typeface="+mj-lt"/>
                <a:cs typeface="+mj-lt"/>
              </a:rPr>
              <a:t>), he later argued to shift the cycle forward by 31 years to end in 2030 CE.</a:t>
            </a:r>
            <a:r>
              <a:rPr lang="en" sz="1000" baseline="30000" dirty="0">
                <a:solidFill>
                  <a:srgbClr val="3366CC"/>
                </a:solidFill>
                <a:ea typeface="+mj-lt"/>
                <a:cs typeface="+mj-lt"/>
                <a:hlinkClick r:id="rId148"/>
              </a:rPr>
              <a:t>[58]</a:t>
            </a:r>
            <a:endParaRPr lang="en-US">
              <a:ea typeface="+mj-lt"/>
              <a:cs typeface="+mj-lt"/>
            </a:endParaRPr>
          </a:p>
          <a:p>
            <a:pPr algn="l"/>
            <a:r>
              <a:rPr lang="en-US"/>
              <a:t>René Guénon's yuga cycle</a:t>
            </a:r>
          </a:p>
          <a:p>
            <a:r>
              <a:rPr lang="en-US" sz="1200" b="1" i="1">
                <a:solidFill>
                  <a:srgbClr val="202122"/>
                </a:solidFill>
              </a:rPr>
              <a:t>Yuga</a:t>
            </a:r>
            <a:endParaRPr lang="en-US"/>
          </a:p>
          <a:p>
            <a:r>
              <a:rPr lang="en-US" sz="1200" b="1">
                <a:solidFill>
                  <a:srgbClr val="202122"/>
                </a:solidFill>
              </a:rPr>
              <a:t>Start (– End)</a:t>
            </a:r>
            <a:endParaRPr lang="en-US"/>
          </a:p>
          <a:p>
            <a:r>
              <a:rPr lang="en-US" sz="1200" b="1">
                <a:solidFill>
                  <a:srgbClr val="202122"/>
                </a:solidFill>
              </a:rPr>
              <a:t>Length</a:t>
            </a:r>
            <a:endParaRPr lang="en-US"/>
          </a:p>
          <a:p>
            <a:pPr algn="l"/>
            <a:r>
              <a:rPr lang="en-US" sz="1200" i="1">
                <a:solidFill>
                  <a:srgbClr val="202122"/>
                </a:solidFill>
              </a:rPr>
              <a:t>Krita (Satya)</a:t>
            </a:r>
            <a:endParaRPr lang="en-US"/>
          </a:p>
          <a:p>
            <a:pPr algn="r"/>
            <a:r>
              <a:rPr lang="en-US" sz="1200">
                <a:solidFill>
                  <a:srgbClr val="202122"/>
                </a:solidFill>
              </a:rPr>
              <a:t>62,801 BCE</a:t>
            </a:r>
            <a:endParaRPr lang="en-US"/>
          </a:p>
          <a:p>
            <a:pPr algn="r"/>
            <a:r>
              <a:rPr lang="en-US" sz="1200" dirty="0">
                <a:solidFill>
                  <a:srgbClr val="202122"/>
                </a:solidFill>
              </a:rPr>
              <a:t>25,920</a:t>
            </a:r>
            <a:endParaRPr lang="en-US" dirty="0"/>
          </a:p>
          <a:p>
            <a:pPr algn="l"/>
            <a:r>
              <a:rPr lang="en-US" sz="1200" i="1">
                <a:solidFill>
                  <a:srgbClr val="202122"/>
                </a:solidFill>
              </a:rPr>
              <a:t>Treta</a:t>
            </a:r>
            <a:endParaRPr lang="en-US"/>
          </a:p>
          <a:p>
            <a:pPr algn="r"/>
            <a:r>
              <a:rPr lang="en-US" sz="1200">
                <a:solidFill>
                  <a:srgbClr val="202122"/>
                </a:solidFill>
              </a:rPr>
              <a:t>36,881 BCE</a:t>
            </a:r>
            <a:endParaRPr lang="en-US"/>
          </a:p>
          <a:p>
            <a:pPr algn="r"/>
            <a:r>
              <a:rPr lang="en-US" sz="1200" dirty="0">
                <a:solidFill>
                  <a:srgbClr val="202122"/>
                </a:solidFill>
              </a:rPr>
              <a:t>19,440</a:t>
            </a:r>
            <a:endParaRPr lang="en-US" dirty="0"/>
          </a:p>
          <a:p>
            <a:pPr algn="l"/>
            <a:r>
              <a:rPr lang="en-US" sz="1200" i="1">
                <a:solidFill>
                  <a:srgbClr val="202122"/>
                </a:solidFill>
              </a:rPr>
              <a:t>Dvapara</a:t>
            </a:r>
            <a:endParaRPr lang="en-US"/>
          </a:p>
          <a:p>
            <a:pPr algn="r"/>
            <a:r>
              <a:rPr lang="en-US" sz="1200">
                <a:solidFill>
                  <a:srgbClr val="202122"/>
                </a:solidFill>
              </a:rPr>
              <a:t>17,441 BCE</a:t>
            </a:r>
            <a:endParaRPr lang="en-US"/>
          </a:p>
          <a:p>
            <a:pPr algn="r"/>
            <a:r>
              <a:rPr lang="en-US" sz="1200" dirty="0">
                <a:solidFill>
                  <a:srgbClr val="202122"/>
                </a:solidFill>
              </a:rPr>
              <a:t>12,960</a:t>
            </a:r>
            <a:endParaRPr lang="en-US" dirty="0"/>
          </a:p>
          <a:p>
            <a:pPr algn="l"/>
            <a:r>
              <a:rPr lang="en-US" sz="1200" i="1">
                <a:solidFill>
                  <a:srgbClr val="202122"/>
                </a:solidFill>
              </a:rPr>
              <a:t>Kali</a:t>
            </a:r>
            <a:endParaRPr lang="en-US"/>
          </a:p>
          <a:p>
            <a:pPr algn="r"/>
            <a:r>
              <a:rPr lang="en-US" sz="1200">
                <a:solidFill>
                  <a:srgbClr val="202122"/>
                </a:solidFill>
              </a:rPr>
              <a:t>4481 BCE – 1999 CE</a:t>
            </a:r>
            <a:endParaRPr lang="en-US"/>
          </a:p>
          <a:p>
            <a:pPr algn="r"/>
            <a:r>
              <a:rPr lang="en-US" sz="1200" dirty="0">
                <a:solidFill>
                  <a:srgbClr val="202122"/>
                </a:solidFill>
              </a:rPr>
              <a:t>6,480</a:t>
            </a:r>
            <a:endParaRPr lang="en-US" dirty="0"/>
          </a:p>
          <a:p>
            <a:pPr algn="r"/>
            <a:r>
              <a:rPr lang="en-US" sz="1200" b="1">
                <a:solidFill>
                  <a:srgbClr val="202122"/>
                </a:solidFill>
              </a:rPr>
              <a:t>Years: 64,800</a:t>
            </a:r>
            <a:endParaRPr lang="en-US"/>
          </a:p>
          <a:p>
            <a:pPr algn="l"/>
            <a:r>
              <a:rPr lang="en-US" sz="800" baseline="30000">
                <a:solidFill>
                  <a:srgbClr val="202122"/>
                </a:solidFill>
              </a:rPr>
              <a:t>Current: </a:t>
            </a:r>
            <a:r>
              <a:rPr lang="en-US" sz="800" i="1" baseline="30000">
                <a:solidFill>
                  <a:srgbClr val="202122"/>
                </a:solidFill>
              </a:rPr>
              <a:t>Krita Yuga</a:t>
            </a:r>
            <a:r>
              <a:rPr lang="en-US" sz="800" baseline="30000">
                <a:solidFill>
                  <a:srgbClr val="202122"/>
                </a:solidFill>
              </a:rPr>
              <a:t> [1999–27,919 CE], next cycle.</a:t>
            </a:r>
            <a:endParaRPr lang="en-US"/>
          </a:p>
          <a:p>
            <a:pPr algn="r"/>
            <a:r>
              <a:rPr lang="en-US" sz="1000" baseline="30000" dirty="0">
                <a:solidFill>
                  <a:srgbClr val="3366CC"/>
                </a:solidFill>
                <a:hlinkClick r:id="rId80"/>
              </a:rPr>
              <a:t>[e]</a:t>
            </a:r>
            <a:r>
              <a:rPr lang="en-US" sz="1000" baseline="30000" dirty="0">
                <a:solidFill>
                  <a:srgbClr val="3366CC"/>
                </a:solidFill>
                <a:hlinkClick r:id="rId149"/>
              </a:rPr>
              <a:t>[f]</a:t>
            </a:r>
            <a:endParaRPr lang="en-US"/>
          </a:p>
          <a:p>
            <a:r>
              <a:rPr lang="en-US" b="1"/>
              <a:t>Alain Daniélou</a:t>
            </a:r>
            <a:endParaRPr lang="en-US"/>
          </a:p>
          <a:p>
            <a:r>
              <a:rPr lang="en" sz="1200" dirty="0">
                <a:solidFill>
                  <a:srgbClr val="3366CC"/>
                </a:solidFill>
                <a:ea typeface="+mj-lt"/>
                <a:cs typeface="+mj-lt"/>
                <a:hlinkClick r:id="rId150"/>
              </a:rPr>
              <a:t>Alain Daniélou</a:t>
            </a:r>
            <a:r>
              <a:rPr lang="en" sz="1200" dirty="0">
                <a:solidFill>
                  <a:srgbClr val="202122"/>
                </a:solidFill>
                <a:ea typeface="+mj-lt"/>
                <a:cs typeface="+mj-lt"/>
              </a:rPr>
              <a:t> </a:t>
            </a:r>
            <a:r>
              <a:rPr lang="en" sz="1200">
                <a:solidFill>
                  <a:srgbClr val="202122"/>
                </a:solidFill>
                <a:ea typeface="+mj-lt"/>
                <a:cs typeface="+mj-lt"/>
              </a:rPr>
              <a:t>(1907–1994) proposed a </a:t>
            </a:r>
            <a:r>
              <a:rPr lang="en" sz="1200" i="1">
                <a:solidFill>
                  <a:srgbClr val="202122"/>
                </a:solidFill>
                <a:ea typeface="+mj-lt"/>
                <a:cs typeface="+mj-lt"/>
              </a:rPr>
              <a:t>Yuga</a:t>
            </a:r>
            <a:r>
              <a:rPr lang="en" sz="1200">
                <a:solidFill>
                  <a:srgbClr val="202122"/>
                </a:solidFill>
                <a:ea typeface="+mj-lt"/>
                <a:cs typeface="+mj-lt"/>
              </a:rPr>
              <a:t> Cycle of 60,487 years in his book </a:t>
            </a:r>
            <a:r>
              <a:rPr lang="en" sz="1200" i="1">
                <a:solidFill>
                  <a:srgbClr val="202122"/>
                </a:solidFill>
                <a:ea typeface="+mj-lt"/>
                <a:cs typeface="+mj-lt"/>
              </a:rPr>
              <a:t>While the Gods Play: Shaiva Oracles and Predictions on the Cycles of History and the Destiny of Mankind</a:t>
            </a:r>
            <a:r>
              <a:rPr lang="en" sz="1200">
                <a:solidFill>
                  <a:srgbClr val="202122"/>
                </a:solidFill>
                <a:ea typeface="+mj-lt"/>
                <a:cs typeface="+mj-lt"/>
              </a:rPr>
              <a:t> (1985).</a:t>
            </a:r>
            <a:r>
              <a:rPr lang="en" sz="1000" baseline="30000" dirty="0">
                <a:solidFill>
                  <a:srgbClr val="3366CC"/>
                </a:solidFill>
                <a:ea typeface="+mj-lt"/>
                <a:cs typeface="+mj-lt"/>
                <a:hlinkClick r:id="rId151"/>
              </a:rPr>
              <a:t>[59]</a:t>
            </a:r>
            <a:endParaRPr lang="en-US"/>
          </a:p>
          <a:p>
            <a:r>
              <a:rPr lang="en" sz="1200">
                <a:solidFill>
                  <a:srgbClr val="202122"/>
                </a:solidFill>
                <a:ea typeface="+mj-lt"/>
                <a:cs typeface="+mj-lt"/>
              </a:rPr>
              <a:t>Daniélou and </a:t>
            </a:r>
            <a:r>
              <a:rPr lang="en" sz="1200" dirty="0">
                <a:solidFill>
                  <a:srgbClr val="3366CC"/>
                </a:solidFill>
                <a:ea typeface="+mj-lt"/>
                <a:cs typeface="+mj-lt"/>
                <a:hlinkClick r:id="rId138"/>
              </a:rPr>
              <a:t>René Guénon</a:t>
            </a:r>
            <a:r>
              <a:rPr lang="en" sz="1200" dirty="0">
                <a:solidFill>
                  <a:srgbClr val="202122"/>
                </a:solidFill>
                <a:ea typeface="+mj-lt"/>
                <a:cs typeface="+mj-lt"/>
              </a:rPr>
              <a:t> </a:t>
            </a:r>
            <a:r>
              <a:rPr lang="en" sz="1200">
                <a:solidFill>
                  <a:srgbClr val="202122"/>
                </a:solidFill>
                <a:ea typeface="+mj-lt"/>
                <a:cs typeface="+mj-lt"/>
              </a:rPr>
              <a:t>had some correspondence where they both couldn't accept the extremely large lengths found in the </a:t>
            </a:r>
            <a:r>
              <a:rPr lang="en" sz="1200" dirty="0">
                <a:solidFill>
                  <a:srgbClr val="3366CC"/>
                </a:solidFill>
                <a:ea typeface="+mj-lt"/>
                <a:cs typeface="+mj-lt"/>
                <a:hlinkClick r:id="rId53"/>
              </a:rPr>
              <a:t>Puranas</a:t>
            </a:r>
            <a:r>
              <a:rPr lang="en" sz="1200">
                <a:solidFill>
                  <a:srgbClr val="202122"/>
                </a:solidFill>
                <a:ea typeface="+mj-lt"/>
                <a:cs typeface="+mj-lt"/>
              </a:rPr>
              <a:t>. Daniélou mostly cited </a:t>
            </a:r>
            <a:r>
              <a:rPr lang="en" sz="1200" i="1" dirty="0">
                <a:solidFill>
                  <a:srgbClr val="3366CC"/>
                </a:solidFill>
                <a:ea typeface="+mj-lt"/>
                <a:cs typeface="+mj-lt"/>
                <a:hlinkClick r:id="rId152"/>
              </a:rPr>
              <a:t>Linga Purana</a:t>
            </a:r>
            <a:r>
              <a:rPr lang="en" sz="1200" dirty="0">
                <a:solidFill>
                  <a:srgbClr val="202122"/>
                </a:solidFill>
                <a:ea typeface="+mj-lt"/>
                <a:cs typeface="+mj-lt"/>
              </a:rPr>
              <a:t> </a:t>
            </a:r>
            <a:r>
              <a:rPr lang="en" sz="1200">
                <a:solidFill>
                  <a:srgbClr val="202122"/>
                </a:solidFill>
                <a:ea typeface="+mj-lt"/>
                <a:cs typeface="+mj-lt"/>
              </a:rPr>
              <a:t>and his calculations are based on a 4,320,000-year </a:t>
            </a:r>
            <a:r>
              <a:rPr lang="en" sz="1200" i="1">
                <a:solidFill>
                  <a:srgbClr val="202122"/>
                </a:solidFill>
                <a:ea typeface="+mj-lt"/>
                <a:cs typeface="+mj-lt"/>
              </a:rPr>
              <a:t>Yuga</a:t>
            </a:r>
            <a:r>
              <a:rPr lang="en" sz="1200">
                <a:solidFill>
                  <a:srgbClr val="202122"/>
                </a:solidFill>
                <a:ea typeface="+mj-lt"/>
                <a:cs typeface="+mj-lt"/>
              </a:rPr>
              <a:t> Cycle containing (his calculation of 1000 ÷ 14) 71.42 </a:t>
            </a:r>
            <a:r>
              <a:rPr lang="en" sz="1200" i="1" dirty="0">
                <a:solidFill>
                  <a:srgbClr val="3366CC"/>
                </a:solidFill>
                <a:ea typeface="+mj-lt"/>
                <a:cs typeface="+mj-lt"/>
                <a:hlinkClick r:id="rId20"/>
              </a:rPr>
              <a:t>manvantaras</a:t>
            </a:r>
            <a:r>
              <a:rPr lang="en" sz="1200">
                <a:solidFill>
                  <a:srgbClr val="202122"/>
                </a:solidFill>
                <a:ea typeface="+mj-lt"/>
                <a:cs typeface="+mj-lt"/>
              </a:rPr>
              <a:t>, each containing 4 </a:t>
            </a:r>
            <a:r>
              <a:rPr lang="en" sz="1200" i="1">
                <a:solidFill>
                  <a:srgbClr val="202122"/>
                </a:solidFill>
                <a:ea typeface="+mj-lt"/>
                <a:cs typeface="+mj-lt"/>
              </a:rPr>
              <a:t>yugas</a:t>
            </a:r>
            <a:r>
              <a:rPr lang="en" sz="1200">
                <a:solidFill>
                  <a:srgbClr val="202122"/>
                </a:solidFill>
                <a:ea typeface="+mj-lt"/>
                <a:cs typeface="+mj-lt"/>
              </a:rPr>
              <a:t> [4:3:2:1 proportions]. He pegged 3102 BCE as the start of </a:t>
            </a:r>
            <a:r>
              <a:rPr lang="en" sz="1200" i="1">
                <a:solidFill>
                  <a:srgbClr val="202122"/>
                </a:solidFill>
                <a:ea typeface="+mj-lt"/>
                <a:cs typeface="+mj-lt"/>
              </a:rPr>
              <a:t>Kali Yuga</a:t>
            </a:r>
            <a:r>
              <a:rPr lang="en" sz="1200">
                <a:solidFill>
                  <a:srgbClr val="202122"/>
                </a:solidFill>
                <a:ea typeface="+mj-lt"/>
                <a:cs typeface="+mj-lt"/>
              </a:rPr>
              <a:t> and placed it after the dawn (</a:t>
            </a:r>
            <a:r>
              <a:rPr lang="en" sz="1200" i="1">
                <a:solidFill>
                  <a:srgbClr val="202122"/>
                </a:solidFill>
                <a:ea typeface="+mj-lt"/>
                <a:cs typeface="+mj-lt"/>
              </a:rPr>
              <a:t>yuga-sandhya</a:t>
            </a:r>
            <a:r>
              <a:rPr lang="en" sz="1200">
                <a:solidFill>
                  <a:srgbClr val="202122"/>
                </a:solidFill>
                <a:ea typeface="+mj-lt"/>
                <a:cs typeface="+mj-lt"/>
              </a:rPr>
              <a:t>). He claimed his dates are accurate to within 50 years, and that the </a:t>
            </a:r>
            <a:r>
              <a:rPr lang="en" sz="1200" i="1">
                <a:solidFill>
                  <a:srgbClr val="202122"/>
                </a:solidFill>
                <a:ea typeface="+mj-lt"/>
                <a:cs typeface="+mj-lt"/>
              </a:rPr>
              <a:t>Yuga</a:t>
            </a:r>
            <a:r>
              <a:rPr lang="en" sz="1200">
                <a:solidFill>
                  <a:srgbClr val="202122"/>
                </a:solidFill>
                <a:ea typeface="+mj-lt"/>
                <a:cs typeface="+mj-lt"/>
              </a:rPr>
              <a:t> Cycle started with a </a:t>
            </a:r>
            <a:r>
              <a:rPr lang="en" sz="1200" dirty="0">
                <a:solidFill>
                  <a:srgbClr val="3366CC"/>
                </a:solidFill>
                <a:ea typeface="+mj-lt"/>
                <a:cs typeface="+mj-lt"/>
                <a:hlinkClick r:id="rId153"/>
              </a:rPr>
              <a:t>great flood</a:t>
            </a:r>
            <a:r>
              <a:rPr lang="en" sz="1200" dirty="0">
                <a:solidFill>
                  <a:srgbClr val="202122"/>
                </a:solidFill>
                <a:ea typeface="+mj-lt"/>
                <a:cs typeface="+mj-lt"/>
              </a:rPr>
              <a:t> </a:t>
            </a:r>
            <a:r>
              <a:rPr lang="en" sz="1200">
                <a:solidFill>
                  <a:srgbClr val="202122"/>
                </a:solidFill>
                <a:ea typeface="+mj-lt"/>
                <a:cs typeface="+mj-lt"/>
              </a:rPr>
              <a:t>and appearance of </a:t>
            </a:r>
            <a:r>
              <a:rPr lang="en" sz="1200" dirty="0">
                <a:solidFill>
                  <a:srgbClr val="3366CC"/>
                </a:solidFill>
                <a:ea typeface="+mj-lt"/>
                <a:cs typeface="+mj-lt"/>
                <a:hlinkClick r:id="rId154"/>
              </a:rPr>
              <a:t>Cro-Magnon man</a:t>
            </a:r>
            <a:r>
              <a:rPr lang="en" sz="1200">
                <a:solidFill>
                  <a:srgbClr val="202122"/>
                </a:solidFill>
                <a:ea typeface="+mj-lt"/>
                <a:cs typeface="+mj-lt"/>
              </a:rPr>
              <a:t>, and will end with a catastrophe wiping out mankind.</a:t>
            </a:r>
            <a:r>
              <a:rPr lang="en" sz="1000" baseline="30000" dirty="0">
                <a:solidFill>
                  <a:srgbClr val="3366CC"/>
                </a:solidFill>
                <a:ea typeface="+mj-lt"/>
                <a:cs typeface="+mj-lt"/>
                <a:hlinkClick r:id="rId155"/>
              </a:rPr>
              <a:t>[60]</a:t>
            </a:r>
            <a:endParaRPr lang="en-US">
              <a:ea typeface="+mj-lt"/>
              <a:cs typeface="+mj-lt"/>
            </a:endParaRPr>
          </a:p>
          <a:p>
            <a:pPr algn="l"/>
            <a:r>
              <a:rPr lang="en-US"/>
              <a:t>Alain Daniélou's yuga cycle</a:t>
            </a:r>
          </a:p>
          <a:p>
            <a:r>
              <a:rPr lang="en-US" sz="1200" b="1" i="1">
                <a:solidFill>
                  <a:srgbClr val="202122"/>
                </a:solidFill>
              </a:rPr>
              <a:t>Yuga</a:t>
            </a:r>
            <a:endParaRPr lang="en-US"/>
          </a:p>
          <a:p>
            <a:r>
              <a:rPr lang="en-US" sz="1200" b="1">
                <a:solidFill>
                  <a:srgbClr val="202122"/>
                </a:solidFill>
              </a:rPr>
              <a:t>Start (– End)</a:t>
            </a:r>
            <a:endParaRPr lang="en-US"/>
          </a:p>
          <a:p>
            <a:r>
              <a:rPr lang="en-US" sz="1200" b="1">
                <a:solidFill>
                  <a:srgbClr val="202122"/>
                </a:solidFill>
              </a:rPr>
              <a:t>Length</a:t>
            </a:r>
            <a:endParaRPr lang="en-US"/>
          </a:p>
          <a:p>
            <a:pPr algn="l"/>
            <a:r>
              <a:rPr lang="en-US" sz="1200" i="1">
                <a:solidFill>
                  <a:srgbClr val="202122"/>
                </a:solidFill>
              </a:rPr>
              <a:t>Krita (Satya)</a:t>
            </a:r>
            <a:endParaRPr lang="en-US"/>
          </a:p>
          <a:p>
            <a:pPr algn="r"/>
            <a:r>
              <a:rPr lang="en-US" sz="1200">
                <a:solidFill>
                  <a:srgbClr val="202122"/>
                </a:solidFill>
              </a:rPr>
              <a:t>58,042 BCE</a:t>
            </a:r>
            <a:endParaRPr lang="en-US"/>
          </a:p>
          <a:p>
            <a:pPr algn="r"/>
            <a:r>
              <a:rPr lang="en-US" sz="1200" dirty="0">
                <a:solidFill>
                  <a:srgbClr val="202122"/>
                </a:solidFill>
              </a:rPr>
              <a:t>24,195</a:t>
            </a:r>
            <a:endParaRPr lang="en-US" dirty="0"/>
          </a:p>
          <a:p>
            <a:pPr algn="l"/>
            <a:r>
              <a:rPr lang="en-US" sz="1200" i="1">
                <a:solidFill>
                  <a:srgbClr val="202122"/>
                </a:solidFill>
              </a:rPr>
              <a:t>Treta</a:t>
            </a:r>
            <a:endParaRPr lang="en-US"/>
          </a:p>
          <a:p>
            <a:pPr algn="r"/>
            <a:r>
              <a:rPr lang="en-US" sz="1200">
                <a:solidFill>
                  <a:srgbClr val="202122"/>
                </a:solidFill>
              </a:rPr>
              <a:t>33,848 BCE</a:t>
            </a:r>
            <a:endParaRPr lang="en-US"/>
          </a:p>
          <a:p>
            <a:pPr algn="r"/>
            <a:r>
              <a:rPr lang="en-US" sz="1200" dirty="0">
                <a:solidFill>
                  <a:srgbClr val="202122"/>
                </a:solidFill>
              </a:rPr>
              <a:t>18,146</a:t>
            </a:r>
            <a:endParaRPr lang="en-US" dirty="0"/>
          </a:p>
          <a:p>
            <a:pPr algn="l"/>
            <a:r>
              <a:rPr lang="en-US" sz="1200" i="1">
                <a:solidFill>
                  <a:srgbClr val="202122"/>
                </a:solidFill>
              </a:rPr>
              <a:t>Dvapara</a:t>
            </a:r>
            <a:endParaRPr lang="en-US"/>
          </a:p>
          <a:p>
            <a:pPr algn="r"/>
            <a:r>
              <a:rPr lang="en-US" sz="1200">
                <a:solidFill>
                  <a:srgbClr val="202122"/>
                </a:solidFill>
              </a:rPr>
              <a:t>15,703 BCE</a:t>
            </a:r>
            <a:endParaRPr lang="en-US"/>
          </a:p>
          <a:p>
            <a:pPr algn="r"/>
            <a:r>
              <a:rPr lang="en-US" sz="1200" dirty="0">
                <a:solidFill>
                  <a:srgbClr val="202122"/>
                </a:solidFill>
              </a:rPr>
              <a:t>12,097</a:t>
            </a:r>
            <a:endParaRPr lang="en-US" dirty="0"/>
          </a:p>
          <a:p>
            <a:pPr algn="l"/>
            <a:r>
              <a:rPr lang="en-US" sz="1200" i="1">
                <a:solidFill>
                  <a:srgbClr val="202122"/>
                </a:solidFill>
              </a:rPr>
              <a:t>Kali*</a:t>
            </a:r>
            <a:endParaRPr lang="en-US"/>
          </a:p>
          <a:p>
            <a:pPr algn="r"/>
            <a:r>
              <a:rPr lang="en-US" sz="1200">
                <a:solidFill>
                  <a:srgbClr val="202122"/>
                </a:solidFill>
              </a:rPr>
              <a:t>3606 BCE – 2442 CE</a:t>
            </a:r>
            <a:endParaRPr lang="en-US"/>
          </a:p>
          <a:p>
            <a:pPr algn="r"/>
            <a:r>
              <a:rPr lang="en-US" sz="1200" dirty="0">
                <a:solidFill>
                  <a:srgbClr val="202122"/>
                </a:solidFill>
              </a:rPr>
              <a:t>6,048.72</a:t>
            </a:r>
            <a:endParaRPr lang="en-US" dirty="0"/>
          </a:p>
          <a:p>
            <a:pPr algn="r"/>
            <a:r>
              <a:rPr lang="en-US" sz="1200" b="1">
                <a:solidFill>
                  <a:srgbClr val="202122"/>
                </a:solidFill>
              </a:rPr>
              <a:t>Years: 60,487</a:t>
            </a:r>
            <a:endParaRPr lang="en-US"/>
          </a:p>
          <a:p>
            <a:pPr algn="l"/>
            <a:r>
              <a:rPr lang="en-US" sz="800" baseline="30000">
                <a:solidFill>
                  <a:srgbClr val="202122"/>
                </a:solidFill>
              </a:rPr>
              <a:t>(*) Current.</a:t>
            </a:r>
            <a:endParaRPr lang="en-US"/>
          </a:p>
          <a:p>
            <a:pPr algn="r"/>
            <a:r>
              <a:rPr lang="en-US" sz="1000" baseline="30000" dirty="0">
                <a:solidFill>
                  <a:srgbClr val="3366CC"/>
                </a:solidFill>
                <a:hlinkClick r:id="rId80"/>
              </a:rPr>
              <a:t>[e]</a:t>
            </a:r>
            <a:r>
              <a:rPr lang="en-US" sz="1000" baseline="30000" dirty="0">
                <a:solidFill>
                  <a:srgbClr val="3366CC"/>
                </a:solidFill>
                <a:hlinkClick r:id="rId156"/>
              </a:rPr>
              <a:t>[61]</a:t>
            </a:r>
            <a:endParaRPr lang="en-US"/>
          </a:p>
          <a:p>
            <a:r>
              <a:rPr lang="en" sz="1200" dirty="0">
                <a:solidFill>
                  <a:srgbClr val="3366CC"/>
                </a:solidFill>
                <a:ea typeface="+mj-lt"/>
                <a:cs typeface="+mj-lt"/>
                <a:hlinkClick r:id="rId128"/>
              </a:rPr>
              <a:t>Joscelyn Godwin</a:t>
            </a:r>
            <a:r>
              <a:rPr lang="en" sz="1200" dirty="0">
                <a:solidFill>
                  <a:srgbClr val="202122"/>
                </a:solidFill>
                <a:ea typeface="+mj-lt"/>
                <a:cs typeface="+mj-lt"/>
              </a:rPr>
              <a:t> </a:t>
            </a:r>
            <a:r>
              <a:rPr lang="en" sz="1200">
                <a:solidFill>
                  <a:srgbClr val="202122"/>
                </a:solidFill>
                <a:ea typeface="+mj-lt"/>
                <a:cs typeface="+mj-lt"/>
              </a:rPr>
              <a:t>found that Daniélou's misunderstanding rests solely on a bad translation of </a:t>
            </a:r>
            <a:r>
              <a:rPr lang="en" sz="1200" i="1" dirty="0">
                <a:solidFill>
                  <a:srgbClr val="3366CC"/>
                </a:solidFill>
                <a:ea typeface="+mj-lt"/>
                <a:cs typeface="+mj-lt"/>
                <a:hlinkClick r:id="rId152"/>
              </a:rPr>
              <a:t>Linga Purana</a:t>
            </a:r>
            <a:r>
              <a:rPr lang="en" sz="1200" dirty="0">
                <a:solidFill>
                  <a:srgbClr val="202122"/>
                </a:solidFill>
                <a:ea typeface="+mj-lt"/>
                <a:cs typeface="+mj-lt"/>
              </a:rPr>
              <a:t> 1.4.7.</a:t>
            </a:r>
            <a:r>
              <a:rPr lang="en" sz="1000" baseline="30000" dirty="0">
                <a:solidFill>
                  <a:srgbClr val="3366CC"/>
                </a:solidFill>
                <a:ea typeface="+mj-lt"/>
                <a:cs typeface="+mj-lt"/>
                <a:hlinkClick r:id="rId157"/>
              </a:rPr>
              <a:t>[62]</a:t>
            </a:r>
            <a:endParaRPr lang="en-US">
              <a:ea typeface="+mj-lt"/>
              <a:cs typeface="+mj-lt"/>
            </a:endParaRPr>
          </a:p>
          <a:p>
            <a:r>
              <a:rPr lang="en-US"/>
              <a:t>Hindu astronomy</a:t>
            </a:r>
          </a:p>
          <a:p>
            <a:r>
              <a:rPr lang="en" sz="1200">
                <a:solidFill>
                  <a:srgbClr val="202122"/>
                </a:solidFill>
                <a:ea typeface="+mj-lt"/>
                <a:cs typeface="+mj-lt"/>
              </a:rPr>
              <a:t>In the early texts of Hindu astronomy such as </a:t>
            </a:r>
            <a:r>
              <a:rPr lang="en" sz="1200" i="1" dirty="0">
                <a:solidFill>
                  <a:srgbClr val="3366CC"/>
                </a:solidFill>
                <a:ea typeface="+mj-lt"/>
                <a:cs typeface="+mj-lt"/>
                <a:hlinkClick r:id="rId35"/>
              </a:rPr>
              <a:t>Surya Siddhanta</a:t>
            </a:r>
            <a:r>
              <a:rPr lang="en" sz="1200">
                <a:solidFill>
                  <a:srgbClr val="202122"/>
                </a:solidFill>
                <a:ea typeface="+mj-lt"/>
                <a:cs typeface="+mj-lt"/>
              </a:rPr>
              <a:t>, the length of a </a:t>
            </a:r>
            <a:r>
              <a:rPr lang="en" sz="1200" i="1">
                <a:solidFill>
                  <a:srgbClr val="202122"/>
                </a:solidFill>
                <a:ea typeface="+mj-lt"/>
                <a:cs typeface="+mj-lt"/>
              </a:rPr>
              <a:t>yuga</a:t>
            </a:r>
            <a:r>
              <a:rPr lang="en" sz="1200">
                <a:solidFill>
                  <a:srgbClr val="202122"/>
                </a:solidFill>
                <a:ea typeface="+mj-lt"/>
                <a:cs typeface="+mj-lt"/>
              </a:rPr>
              <a:t> cycle is used to specify the orbital period of heavenly bodies. Instead of specifying the period of a single orbit of a heavenly body around the Earth, the number of orbits of a heavenly body in a </a:t>
            </a:r>
            <a:r>
              <a:rPr lang="en" sz="1200" i="1">
                <a:solidFill>
                  <a:srgbClr val="202122"/>
                </a:solidFill>
                <a:ea typeface="+mj-lt"/>
                <a:cs typeface="+mj-lt"/>
              </a:rPr>
              <a:t>yuga</a:t>
            </a:r>
            <a:r>
              <a:rPr lang="en" sz="1200">
                <a:solidFill>
                  <a:srgbClr val="202122"/>
                </a:solidFill>
                <a:ea typeface="+mj-lt"/>
                <a:cs typeface="+mj-lt"/>
              </a:rPr>
              <a:t> cycle is specified.</a:t>
            </a:r>
            <a:endParaRPr lang="en-US"/>
          </a:p>
          <a:p>
            <a:r>
              <a:rPr lang="en" sz="1200" i="1" dirty="0">
                <a:solidFill>
                  <a:srgbClr val="3366CC"/>
                </a:solidFill>
                <a:ea typeface="+mj-lt"/>
                <a:cs typeface="+mj-lt"/>
                <a:hlinkClick r:id="rId35"/>
              </a:rPr>
              <a:t>Surya Siddhanta</a:t>
            </a:r>
            <a:r>
              <a:rPr lang="en" sz="1200">
                <a:solidFill>
                  <a:srgbClr val="202122"/>
                </a:solidFill>
                <a:ea typeface="+mj-lt"/>
                <a:cs typeface="+mj-lt"/>
              </a:rPr>
              <a:t>, Ch. 1:</a:t>
            </a:r>
            <a:r>
              <a:rPr lang="en" sz="1000" baseline="30000" dirty="0">
                <a:solidFill>
                  <a:srgbClr val="3366CC"/>
                </a:solidFill>
                <a:ea typeface="+mj-lt"/>
                <a:cs typeface="+mj-lt"/>
                <a:hlinkClick r:id="rId158"/>
              </a:rPr>
              <a:t>[63]</a:t>
            </a:r>
            <a:endParaRPr lang="en-US"/>
          </a:p>
          <a:p>
            <a:r>
              <a:rPr lang="en" sz="1200">
                <a:solidFill>
                  <a:srgbClr val="202122"/>
                </a:solidFill>
                <a:ea typeface="+mj-lt"/>
                <a:cs typeface="+mj-lt"/>
              </a:rPr>
              <a:t>(29) In an Age (</a:t>
            </a:r>
            <a:r>
              <a:rPr lang="en" sz="1200" i="1">
                <a:solidFill>
                  <a:srgbClr val="202122"/>
                </a:solidFill>
                <a:ea typeface="+mj-lt"/>
                <a:cs typeface="+mj-lt"/>
              </a:rPr>
              <a:t>yuga</a:t>
            </a:r>
            <a:r>
              <a:rPr lang="en" sz="1200">
                <a:solidFill>
                  <a:srgbClr val="202122"/>
                </a:solidFill>
                <a:ea typeface="+mj-lt"/>
                <a:cs typeface="+mj-lt"/>
              </a:rPr>
              <a:t>), the revolutions of the sun, Mercury, and Venus, and of the conjunctions (</a:t>
            </a:r>
            <a:r>
              <a:rPr lang="en" sz="1200" i="1">
                <a:solidFill>
                  <a:srgbClr val="202122"/>
                </a:solidFill>
                <a:ea typeface="+mj-lt"/>
                <a:cs typeface="+mj-lt"/>
              </a:rPr>
              <a:t>shighra</a:t>
            </a:r>
            <a:r>
              <a:rPr lang="en" sz="1200">
                <a:solidFill>
                  <a:srgbClr val="202122"/>
                </a:solidFill>
                <a:ea typeface="+mj-lt"/>
                <a:cs typeface="+mj-lt"/>
              </a:rPr>
              <a:t>) of Mars, Saturn, and Jupiter, moving eastward, are four million, three hundred and twenty thousand; (30) Of the moon, fifty-seven million, seven hundred and fifty-three thousand, three hundred and thirty-six; of Mars, two million, two hundred and ninety-six thousand, eight hundred and thirty-two; (31) Of Mercury's conjunction (</a:t>
            </a:r>
            <a:r>
              <a:rPr lang="en" sz="1200" i="1">
                <a:solidFill>
                  <a:srgbClr val="202122"/>
                </a:solidFill>
                <a:ea typeface="+mj-lt"/>
                <a:cs typeface="+mj-lt"/>
              </a:rPr>
              <a:t>shighra</a:t>
            </a:r>
            <a:r>
              <a:rPr lang="en" sz="1200">
                <a:solidFill>
                  <a:srgbClr val="202122"/>
                </a:solidFill>
                <a:ea typeface="+mj-lt"/>
                <a:cs typeface="+mj-lt"/>
              </a:rPr>
              <a:t>), seventeen million, nine hundred and thirty-seven thousand, and sixty; of Jupiter, three hundred and sixty-four thousand, two hundred and twenty; (32) Of Venus's conjunction (</a:t>
            </a:r>
            <a:r>
              <a:rPr lang="en" sz="1200" i="1">
                <a:solidFill>
                  <a:srgbClr val="202122"/>
                </a:solidFill>
                <a:ea typeface="+mj-lt"/>
                <a:cs typeface="+mj-lt"/>
              </a:rPr>
              <a:t>shigra</a:t>
            </a:r>
            <a:r>
              <a:rPr lang="en" sz="1200">
                <a:solidFill>
                  <a:srgbClr val="202122"/>
                </a:solidFill>
                <a:ea typeface="+mj-lt"/>
                <a:cs typeface="+mj-lt"/>
              </a:rPr>
              <a:t>), seven million, twenty-two thousand, three hundred and seventy-six; of Saturn, one hundred and forty-six thousand, five hundred and sixty-eight; (33) Of the moon's apsis (</a:t>
            </a:r>
            <a:r>
              <a:rPr lang="en" sz="1200" i="1">
                <a:solidFill>
                  <a:srgbClr val="202122"/>
                </a:solidFill>
                <a:ea typeface="+mj-lt"/>
                <a:cs typeface="+mj-lt"/>
              </a:rPr>
              <a:t>ucca</a:t>
            </a:r>
            <a:r>
              <a:rPr lang="en" sz="1200">
                <a:solidFill>
                  <a:srgbClr val="202122"/>
                </a:solidFill>
                <a:ea typeface="+mj-lt"/>
                <a:cs typeface="+mj-lt"/>
              </a:rPr>
              <a:t>), in an Age, four hundred and eighty-eight thousand, two hundred and three; of its node (</a:t>
            </a:r>
            <a:r>
              <a:rPr lang="en" sz="1200" i="1">
                <a:solidFill>
                  <a:srgbClr val="202122"/>
                </a:solidFill>
                <a:ea typeface="+mj-lt"/>
                <a:cs typeface="+mj-lt"/>
              </a:rPr>
              <a:t>pata</a:t>
            </a:r>
            <a:r>
              <a:rPr lang="en" sz="1200">
                <a:solidFill>
                  <a:srgbClr val="202122"/>
                </a:solidFill>
                <a:ea typeface="+mj-lt"/>
                <a:cs typeface="+mj-lt"/>
              </a:rPr>
              <a:t>), in the contrary direction, two hundred and thirty-two thousand, two hundred and thirty-eight; (34) Of the asterisms, one billion, five hundred and eighty-two million, two hundred and thirty-seven thousand, eight hundred and twenty-eight....</a:t>
            </a:r>
            <a:endParaRPr lang="en-US"/>
          </a:p>
          <a:p>
            <a:r>
              <a:rPr lang="en" sz="1200">
                <a:solidFill>
                  <a:srgbClr val="202122"/>
                </a:solidFill>
                <a:ea typeface="+mj-lt"/>
                <a:cs typeface="+mj-lt"/>
              </a:rPr>
              <a:t>The orbital period of heavenly bodies can be derived from the above numbers provided the starting point of a </a:t>
            </a:r>
            <a:r>
              <a:rPr lang="en" sz="1200" i="1">
                <a:solidFill>
                  <a:srgbClr val="202122"/>
                </a:solidFill>
                <a:ea typeface="+mj-lt"/>
                <a:cs typeface="+mj-lt"/>
              </a:rPr>
              <a:t>yuga</a:t>
            </a:r>
            <a:r>
              <a:rPr lang="en" sz="1200">
                <a:solidFill>
                  <a:srgbClr val="202122"/>
                </a:solidFill>
                <a:ea typeface="+mj-lt"/>
                <a:cs typeface="+mj-lt"/>
              </a:rPr>
              <a:t> cycle is known. According to Burgess, the </a:t>
            </a:r>
            <a:r>
              <a:rPr lang="en" sz="1200" i="1">
                <a:solidFill>
                  <a:srgbClr val="202122"/>
                </a:solidFill>
                <a:ea typeface="+mj-lt"/>
                <a:cs typeface="+mj-lt"/>
              </a:rPr>
              <a:t>Surya Siddhanta</a:t>
            </a:r>
            <a:r>
              <a:rPr lang="en" sz="1200">
                <a:solidFill>
                  <a:srgbClr val="202122"/>
                </a:solidFill>
                <a:ea typeface="+mj-lt"/>
                <a:cs typeface="+mj-lt"/>
              </a:rPr>
              <a:t> fixes the starting point of </a:t>
            </a:r>
            <a:r>
              <a:rPr lang="en" sz="1200" i="1" dirty="0">
                <a:solidFill>
                  <a:srgbClr val="3366CC"/>
                </a:solidFill>
                <a:ea typeface="+mj-lt"/>
                <a:cs typeface="+mj-lt"/>
                <a:hlinkClick r:id="rId13"/>
              </a:rPr>
              <a:t>Kali Yuga</a:t>
            </a:r>
            <a:r>
              <a:rPr lang="en" sz="1200" dirty="0">
                <a:solidFill>
                  <a:srgbClr val="202122"/>
                </a:solidFill>
                <a:ea typeface="+mj-lt"/>
                <a:cs typeface="+mj-lt"/>
              </a:rPr>
              <a:t> </a:t>
            </a:r>
            <a:r>
              <a:rPr lang="en" sz="1200">
                <a:solidFill>
                  <a:srgbClr val="202122"/>
                </a:solidFill>
                <a:ea typeface="+mj-lt"/>
                <a:cs typeface="+mj-lt"/>
              </a:rPr>
              <a:t>as:</a:t>
            </a:r>
            <a:endParaRPr lang="en-US">
              <a:ea typeface="+mj-lt"/>
              <a:cs typeface="+mj-lt"/>
            </a:endParaRPr>
          </a:p>
          <a:p>
            <a:r>
              <a:rPr lang="en" sz="1200">
                <a:solidFill>
                  <a:srgbClr val="202122"/>
                </a:solidFill>
                <a:ea typeface="+mj-lt"/>
                <a:cs typeface="+mj-lt"/>
              </a:rPr>
              <a:t>The instant at which the Age is made to commence is midnight on the meridian of Ujjayini, at the end of the 588,465th and beginning of the 588,466th day (civil reckoning) of the Julian Period, or between the 17th and 18th of February 1612 </a:t>
            </a:r>
            <a:r>
              <a:rPr lang="en" sz="1200" dirty="0">
                <a:solidFill>
                  <a:srgbClr val="3366CC"/>
                </a:solidFill>
                <a:ea typeface="+mj-lt"/>
                <a:cs typeface="+mj-lt"/>
                <a:hlinkClick r:id="rId159"/>
              </a:rPr>
              <a:t>J.P.</a:t>
            </a:r>
            <a:r>
              <a:rPr lang="en" sz="1200">
                <a:solidFill>
                  <a:srgbClr val="202122"/>
                </a:solidFill>
                <a:ea typeface="+mj-lt"/>
                <a:cs typeface="+mj-lt"/>
              </a:rPr>
              <a:t>, or 3102 B.C.</a:t>
            </a:r>
            <a:r>
              <a:rPr lang="en" sz="1000" baseline="30000" dirty="0">
                <a:solidFill>
                  <a:srgbClr val="3366CC"/>
                </a:solidFill>
                <a:ea typeface="+mj-lt"/>
                <a:cs typeface="+mj-lt"/>
                <a:hlinkClick r:id="rId160"/>
              </a:rPr>
              <a:t>[64]</a:t>
            </a:r>
            <a:endParaRPr lang="en-US">
              <a:ea typeface="+mj-lt"/>
              <a:cs typeface="+mj-lt"/>
            </a:endParaRPr>
          </a:p>
          <a:p>
            <a:r>
              <a:rPr lang="en" sz="1200">
                <a:solidFill>
                  <a:srgbClr val="202122"/>
                </a:solidFill>
                <a:ea typeface="+mj-lt"/>
                <a:cs typeface="+mj-lt"/>
              </a:rPr>
              <a:t>Based on this starting point, Ebenezer Burgess calculates the following planetary orbital periods:</a:t>
            </a:r>
            <a:endParaRPr lang="en-US"/>
          </a:p>
          <a:p>
            <a:pPr algn="l"/>
            <a:r>
              <a:rPr lang="en-US"/>
              <a:t>Comparative table of sidereal revolutions of the planets (</a:t>
            </a:r>
            <a:r>
              <a:rPr lang="en-US" dirty="0">
                <a:hlinkClick r:id="rId161"/>
              </a:rPr>
              <a:t>geocentric</a:t>
            </a:r>
            <a:r>
              <a:rPr lang="en-US"/>
              <a:t>)</a:t>
            </a:r>
            <a:r>
              <a:rPr lang="en-US" dirty="0">
                <a:hlinkClick r:id="rId161"/>
              </a:rPr>
              <a:t>[65]</a:t>
            </a:r>
            <a:endParaRPr lang="en-US"/>
          </a:p>
          <a:p>
            <a:r>
              <a:rPr lang="en-US" sz="1200" b="1">
                <a:solidFill>
                  <a:srgbClr val="202122"/>
                </a:solidFill>
              </a:rPr>
              <a:t>Planet</a:t>
            </a:r>
            <a:endParaRPr lang="en-US"/>
          </a:p>
          <a:p>
            <a:r>
              <a:rPr lang="en-US" sz="1200" b="1" i="1">
                <a:solidFill>
                  <a:srgbClr val="202122"/>
                </a:solidFill>
              </a:rPr>
              <a:t>Surya Siddhanta</a:t>
            </a:r>
            <a:endParaRPr lang="en-US"/>
          </a:p>
          <a:p>
            <a:r>
              <a:rPr lang="en-US" sz="1200" b="1">
                <a:solidFill>
                  <a:srgbClr val="202122"/>
                </a:solidFill>
              </a:rPr>
              <a:t>Modern</a:t>
            </a:r>
            <a:endParaRPr lang="en-US"/>
          </a:p>
          <a:p>
            <a:r>
              <a:rPr lang="en-US" sz="1200" b="1">
                <a:solidFill>
                  <a:srgbClr val="202122"/>
                </a:solidFill>
              </a:rPr>
              <a:t>Revolutions in</a:t>
            </a:r>
            <a:br>
              <a:rPr lang="en-US" sz="1200" b="1" dirty="0">
                <a:solidFill>
                  <a:srgbClr val="202122"/>
                </a:solidFill>
              </a:rPr>
            </a:br>
            <a:r>
              <a:rPr lang="en-US" sz="1200" b="1">
                <a:solidFill>
                  <a:srgbClr val="202122"/>
                </a:solidFill>
              </a:rPr>
              <a:t>a </a:t>
            </a:r>
            <a:r>
              <a:rPr lang="en-US" sz="1200" b="1" i="1">
                <a:solidFill>
                  <a:srgbClr val="202122"/>
                </a:solidFill>
              </a:rPr>
              <a:t>yuga</a:t>
            </a:r>
            <a:r>
              <a:rPr lang="en-US" sz="1200" b="1">
                <a:solidFill>
                  <a:srgbClr val="202122"/>
                </a:solidFill>
              </a:rPr>
              <a:t> cycle</a:t>
            </a:r>
            <a:endParaRPr lang="en-US"/>
          </a:p>
          <a:p>
            <a:r>
              <a:rPr lang="en-US" sz="1200" b="1">
                <a:solidFill>
                  <a:srgbClr val="202122"/>
                </a:solidFill>
              </a:rPr>
              <a:t>Revolution length</a:t>
            </a:r>
            <a:r>
              <a:rPr lang="en-US" sz="1000" baseline="30000" dirty="0">
                <a:solidFill>
                  <a:srgbClr val="3366CC"/>
                </a:solidFill>
                <a:hlinkClick r:id="rId162"/>
              </a:rPr>
              <a:t>[g]</a:t>
            </a:r>
            <a:br>
              <a:rPr lang="en-US" sz="1000" baseline="30000" dirty="0">
                <a:solidFill>
                  <a:srgbClr val="3366CC"/>
                </a:solidFill>
              </a:rPr>
            </a:br>
            <a:r>
              <a:rPr lang="en-US" sz="1000" baseline="30000">
                <a:solidFill>
                  <a:srgbClr val="3366CC"/>
                </a:solidFill>
              </a:rPr>
              <a:t>(day hr min sec)</a:t>
            </a:r>
            <a:endParaRPr lang="en-US"/>
          </a:p>
          <a:p>
            <a:r>
              <a:rPr lang="en-US" sz="1200" b="1">
                <a:solidFill>
                  <a:srgbClr val="202122"/>
                </a:solidFill>
              </a:rPr>
              <a:t>Orbital period</a:t>
            </a:r>
            <a:br>
              <a:rPr lang="en-US" sz="1200" b="1" dirty="0">
                <a:solidFill>
                  <a:srgbClr val="202122"/>
                </a:solidFill>
              </a:rPr>
            </a:br>
            <a:r>
              <a:rPr lang="en-US" sz="1200" b="1">
                <a:solidFill>
                  <a:srgbClr val="202122"/>
                </a:solidFill>
              </a:rPr>
              <a:t>(day hr min sec)</a:t>
            </a:r>
            <a:endParaRPr lang="en-US"/>
          </a:p>
          <a:p>
            <a:pPr algn="l"/>
            <a:r>
              <a:rPr lang="en-US" sz="1200">
                <a:solidFill>
                  <a:srgbClr val="202122"/>
                </a:solidFill>
              </a:rPr>
              <a:t>Sun</a:t>
            </a:r>
            <a:endParaRPr lang="en-US"/>
          </a:p>
          <a:p>
            <a:pPr algn="r"/>
            <a:r>
              <a:rPr lang="en-US" sz="1200" dirty="0">
                <a:solidFill>
                  <a:srgbClr val="202122"/>
                </a:solidFill>
              </a:rPr>
              <a:t>4,320,000</a:t>
            </a:r>
            <a:endParaRPr lang="en-US" dirty="0"/>
          </a:p>
          <a:p>
            <a:pPr algn="r"/>
            <a:r>
              <a:rPr lang="en-US" sz="1200" dirty="0">
                <a:solidFill>
                  <a:srgbClr val="202122"/>
                </a:solidFill>
              </a:rPr>
              <a:t>365 6 12 36.6</a:t>
            </a:r>
            <a:endParaRPr lang="en-US" dirty="0"/>
          </a:p>
          <a:p>
            <a:pPr algn="r"/>
            <a:r>
              <a:rPr lang="en-US" sz="1200" dirty="0">
                <a:solidFill>
                  <a:srgbClr val="202122"/>
                </a:solidFill>
              </a:rPr>
              <a:t>365 6 9 10.8</a:t>
            </a:r>
            <a:endParaRPr lang="en-US" dirty="0"/>
          </a:p>
          <a:p>
            <a:pPr algn="l"/>
            <a:r>
              <a:rPr lang="en-US" sz="1200">
                <a:solidFill>
                  <a:srgbClr val="202122"/>
                </a:solidFill>
              </a:rPr>
              <a:t>Mercury</a:t>
            </a:r>
            <a:endParaRPr lang="en-US"/>
          </a:p>
          <a:p>
            <a:pPr algn="r"/>
            <a:r>
              <a:rPr lang="en-US" sz="1200" dirty="0">
                <a:solidFill>
                  <a:srgbClr val="202122"/>
                </a:solidFill>
              </a:rPr>
              <a:t>17,937,060</a:t>
            </a:r>
            <a:endParaRPr lang="en-US" dirty="0"/>
          </a:p>
          <a:p>
            <a:pPr algn="r"/>
            <a:r>
              <a:rPr lang="en-US" sz="1200" dirty="0">
                <a:solidFill>
                  <a:srgbClr val="202122"/>
                </a:solidFill>
              </a:rPr>
              <a:t>87 23 16 22.3</a:t>
            </a:r>
            <a:endParaRPr lang="en-US" dirty="0"/>
          </a:p>
          <a:p>
            <a:pPr algn="r"/>
            <a:r>
              <a:rPr lang="en-US" sz="1200" dirty="0">
                <a:solidFill>
                  <a:srgbClr val="202122"/>
                </a:solidFill>
              </a:rPr>
              <a:t>87 23 15 43.9</a:t>
            </a:r>
            <a:endParaRPr lang="en-US" dirty="0"/>
          </a:p>
          <a:p>
            <a:pPr algn="l"/>
            <a:r>
              <a:rPr lang="en-US" sz="1200">
                <a:solidFill>
                  <a:srgbClr val="202122"/>
                </a:solidFill>
              </a:rPr>
              <a:t>Venus</a:t>
            </a:r>
            <a:endParaRPr lang="en-US"/>
          </a:p>
          <a:p>
            <a:pPr algn="r"/>
            <a:r>
              <a:rPr lang="en-US" sz="1200" dirty="0">
                <a:solidFill>
                  <a:srgbClr val="202122"/>
                </a:solidFill>
              </a:rPr>
              <a:t>7,022,376</a:t>
            </a:r>
            <a:endParaRPr lang="en-US" dirty="0"/>
          </a:p>
          <a:p>
            <a:pPr algn="r"/>
            <a:r>
              <a:rPr lang="en-US" sz="1200" dirty="0">
                <a:solidFill>
                  <a:srgbClr val="202122"/>
                </a:solidFill>
              </a:rPr>
              <a:t>224 16 45 56.2</a:t>
            </a:r>
            <a:endParaRPr lang="en-US" dirty="0"/>
          </a:p>
          <a:p>
            <a:pPr algn="r"/>
            <a:r>
              <a:rPr lang="en-US" sz="1200" dirty="0">
                <a:solidFill>
                  <a:srgbClr val="202122"/>
                </a:solidFill>
              </a:rPr>
              <a:t>224 16 49 8.0</a:t>
            </a:r>
            <a:endParaRPr lang="en-US" dirty="0"/>
          </a:p>
          <a:p>
            <a:pPr algn="l"/>
            <a:r>
              <a:rPr lang="en-US" sz="1200">
                <a:solidFill>
                  <a:srgbClr val="202122"/>
                </a:solidFill>
              </a:rPr>
              <a:t>Mars</a:t>
            </a:r>
            <a:endParaRPr lang="en-US"/>
          </a:p>
          <a:p>
            <a:pPr algn="r"/>
            <a:r>
              <a:rPr lang="en-US" sz="1200" dirty="0">
                <a:solidFill>
                  <a:srgbClr val="202122"/>
                </a:solidFill>
              </a:rPr>
              <a:t>2,296,832</a:t>
            </a:r>
            <a:endParaRPr lang="en-US" dirty="0"/>
          </a:p>
          <a:p>
            <a:pPr algn="r"/>
            <a:r>
              <a:rPr lang="en-US" sz="1200" dirty="0">
                <a:solidFill>
                  <a:srgbClr val="202122"/>
                </a:solidFill>
              </a:rPr>
              <a:t>686 23 56 23.5</a:t>
            </a:r>
            <a:endParaRPr lang="en-US" dirty="0"/>
          </a:p>
          <a:p>
            <a:pPr algn="r"/>
            <a:r>
              <a:rPr lang="en-US" sz="1200" dirty="0">
                <a:solidFill>
                  <a:srgbClr val="202122"/>
                </a:solidFill>
              </a:rPr>
              <a:t>686 23 30 41.4</a:t>
            </a:r>
            <a:endParaRPr lang="en-US" dirty="0"/>
          </a:p>
          <a:p>
            <a:pPr algn="l"/>
            <a:r>
              <a:rPr lang="en-US" sz="1200">
                <a:solidFill>
                  <a:srgbClr val="202122"/>
                </a:solidFill>
              </a:rPr>
              <a:t>Jupiter</a:t>
            </a:r>
            <a:endParaRPr lang="en-US"/>
          </a:p>
          <a:p>
            <a:pPr algn="r"/>
            <a:r>
              <a:rPr lang="en-US" sz="1200" dirty="0">
                <a:solidFill>
                  <a:srgbClr val="202122"/>
                </a:solidFill>
              </a:rPr>
              <a:t>364,220</a:t>
            </a:r>
            <a:endParaRPr lang="en-US" dirty="0"/>
          </a:p>
          <a:p>
            <a:pPr algn="r"/>
            <a:r>
              <a:rPr lang="en-US" sz="1200" dirty="0">
                <a:solidFill>
                  <a:srgbClr val="202122"/>
                </a:solidFill>
              </a:rPr>
              <a:t>4,332 7 41 44.4</a:t>
            </a:r>
            <a:endParaRPr lang="en-US" dirty="0"/>
          </a:p>
          <a:p>
            <a:pPr algn="r"/>
            <a:r>
              <a:rPr lang="en-US" sz="1200" dirty="0">
                <a:solidFill>
                  <a:srgbClr val="202122"/>
                </a:solidFill>
              </a:rPr>
              <a:t>4,332 14 2 8.6</a:t>
            </a:r>
            <a:endParaRPr lang="en-US" dirty="0"/>
          </a:p>
          <a:p>
            <a:pPr algn="l"/>
            <a:r>
              <a:rPr lang="en-US" sz="1200">
                <a:solidFill>
                  <a:srgbClr val="202122"/>
                </a:solidFill>
              </a:rPr>
              <a:t>Saturn</a:t>
            </a:r>
            <a:endParaRPr lang="en-US"/>
          </a:p>
          <a:p>
            <a:pPr algn="r"/>
            <a:r>
              <a:rPr lang="en-US" sz="1200" dirty="0">
                <a:solidFill>
                  <a:srgbClr val="202122"/>
                </a:solidFill>
              </a:rPr>
              <a:t>146,568</a:t>
            </a:r>
            <a:endParaRPr lang="en-US" dirty="0"/>
          </a:p>
          <a:p>
            <a:pPr algn="r"/>
            <a:r>
              <a:rPr lang="en-US" sz="1200" dirty="0">
                <a:solidFill>
                  <a:srgbClr val="202122"/>
                </a:solidFill>
              </a:rPr>
              <a:t>10,765 18 33 13.6</a:t>
            </a:r>
            <a:endParaRPr lang="en-US" dirty="0"/>
          </a:p>
          <a:p>
            <a:pPr algn="r"/>
            <a:r>
              <a:rPr lang="en-US" sz="1200" dirty="0">
                <a:solidFill>
                  <a:srgbClr val="202122"/>
                </a:solidFill>
              </a:rPr>
              <a:t>10,759 5 16 32.2</a:t>
            </a:r>
            <a:endParaRPr lang="en-US" dirty="0"/>
          </a:p>
          <a:p>
            <a:pPr algn="l"/>
            <a:r>
              <a:rPr lang="en-US" sz="1200">
                <a:solidFill>
                  <a:srgbClr val="202122"/>
                </a:solidFill>
              </a:rPr>
              <a:t>Moon (sidereal)</a:t>
            </a:r>
            <a:endParaRPr lang="en-US"/>
          </a:p>
          <a:p>
            <a:pPr algn="r"/>
            <a:r>
              <a:rPr lang="en-US" sz="1200" dirty="0">
                <a:solidFill>
                  <a:srgbClr val="202122"/>
                </a:solidFill>
              </a:rPr>
              <a:t>57,753,336</a:t>
            </a:r>
            <a:endParaRPr lang="en-US" dirty="0"/>
          </a:p>
          <a:p>
            <a:pPr algn="r"/>
            <a:r>
              <a:rPr lang="en-US" sz="1200" dirty="0">
                <a:solidFill>
                  <a:srgbClr val="202122"/>
                </a:solidFill>
              </a:rPr>
              <a:t>27 7 43 12.6</a:t>
            </a:r>
            <a:endParaRPr lang="en-US" dirty="0"/>
          </a:p>
          <a:p>
            <a:pPr algn="r"/>
            <a:r>
              <a:rPr lang="en-US" sz="1200" dirty="0">
                <a:solidFill>
                  <a:srgbClr val="202122"/>
                </a:solidFill>
              </a:rPr>
              <a:t>27 7 43 11.4</a:t>
            </a:r>
            <a:endParaRPr lang="en-US" dirty="0"/>
          </a:p>
          <a:p>
            <a:pPr algn="l"/>
            <a:r>
              <a:rPr lang="en-US" sz="1200">
                <a:solidFill>
                  <a:srgbClr val="202122"/>
                </a:solidFill>
              </a:rPr>
              <a:t>Moon (synodic)</a:t>
            </a:r>
            <a:endParaRPr lang="en-US"/>
          </a:p>
          <a:p>
            <a:pPr algn="r"/>
            <a:r>
              <a:rPr lang="en-US" sz="1200" dirty="0">
                <a:solidFill>
                  <a:srgbClr val="202122"/>
                </a:solidFill>
              </a:rPr>
              <a:t>53,433,336</a:t>
            </a:r>
            <a:endParaRPr lang="en-US" dirty="0"/>
          </a:p>
          <a:p>
            <a:pPr algn="r"/>
            <a:r>
              <a:rPr lang="en-US" sz="1200" dirty="0">
                <a:solidFill>
                  <a:srgbClr val="202122"/>
                </a:solidFill>
              </a:rPr>
              <a:t>29 12 44 2.8</a:t>
            </a:r>
            <a:endParaRPr lang="en-US" dirty="0"/>
          </a:p>
          <a:p>
            <a:pPr algn="r"/>
            <a:r>
              <a:rPr lang="en-US" sz="1200" dirty="0">
                <a:solidFill>
                  <a:srgbClr val="202122"/>
                </a:solidFill>
              </a:rPr>
              <a:t>29 12 44 2.9</a:t>
            </a:r>
            <a:endParaRPr lang="en-US" dirty="0"/>
          </a:p>
          <a:p>
            <a:r>
              <a:rPr lang="en-US"/>
              <a:t>Other cultures</a:t>
            </a:r>
          </a:p>
          <a:p>
            <a:r>
              <a:rPr lang="en" sz="1200">
                <a:solidFill>
                  <a:srgbClr val="202122"/>
                </a:solidFill>
                <a:ea typeface="+mj-lt"/>
                <a:cs typeface="+mj-lt"/>
              </a:rPr>
              <a:t>According to Robert Bolton, there is a universal belief in many traditions that the world started in a perfect state, when nature and the supernatural were still in harmony with all things in their fullest degree of perfection possible, which was followed by an unpreventable constant deterioration of the world through the ages.</a:t>
            </a:r>
            <a:r>
              <a:rPr lang="en" sz="1000" baseline="30000" dirty="0">
                <a:solidFill>
                  <a:srgbClr val="3366CC"/>
                </a:solidFill>
                <a:ea typeface="+mj-lt"/>
                <a:cs typeface="+mj-lt"/>
                <a:hlinkClick r:id="rId163"/>
              </a:rPr>
              <a:t>[66]</a:t>
            </a:r>
            <a:endParaRPr lang="en-US"/>
          </a:p>
          <a:p>
            <a:r>
              <a:rPr lang="en" sz="1200">
                <a:solidFill>
                  <a:srgbClr val="202122"/>
                </a:solidFill>
                <a:ea typeface="+mj-lt"/>
                <a:cs typeface="+mj-lt"/>
              </a:rPr>
              <a:t>In the </a:t>
            </a:r>
            <a:r>
              <a:rPr lang="en" sz="1200" i="1" dirty="0">
                <a:solidFill>
                  <a:srgbClr val="3366CC"/>
                </a:solidFill>
                <a:ea typeface="+mj-lt"/>
                <a:cs typeface="+mj-lt"/>
                <a:hlinkClick r:id="rId164"/>
              </a:rPr>
              <a:t>Works and Days</a:t>
            </a:r>
            <a:r>
              <a:rPr lang="en" sz="1200" dirty="0">
                <a:solidFill>
                  <a:srgbClr val="202122"/>
                </a:solidFill>
                <a:ea typeface="+mj-lt"/>
                <a:cs typeface="+mj-lt"/>
              </a:rPr>
              <a:t> </a:t>
            </a:r>
            <a:r>
              <a:rPr lang="en" sz="1200">
                <a:solidFill>
                  <a:srgbClr val="202122"/>
                </a:solidFill>
                <a:ea typeface="+mj-lt"/>
                <a:cs typeface="+mj-lt"/>
              </a:rPr>
              <a:t>(lines 109–201; </a:t>
            </a:r>
            <a:r>
              <a:rPr lang="en" sz="1200" u="sng">
                <a:solidFill>
                  <a:srgbClr val="202122"/>
                </a:solidFill>
                <a:ea typeface="+mj-lt"/>
                <a:cs typeface="+mj-lt"/>
              </a:rPr>
              <a:t>c.</a:t>
            </a:r>
            <a:r>
              <a:rPr lang="en" sz="1200">
                <a:solidFill>
                  <a:srgbClr val="202122"/>
                </a:solidFill>
                <a:ea typeface="+mj-lt"/>
                <a:cs typeface="+mj-lt"/>
              </a:rPr>
              <a:t> 700 BCE), considered the earliest European writing about human ages, the Greek poet </a:t>
            </a:r>
            <a:r>
              <a:rPr lang="en" sz="1200" dirty="0">
                <a:solidFill>
                  <a:srgbClr val="3366CC"/>
                </a:solidFill>
                <a:ea typeface="+mj-lt"/>
                <a:cs typeface="+mj-lt"/>
                <a:hlinkClick r:id="rId165"/>
              </a:rPr>
              <a:t>Hesiod</a:t>
            </a:r>
            <a:r>
              <a:rPr lang="en" sz="1200" dirty="0">
                <a:solidFill>
                  <a:srgbClr val="202122"/>
                </a:solidFill>
                <a:ea typeface="+mj-lt"/>
                <a:cs typeface="+mj-lt"/>
              </a:rPr>
              <a:t> </a:t>
            </a:r>
            <a:r>
              <a:rPr lang="en" sz="1200">
                <a:solidFill>
                  <a:srgbClr val="202122"/>
                </a:solidFill>
                <a:ea typeface="+mj-lt"/>
                <a:cs typeface="+mj-lt"/>
              </a:rPr>
              <a:t>describes </a:t>
            </a:r>
            <a:r>
              <a:rPr lang="en" sz="1200" dirty="0">
                <a:solidFill>
                  <a:srgbClr val="3366CC"/>
                </a:solidFill>
                <a:ea typeface="+mj-lt"/>
                <a:cs typeface="+mj-lt"/>
                <a:hlinkClick r:id="rId166"/>
              </a:rPr>
              <a:t>five ages</a:t>
            </a:r>
            <a:r>
              <a:rPr lang="en" sz="1200" dirty="0">
                <a:solidFill>
                  <a:srgbClr val="202122"/>
                </a:solidFill>
                <a:ea typeface="+mj-lt"/>
                <a:cs typeface="+mj-lt"/>
              </a:rPr>
              <a:t> </a:t>
            </a:r>
            <a:r>
              <a:rPr lang="en" sz="1200">
                <a:solidFill>
                  <a:srgbClr val="202122"/>
                </a:solidFill>
                <a:ea typeface="+mj-lt"/>
                <a:cs typeface="+mj-lt"/>
              </a:rPr>
              <a:t>(</a:t>
            </a:r>
            <a:r>
              <a:rPr lang="en" sz="1200" dirty="0">
                <a:solidFill>
                  <a:srgbClr val="3366CC"/>
                </a:solidFill>
                <a:ea typeface="+mj-lt"/>
                <a:cs typeface="+mj-lt"/>
                <a:hlinkClick r:id="rId167"/>
              </a:rPr>
              <a:t>Golden</a:t>
            </a:r>
            <a:r>
              <a:rPr lang="en" sz="1200" dirty="0">
                <a:solidFill>
                  <a:srgbClr val="202122"/>
                </a:solidFill>
                <a:ea typeface="+mj-lt"/>
                <a:cs typeface="+mj-lt"/>
              </a:rPr>
              <a:t>, </a:t>
            </a:r>
            <a:r>
              <a:rPr lang="en" sz="1200" dirty="0">
                <a:solidFill>
                  <a:srgbClr val="3366CC"/>
                </a:solidFill>
                <a:ea typeface="+mj-lt"/>
                <a:cs typeface="+mj-lt"/>
                <a:hlinkClick r:id="rId168"/>
              </a:rPr>
              <a:t>Silver</a:t>
            </a:r>
            <a:r>
              <a:rPr lang="en" sz="1200">
                <a:solidFill>
                  <a:srgbClr val="202122"/>
                </a:solidFill>
                <a:ea typeface="+mj-lt"/>
                <a:cs typeface="+mj-lt"/>
              </a:rPr>
              <a:t>, Bronze, </a:t>
            </a:r>
            <a:r>
              <a:rPr lang="en" sz="1200" dirty="0">
                <a:solidFill>
                  <a:srgbClr val="3366CC"/>
                </a:solidFill>
                <a:ea typeface="+mj-lt"/>
                <a:cs typeface="+mj-lt"/>
                <a:hlinkClick r:id="rId169"/>
              </a:rPr>
              <a:t>Heroic</a:t>
            </a:r>
            <a:r>
              <a:rPr lang="en" sz="1200">
                <a:solidFill>
                  <a:srgbClr val="202122"/>
                </a:solidFill>
                <a:ea typeface="+mj-lt"/>
                <a:cs typeface="+mj-lt"/>
              </a:rPr>
              <a:t>, and Iron Ages), where the Heroic Age was added, according to Godwin, as a compromise with </a:t>
            </a:r>
            <a:r>
              <a:rPr lang="en" sz="1200" dirty="0">
                <a:solidFill>
                  <a:srgbClr val="3366CC"/>
                </a:solidFill>
                <a:ea typeface="+mj-lt"/>
                <a:cs typeface="+mj-lt"/>
                <a:hlinkClick r:id="rId170"/>
              </a:rPr>
              <a:t>Greek history</a:t>
            </a:r>
            <a:r>
              <a:rPr lang="en" sz="1200" dirty="0">
                <a:solidFill>
                  <a:srgbClr val="202122"/>
                </a:solidFill>
                <a:ea typeface="+mj-lt"/>
                <a:cs typeface="+mj-lt"/>
              </a:rPr>
              <a:t> </a:t>
            </a:r>
            <a:r>
              <a:rPr lang="en" sz="1200">
                <a:solidFill>
                  <a:srgbClr val="202122"/>
                </a:solidFill>
                <a:ea typeface="+mj-lt"/>
                <a:cs typeface="+mj-lt"/>
              </a:rPr>
              <a:t>when the </a:t>
            </a:r>
            <a:r>
              <a:rPr lang="en" sz="1200" dirty="0">
                <a:solidFill>
                  <a:srgbClr val="3366CC"/>
                </a:solidFill>
                <a:ea typeface="+mj-lt"/>
                <a:cs typeface="+mj-lt"/>
                <a:hlinkClick r:id="rId171"/>
              </a:rPr>
              <a:t>Trojan War</a:t>
            </a:r>
            <a:r>
              <a:rPr lang="en" sz="1200" dirty="0">
                <a:solidFill>
                  <a:srgbClr val="202122"/>
                </a:solidFill>
                <a:ea typeface="+mj-lt"/>
                <a:cs typeface="+mj-lt"/>
              </a:rPr>
              <a:t> </a:t>
            </a:r>
            <a:r>
              <a:rPr lang="en" sz="1200">
                <a:solidFill>
                  <a:srgbClr val="202122"/>
                </a:solidFill>
                <a:ea typeface="+mj-lt"/>
                <a:cs typeface="+mj-lt"/>
              </a:rPr>
              <a:t>and its heroes loomed so large.</a:t>
            </a:r>
            <a:r>
              <a:rPr lang="en" sz="1000" baseline="30000" dirty="0">
                <a:solidFill>
                  <a:srgbClr val="3366CC"/>
                </a:solidFill>
                <a:ea typeface="+mj-lt"/>
                <a:cs typeface="+mj-lt"/>
                <a:hlinkClick r:id="rId172"/>
              </a:rPr>
              <a:t>[67]</a:t>
            </a:r>
            <a:r>
              <a:rPr lang="en" sz="1200" dirty="0">
                <a:solidFill>
                  <a:srgbClr val="202122"/>
                </a:solidFill>
                <a:ea typeface="+mj-lt"/>
                <a:cs typeface="+mj-lt"/>
              </a:rPr>
              <a:t> </a:t>
            </a:r>
            <a:r>
              <a:rPr lang="en" sz="1200">
                <a:solidFill>
                  <a:srgbClr val="202122"/>
                </a:solidFill>
                <a:ea typeface="+mj-lt"/>
                <a:cs typeface="+mj-lt"/>
              </a:rPr>
              <a:t>Bolton explains that the men of the Golden Age lived like gods without sorrow, toil, grief, and old age, while the men of the Iron Age ("the race of iron") never rest from labor and sorrow, are degenerated without shame, morality, and righteous indignation, and have short lives with frequent deaths at night, where even a new-born baby shows signs of old age, only to end when Zeus destroys it all.</a:t>
            </a:r>
            <a:r>
              <a:rPr lang="en" sz="1000" baseline="30000" dirty="0">
                <a:solidFill>
                  <a:srgbClr val="3366CC"/>
                </a:solidFill>
                <a:ea typeface="+mj-lt"/>
                <a:cs typeface="+mj-lt"/>
                <a:hlinkClick r:id="rId173"/>
              </a:rPr>
              <a:t>[68]</a:t>
            </a:r>
            <a:endParaRPr lang="en-US">
              <a:ea typeface="+mj-lt"/>
              <a:cs typeface="+mj-lt"/>
            </a:endParaRPr>
          </a:p>
          <a:p>
            <a:r>
              <a:rPr lang="en" sz="1200">
                <a:solidFill>
                  <a:srgbClr val="202122"/>
                </a:solidFill>
                <a:ea typeface="+mj-lt"/>
                <a:cs typeface="+mj-lt"/>
              </a:rPr>
              <a:t>In the </a:t>
            </a:r>
            <a:r>
              <a:rPr lang="en" sz="1200" i="1" dirty="0">
                <a:solidFill>
                  <a:srgbClr val="3366CC"/>
                </a:solidFill>
                <a:ea typeface="+mj-lt"/>
                <a:cs typeface="+mj-lt"/>
                <a:hlinkClick r:id="rId174"/>
              </a:rPr>
              <a:t>Statesman</a:t>
            </a:r>
            <a:r>
              <a:rPr lang="en" sz="1200" dirty="0">
                <a:solidFill>
                  <a:srgbClr val="202122"/>
                </a:solidFill>
                <a:ea typeface="+mj-lt"/>
                <a:cs typeface="+mj-lt"/>
              </a:rPr>
              <a:t> </a:t>
            </a:r>
            <a:r>
              <a:rPr lang="en" sz="1200">
                <a:solidFill>
                  <a:srgbClr val="202122"/>
                </a:solidFill>
                <a:ea typeface="+mj-lt"/>
                <a:cs typeface="+mj-lt"/>
              </a:rPr>
              <a:t>(</a:t>
            </a:r>
            <a:r>
              <a:rPr lang="en" sz="1200" u="sng">
                <a:solidFill>
                  <a:srgbClr val="202122"/>
                </a:solidFill>
                <a:ea typeface="+mj-lt"/>
                <a:cs typeface="+mj-lt"/>
              </a:rPr>
              <a:t>c.</a:t>
            </a:r>
            <a:r>
              <a:rPr lang="en" sz="1200">
                <a:solidFill>
                  <a:srgbClr val="202122"/>
                </a:solidFill>
                <a:ea typeface="+mj-lt"/>
                <a:cs typeface="+mj-lt"/>
              </a:rPr>
              <a:t> 399 – c. 347 BCE), the Athenian philosopher </a:t>
            </a:r>
            <a:r>
              <a:rPr lang="en" sz="1200" dirty="0">
                <a:solidFill>
                  <a:srgbClr val="3366CC"/>
                </a:solidFill>
                <a:ea typeface="+mj-lt"/>
                <a:cs typeface="+mj-lt"/>
                <a:hlinkClick r:id="rId175"/>
              </a:rPr>
              <a:t>Plato</a:t>
            </a:r>
            <a:r>
              <a:rPr lang="en" sz="1200" dirty="0">
                <a:solidFill>
                  <a:srgbClr val="202122"/>
                </a:solidFill>
                <a:ea typeface="+mj-lt"/>
                <a:cs typeface="+mj-lt"/>
              </a:rPr>
              <a:t> </a:t>
            </a:r>
            <a:r>
              <a:rPr lang="en" sz="1200">
                <a:solidFill>
                  <a:srgbClr val="202122"/>
                </a:solidFill>
                <a:ea typeface="+mj-lt"/>
                <a:cs typeface="+mj-lt"/>
              </a:rPr>
              <a:t>describes time as an indefinite cycle of two 36,000-year halves: (1) the world's unmaking descent into chaos and destruction; (2) the world's remaking by its creator into a renewed state.</a:t>
            </a:r>
            <a:r>
              <a:rPr lang="en" sz="1000" baseline="30000" dirty="0">
                <a:solidFill>
                  <a:srgbClr val="3366CC"/>
                </a:solidFill>
                <a:ea typeface="+mj-lt"/>
                <a:cs typeface="+mj-lt"/>
                <a:hlinkClick r:id="rId176"/>
              </a:rPr>
              <a:t>[69]</a:t>
            </a:r>
            <a:r>
              <a:rPr lang="en" sz="1200" dirty="0">
                <a:solidFill>
                  <a:srgbClr val="202122"/>
                </a:solidFill>
                <a:ea typeface="+mj-lt"/>
                <a:cs typeface="+mj-lt"/>
              </a:rPr>
              <a:t> </a:t>
            </a:r>
            <a:r>
              <a:rPr lang="en" sz="1200">
                <a:solidFill>
                  <a:srgbClr val="202122"/>
                </a:solidFill>
                <a:ea typeface="+mj-lt"/>
                <a:cs typeface="+mj-lt"/>
              </a:rPr>
              <a:t>In the </a:t>
            </a:r>
            <a:r>
              <a:rPr lang="en" sz="1200" i="1" dirty="0">
                <a:solidFill>
                  <a:srgbClr val="3366CC"/>
                </a:solidFill>
                <a:ea typeface="+mj-lt"/>
                <a:cs typeface="+mj-lt"/>
                <a:hlinkClick r:id="rId177"/>
              </a:rPr>
              <a:t>Cratylus</a:t>
            </a:r>
            <a:r>
              <a:rPr lang="en" sz="1200" dirty="0">
                <a:solidFill>
                  <a:srgbClr val="202122"/>
                </a:solidFill>
                <a:ea typeface="+mj-lt"/>
                <a:cs typeface="+mj-lt"/>
              </a:rPr>
              <a:t> </a:t>
            </a:r>
            <a:r>
              <a:rPr lang="en" sz="1200">
                <a:solidFill>
                  <a:srgbClr val="202122"/>
                </a:solidFill>
                <a:ea typeface="+mj-lt"/>
                <a:cs typeface="+mj-lt"/>
              </a:rPr>
              <a:t>(397e), Plato recounts the golden race of men who came first, who were noble and good </a:t>
            </a:r>
            <a:r>
              <a:rPr lang="en" sz="1200" dirty="0">
                <a:solidFill>
                  <a:srgbClr val="3366CC"/>
                </a:solidFill>
                <a:ea typeface="+mj-lt"/>
                <a:cs typeface="+mj-lt"/>
                <a:hlinkClick r:id="rId178"/>
              </a:rPr>
              <a:t>daemons</a:t>
            </a:r>
            <a:r>
              <a:rPr lang="en" sz="1200" dirty="0">
                <a:solidFill>
                  <a:srgbClr val="202122"/>
                </a:solidFill>
                <a:ea typeface="+mj-lt"/>
                <a:cs typeface="+mj-lt"/>
              </a:rPr>
              <a:t> </a:t>
            </a:r>
            <a:r>
              <a:rPr lang="en" sz="1200">
                <a:solidFill>
                  <a:srgbClr val="202122"/>
                </a:solidFill>
                <a:ea typeface="+mj-lt"/>
                <a:cs typeface="+mj-lt"/>
              </a:rPr>
              <a:t>(godlike guides) upon the earth.</a:t>
            </a:r>
            <a:endParaRPr lang="en-US">
              <a:ea typeface="+mj-lt"/>
              <a:cs typeface="+mj-lt"/>
            </a:endParaRPr>
          </a:p>
          <a:p>
            <a:r>
              <a:rPr lang="en" sz="1200">
                <a:solidFill>
                  <a:srgbClr val="202122"/>
                </a:solidFill>
                <a:ea typeface="+mj-lt"/>
                <a:cs typeface="+mj-lt"/>
              </a:rPr>
              <a:t>In the </a:t>
            </a:r>
            <a:r>
              <a:rPr lang="en" sz="1200" i="1" dirty="0">
                <a:solidFill>
                  <a:srgbClr val="3366CC"/>
                </a:solidFill>
                <a:ea typeface="+mj-lt"/>
                <a:cs typeface="+mj-lt"/>
                <a:hlinkClick r:id="rId179"/>
              </a:rPr>
              <a:t>Metamorphoses</a:t>
            </a:r>
            <a:r>
              <a:rPr lang="en" sz="1200" dirty="0">
                <a:solidFill>
                  <a:srgbClr val="202122"/>
                </a:solidFill>
                <a:ea typeface="+mj-lt"/>
                <a:cs typeface="+mj-lt"/>
              </a:rPr>
              <a:t> </a:t>
            </a:r>
            <a:r>
              <a:rPr lang="en" sz="1200">
                <a:solidFill>
                  <a:srgbClr val="202122"/>
                </a:solidFill>
                <a:ea typeface="+mj-lt"/>
                <a:cs typeface="+mj-lt"/>
              </a:rPr>
              <a:t>(I, 89–150; </a:t>
            </a:r>
            <a:r>
              <a:rPr lang="en" sz="1200" u="sng">
                <a:solidFill>
                  <a:srgbClr val="202122"/>
                </a:solidFill>
                <a:ea typeface="+mj-lt"/>
                <a:cs typeface="+mj-lt"/>
              </a:rPr>
              <a:t>c.</a:t>
            </a:r>
            <a:r>
              <a:rPr lang="en" sz="1200">
                <a:solidFill>
                  <a:srgbClr val="202122"/>
                </a:solidFill>
                <a:ea typeface="+mj-lt"/>
                <a:cs typeface="+mj-lt"/>
              </a:rPr>
              <a:t> 8 BCE), the Roman poet </a:t>
            </a:r>
            <a:r>
              <a:rPr lang="en" sz="1200" dirty="0">
                <a:solidFill>
                  <a:srgbClr val="3366CC"/>
                </a:solidFill>
                <a:ea typeface="+mj-lt"/>
                <a:cs typeface="+mj-lt"/>
                <a:hlinkClick r:id="rId180"/>
              </a:rPr>
              <a:t>Ovid</a:t>
            </a:r>
            <a:r>
              <a:rPr lang="en" sz="1200" dirty="0">
                <a:solidFill>
                  <a:srgbClr val="202122"/>
                </a:solidFill>
                <a:ea typeface="+mj-lt"/>
                <a:cs typeface="+mj-lt"/>
              </a:rPr>
              <a:t> </a:t>
            </a:r>
            <a:r>
              <a:rPr lang="en" sz="1200">
                <a:solidFill>
                  <a:srgbClr val="202122"/>
                </a:solidFill>
                <a:ea typeface="+mj-lt"/>
                <a:cs typeface="+mj-lt"/>
              </a:rPr>
              <a:t>describes </a:t>
            </a:r>
            <a:r>
              <a:rPr lang="en" sz="1200" dirty="0">
                <a:solidFill>
                  <a:srgbClr val="3366CC"/>
                </a:solidFill>
                <a:ea typeface="+mj-lt"/>
                <a:cs typeface="+mj-lt"/>
                <a:hlinkClick r:id="rId181"/>
              </a:rPr>
              <a:t>four ages</a:t>
            </a:r>
            <a:r>
              <a:rPr lang="en" sz="1200" dirty="0">
                <a:solidFill>
                  <a:srgbClr val="202122"/>
                </a:solidFill>
                <a:ea typeface="+mj-lt"/>
                <a:cs typeface="+mj-lt"/>
              </a:rPr>
              <a:t> </a:t>
            </a:r>
            <a:r>
              <a:rPr lang="en" sz="1200">
                <a:solidFill>
                  <a:srgbClr val="202122"/>
                </a:solidFill>
                <a:ea typeface="+mj-lt"/>
                <a:cs typeface="+mj-lt"/>
              </a:rPr>
              <a:t>(</a:t>
            </a:r>
            <a:r>
              <a:rPr lang="en" sz="1200" dirty="0">
                <a:solidFill>
                  <a:srgbClr val="3366CC"/>
                </a:solidFill>
                <a:ea typeface="+mj-lt"/>
                <a:cs typeface="+mj-lt"/>
                <a:hlinkClick r:id="rId167"/>
              </a:rPr>
              <a:t>Golden</a:t>
            </a:r>
            <a:r>
              <a:rPr lang="en" sz="1200" dirty="0">
                <a:solidFill>
                  <a:srgbClr val="202122"/>
                </a:solidFill>
                <a:ea typeface="+mj-lt"/>
                <a:cs typeface="+mj-lt"/>
              </a:rPr>
              <a:t>, </a:t>
            </a:r>
            <a:r>
              <a:rPr lang="en" sz="1200" dirty="0">
                <a:solidFill>
                  <a:srgbClr val="3366CC"/>
                </a:solidFill>
                <a:ea typeface="+mj-lt"/>
                <a:cs typeface="+mj-lt"/>
                <a:hlinkClick r:id="rId168"/>
              </a:rPr>
              <a:t>Silver</a:t>
            </a:r>
            <a:r>
              <a:rPr lang="en" sz="1200">
                <a:solidFill>
                  <a:srgbClr val="202122"/>
                </a:solidFill>
                <a:ea typeface="+mj-lt"/>
                <a:cs typeface="+mj-lt"/>
              </a:rPr>
              <a:t>, Bronze, and Iron Ages), excluding Hesiod's </a:t>
            </a:r>
            <a:r>
              <a:rPr lang="en" sz="1200" dirty="0">
                <a:solidFill>
                  <a:srgbClr val="3366CC"/>
                </a:solidFill>
                <a:ea typeface="+mj-lt"/>
                <a:cs typeface="+mj-lt"/>
                <a:hlinkClick r:id="rId169"/>
              </a:rPr>
              <a:t>Heroic Age</a:t>
            </a:r>
            <a:r>
              <a:rPr lang="en" sz="1200">
                <a:solidFill>
                  <a:srgbClr val="202122"/>
                </a:solidFill>
                <a:ea typeface="+mj-lt"/>
                <a:cs typeface="+mj-lt"/>
              </a:rPr>
              <a:t>, as a downward curve with the present time as the nadir of misery and immorality, according to Godwin, affecting both human life and the after-death state, where deaths in the first two ages became immortal, watchful spirits that benefited the human race, deaths in the third age went to </a:t>
            </a:r>
            <a:r>
              <a:rPr lang="en" sz="1200" dirty="0">
                <a:solidFill>
                  <a:srgbClr val="3366CC"/>
                </a:solidFill>
                <a:ea typeface="+mj-lt"/>
                <a:cs typeface="+mj-lt"/>
                <a:hlinkClick r:id="rId182"/>
              </a:rPr>
              <a:t>Hades</a:t>
            </a:r>
            <a:r>
              <a:rPr lang="en" sz="1200" dirty="0">
                <a:solidFill>
                  <a:srgbClr val="202122"/>
                </a:solidFill>
                <a:ea typeface="+mj-lt"/>
                <a:cs typeface="+mj-lt"/>
              </a:rPr>
              <a:t> </a:t>
            </a:r>
            <a:r>
              <a:rPr lang="en" sz="1200">
                <a:solidFill>
                  <a:srgbClr val="202122"/>
                </a:solidFill>
                <a:ea typeface="+mj-lt"/>
                <a:cs typeface="+mj-lt"/>
              </a:rPr>
              <a:t>(Greek god of the underworld), and deaths in the fourth age had an unknown fate.</a:t>
            </a:r>
            <a:r>
              <a:rPr lang="en" sz="1000" baseline="30000" dirty="0">
                <a:solidFill>
                  <a:srgbClr val="3366CC"/>
                </a:solidFill>
                <a:ea typeface="+mj-lt"/>
                <a:cs typeface="+mj-lt"/>
                <a:hlinkClick r:id="rId183"/>
              </a:rPr>
              <a:t>[70]</a:t>
            </a:r>
            <a:endParaRPr lang="en-US">
              <a:ea typeface="+mj-lt"/>
              <a:cs typeface="+mj-lt"/>
            </a:endParaRPr>
          </a:p>
          <a:p>
            <a:r>
              <a:rPr lang="en" sz="1200" dirty="0">
                <a:solidFill>
                  <a:srgbClr val="3366CC"/>
                </a:solidFill>
                <a:ea typeface="+mj-lt"/>
                <a:cs typeface="+mj-lt"/>
                <a:hlinkClick r:id="rId128"/>
              </a:rPr>
              <a:t>Joscelyn Godwin</a:t>
            </a:r>
            <a:r>
              <a:rPr lang="en" sz="1200" dirty="0">
                <a:solidFill>
                  <a:srgbClr val="202122"/>
                </a:solidFill>
                <a:ea typeface="+mj-lt"/>
                <a:cs typeface="+mj-lt"/>
              </a:rPr>
              <a:t> </a:t>
            </a:r>
            <a:r>
              <a:rPr lang="en" sz="1200">
                <a:solidFill>
                  <a:srgbClr val="202122"/>
                </a:solidFill>
                <a:ea typeface="+mj-lt"/>
                <a:cs typeface="+mj-lt"/>
              </a:rPr>
              <a:t>posits that it is probably from Hindu tradition that knowledge of the ages reached the Greeks and other Indo-European peoples.</a:t>
            </a:r>
            <a:r>
              <a:rPr lang="en" sz="1000" baseline="30000" dirty="0">
                <a:solidFill>
                  <a:srgbClr val="3366CC"/>
                </a:solidFill>
                <a:ea typeface="+mj-lt"/>
                <a:cs typeface="+mj-lt"/>
                <a:hlinkClick r:id="rId183"/>
              </a:rPr>
              <a:t>[70]</a:t>
            </a:r>
            <a:r>
              <a:rPr lang="en" sz="1200" dirty="0">
                <a:solidFill>
                  <a:srgbClr val="202122"/>
                </a:solidFill>
                <a:ea typeface="+mj-lt"/>
                <a:cs typeface="+mj-lt"/>
              </a:rPr>
              <a:t> </a:t>
            </a:r>
            <a:r>
              <a:rPr lang="en" sz="1200">
                <a:solidFill>
                  <a:srgbClr val="202122"/>
                </a:solidFill>
                <a:ea typeface="+mj-lt"/>
                <a:cs typeface="+mj-lt"/>
              </a:rPr>
              <a:t>Godwin adds that the number 432,000 (</a:t>
            </a:r>
            <a:r>
              <a:rPr lang="en" sz="1200" i="1" dirty="0">
                <a:solidFill>
                  <a:srgbClr val="3366CC"/>
                </a:solidFill>
                <a:ea typeface="+mj-lt"/>
                <a:cs typeface="+mj-lt"/>
                <a:hlinkClick r:id="rId13"/>
              </a:rPr>
              <a:t>Kali Yuga</a:t>
            </a:r>
            <a:r>
              <a:rPr lang="en" sz="1200" i="1">
                <a:solidFill>
                  <a:srgbClr val="202122"/>
                </a:solidFill>
                <a:ea typeface="+mj-lt"/>
                <a:cs typeface="+mj-lt"/>
              </a:rPr>
              <a:t>'s</a:t>
            </a:r>
            <a:r>
              <a:rPr lang="en" sz="1200">
                <a:solidFill>
                  <a:srgbClr val="202122"/>
                </a:solidFill>
                <a:ea typeface="+mj-lt"/>
                <a:cs typeface="+mj-lt"/>
              </a:rPr>
              <a:t> duration) occurring in four widely separated cultures (Hindu, Chaldean, Chinese, and Icelandic) has long been noticed.</a:t>
            </a:r>
            <a:r>
              <a:rPr lang="en" sz="1000" baseline="30000" dirty="0">
                <a:solidFill>
                  <a:srgbClr val="3366CC"/>
                </a:solidFill>
                <a:ea typeface="+mj-lt"/>
                <a:cs typeface="+mj-lt"/>
                <a:hlinkClick r:id="rId184"/>
              </a:rPr>
              <a:t>[71]</a:t>
            </a:r>
            <a:endParaRPr lang="en-US">
              <a:ea typeface="+mj-lt"/>
              <a:cs typeface="+mj-lt"/>
            </a:endParaRPr>
          </a:p>
          <a:p>
            <a:r>
              <a:rPr lang="en-US"/>
              <a:t>See also</a:t>
            </a:r>
          </a:p>
          <a:p>
            <a:r>
              <a:rPr lang="en" sz="1000" b="1" i="1" dirty="0">
                <a:solidFill>
                  <a:srgbClr val="3366CC"/>
                </a:solidFill>
                <a:ea typeface="+mj-lt"/>
                <a:cs typeface="+mj-lt"/>
                <a:hlinkClick r:id="rId185"/>
              </a:rPr>
              <a:t>Hinduism portal</a:t>
            </a:r>
            <a:endParaRPr lang="en-US"/>
          </a:p>
          <a:p>
            <a:r>
              <a:rPr lang="en" sz="1000" b="1" i="1" dirty="0">
                <a:solidFill>
                  <a:srgbClr val="3366CC"/>
                </a:solidFill>
                <a:ea typeface="+mj-lt"/>
                <a:cs typeface="+mj-lt"/>
                <a:hlinkClick r:id="rId186"/>
              </a:rPr>
              <a:t>India portal</a:t>
            </a:r>
            <a:endParaRPr lang="en-US"/>
          </a:p>
          <a:p>
            <a:pPr marL="285750" indent="-285750">
              <a:buFont typeface="Arial"/>
              <a:buChar char="•"/>
            </a:pPr>
            <a:r>
              <a:rPr lang="en" sz="1200" dirty="0">
                <a:solidFill>
                  <a:srgbClr val="3366CC"/>
                </a:solidFill>
                <a:ea typeface="+mj-lt"/>
                <a:cs typeface="+mj-lt"/>
                <a:hlinkClick r:id="rId187"/>
              </a:rPr>
              <a:t>Hindu eschatology</a:t>
            </a:r>
            <a:endParaRPr lang="en-US"/>
          </a:p>
          <a:p>
            <a:pPr marL="285750" indent="-285750">
              <a:buFont typeface="Arial"/>
              <a:buChar char="•"/>
            </a:pPr>
            <a:r>
              <a:rPr lang="en" sz="1200" dirty="0">
                <a:solidFill>
                  <a:srgbClr val="3366CC"/>
                </a:solidFill>
                <a:ea typeface="+mj-lt"/>
                <a:cs typeface="+mj-lt"/>
                <a:hlinkClick r:id="rId6"/>
              </a:rPr>
              <a:t>Hindu units of time</a:t>
            </a:r>
            <a:endParaRPr lang="en-US"/>
          </a:p>
          <a:p>
            <a:pPr marL="285750" lvl="1" indent="-285750">
              <a:buFont typeface="Arial"/>
              <a:buChar char="•"/>
            </a:pPr>
            <a:r>
              <a:rPr lang="en" sz="1200" dirty="0">
                <a:solidFill>
                  <a:srgbClr val="3366CC"/>
                </a:solidFill>
                <a:latin typeface="+mj-lt"/>
                <a:ea typeface="+mj-lt"/>
                <a:cs typeface="+mj-lt"/>
                <a:hlinkClick r:id="rId22"/>
              </a:rPr>
              <a:t>Kalpa</a:t>
            </a:r>
            <a:r>
              <a:rPr lang="en" sz="1200" dirty="0">
                <a:solidFill>
                  <a:srgbClr val="202122"/>
                </a:solidFill>
                <a:latin typeface="+mj-lt"/>
                <a:ea typeface="+mj-lt"/>
                <a:cs typeface="+mj-lt"/>
              </a:rPr>
              <a:t> </a:t>
            </a:r>
            <a:r>
              <a:rPr lang="en" sz="1200">
                <a:solidFill>
                  <a:srgbClr val="202122"/>
                </a:solidFill>
                <a:latin typeface="+mj-lt"/>
                <a:ea typeface="+mj-lt"/>
                <a:cs typeface="+mj-lt"/>
              </a:rPr>
              <a:t>(day of </a:t>
            </a:r>
            <a:r>
              <a:rPr lang="en" sz="1200" dirty="0">
                <a:solidFill>
                  <a:srgbClr val="3366CC"/>
                </a:solidFill>
                <a:latin typeface="+mj-lt"/>
                <a:ea typeface="+mj-lt"/>
                <a:cs typeface="+mj-lt"/>
                <a:hlinkClick r:id="rId23"/>
              </a:rPr>
              <a:t>Brahma</a:t>
            </a:r>
            <a:r>
              <a:rPr lang="en" sz="1200">
                <a:solidFill>
                  <a:srgbClr val="202122"/>
                </a:solidFill>
                <a:latin typeface="+mj-lt"/>
                <a:ea typeface="+mj-lt"/>
                <a:cs typeface="+mj-lt"/>
              </a:rPr>
              <a:t>)</a:t>
            </a:r>
            <a:endParaRPr lang="en-US"/>
          </a:p>
          <a:p>
            <a:pPr marL="285750" lvl="1" indent="-285750">
              <a:buFont typeface="Arial"/>
              <a:buChar char="•"/>
            </a:pPr>
            <a:r>
              <a:rPr lang="en" sz="1200" dirty="0">
                <a:solidFill>
                  <a:srgbClr val="3366CC"/>
                </a:solidFill>
                <a:latin typeface="+mj-lt"/>
                <a:ea typeface="+mj-lt"/>
                <a:cs typeface="+mj-lt"/>
                <a:hlinkClick r:id="rId20"/>
              </a:rPr>
              <a:t>Manvantara</a:t>
            </a:r>
            <a:r>
              <a:rPr lang="en" sz="1200" dirty="0">
                <a:solidFill>
                  <a:srgbClr val="202122"/>
                </a:solidFill>
                <a:latin typeface="+mj-lt"/>
                <a:ea typeface="+mj-lt"/>
                <a:cs typeface="+mj-lt"/>
              </a:rPr>
              <a:t> </a:t>
            </a:r>
            <a:r>
              <a:rPr lang="en" sz="1200">
                <a:solidFill>
                  <a:srgbClr val="202122"/>
                </a:solidFill>
                <a:latin typeface="+mj-lt"/>
                <a:ea typeface="+mj-lt"/>
                <a:cs typeface="+mj-lt"/>
              </a:rPr>
              <a:t>(age of </a:t>
            </a:r>
            <a:r>
              <a:rPr lang="en" sz="1200" dirty="0">
                <a:solidFill>
                  <a:srgbClr val="3366CC"/>
                </a:solidFill>
                <a:latin typeface="+mj-lt"/>
                <a:ea typeface="+mj-lt"/>
                <a:cs typeface="+mj-lt"/>
                <a:hlinkClick r:id="rId21"/>
              </a:rPr>
              <a:t>Manu</a:t>
            </a:r>
            <a:r>
              <a:rPr lang="en" sz="1200">
                <a:solidFill>
                  <a:srgbClr val="202122"/>
                </a:solidFill>
                <a:latin typeface="+mj-lt"/>
                <a:ea typeface="+mj-lt"/>
                <a:cs typeface="+mj-lt"/>
              </a:rPr>
              <a:t>)</a:t>
            </a:r>
            <a:endParaRPr lang="en-US"/>
          </a:p>
          <a:p>
            <a:pPr marL="285750" lvl="1" indent="-285750">
              <a:buFont typeface="Arial"/>
              <a:buChar char="•"/>
            </a:pPr>
            <a:r>
              <a:rPr lang="en" sz="1200" kern="1200" dirty="0">
                <a:solidFill>
                  <a:srgbClr val="3366CC"/>
                </a:solidFill>
                <a:latin typeface="+mj-lt"/>
                <a:ea typeface="+mj-lt"/>
                <a:cs typeface="+mj-lt"/>
                <a:hlinkClick r:id="rId72"/>
              </a:rPr>
              <a:t>Pralaya</a:t>
            </a:r>
            <a:r>
              <a:rPr lang="en" sz="1200" kern="1200" dirty="0">
                <a:solidFill>
                  <a:srgbClr val="202122"/>
                </a:solidFill>
                <a:latin typeface="+mj-lt"/>
                <a:ea typeface="+mj-lt"/>
                <a:cs typeface="+mj-lt"/>
              </a:rPr>
              <a:t> </a:t>
            </a:r>
            <a:r>
              <a:rPr lang="en" sz="1200" kern="1200">
                <a:solidFill>
                  <a:srgbClr val="202122"/>
                </a:solidFill>
                <a:latin typeface="+mj-lt"/>
                <a:ea typeface="+mj-lt"/>
                <a:cs typeface="+mj-lt"/>
              </a:rPr>
              <a:t>(period of dissolution)</a:t>
            </a:r>
            <a:endParaRPr lang="en-US" kern="1200">
              <a:latin typeface="+mj-lt"/>
              <a:ea typeface="+mj-lt"/>
              <a:cs typeface="+mj-lt"/>
            </a:endParaRPr>
          </a:p>
          <a:p>
            <a:pPr marL="285750" lvl="1" indent="-285750">
              <a:buFont typeface="Arial"/>
              <a:buChar char="•"/>
            </a:pPr>
            <a:r>
              <a:rPr lang="en" sz="1200" kern="1200">
                <a:solidFill>
                  <a:srgbClr val="202122"/>
                </a:solidFill>
                <a:latin typeface="+mj-lt"/>
                <a:ea typeface="+mj-lt"/>
                <a:cs typeface="+mj-lt"/>
              </a:rPr>
              <a:t>Yuga Cycle (four </a:t>
            </a:r>
            <a:r>
              <a:rPr lang="en" sz="1200" kern="1200" dirty="0">
                <a:solidFill>
                  <a:srgbClr val="3366CC"/>
                </a:solidFill>
                <a:latin typeface="+mj-lt"/>
                <a:ea typeface="+mj-lt"/>
                <a:cs typeface="+mj-lt"/>
                <a:hlinkClick r:id="rId9"/>
              </a:rPr>
              <a:t>yuga</a:t>
            </a:r>
            <a:r>
              <a:rPr lang="en" sz="1200" kern="1200" dirty="0">
                <a:solidFill>
                  <a:srgbClr val="202122"/>
                </a:solidFill>
                <a:latin typeface="+mj-lt"/>
                <a:ea typeface="+mj-lt"/>
                <a:cs typeface="+mj-lt"/>
              </a:rPr>
              <a:t> </a:t>
            </a:r>
            <a:r>
              <a:rPr lang="en" sz="1200" kern="1200">
                <a:solidFill>
                  <a:srgbClr val="202122"/>
                </a:solidFill>
                <a:latin typeface="+mj-lt"/>
                <a:ea typeface="+mj-lt"/>
                <a:cs typeface="+mj-lt"/>
              </a:rPr>
              <a:t>ages): </a:t>
            </a:r>
            <a:r>
              <a:rPr lang="en" sz="1200" kern="1200" dirty="0">
                <a:solidFill>
                  <a:srgbClr val="3366CC"/>
                </a:solidFill>
                <a:latin typeface="+mj-lt"/>
                <a:ea typeface="+mj-lt"/>
                <a:cs typeface="+mj-lt"/>
                <a:hlinkClick r:id="rId10"/>
              </a:rPr>
              <a:t>Satya (Krita)</a:t>
            </a:r>
            <a:r>
              <a:rPr lang="en" sz="1200" kern="1200" dirty="0">
                <a:solidFill>
                  <a:srgbClr val="202122"/>
                </a:solidFill>
                <a:latin typeface="+mj-lt"/>
                <a:ea typeface="+mj-lt"/>
                <a:cs typeface="+mj-lt"/>
              </a:rPr>
              <a:t>, </a:t>
            </a:r>
            <a:r>
              <a:rPr lang="en" sz="1200" kern="1200" dirty="0">
                <a:solidFill>
                  <a:srgbClr val="3366CC"/>
                </a:solidFill>
                <a:latin typeface="+mj-lt"/>
                <a:ea typeface="+mj-lt"/>
                <a:cs typeface="+mj-lt"/>
                <a:hlinkClick r:id="rId11"/>
              </a:rPr>
              <a:t>Treta</a:t>
            </a:r>
            <a:r>
              <a:rPr lang="en" sz="1200" kern="1200" dirty="0">
                <a:solidFill>
                  <a:srgbClr val="202122"/>
                </a:solidFill>
                <a:latin typeface="+mj-lt"/>
                <a:ea typeface="+mj-lt"/>
                <a:cs typeface="+mj-lt"/>
              </a:rPr>
              <a:t>, </a:t>
            </a:r>
            <a:r>
              <a:rPr lang="en" sz="1200" kern="1200" dirty="0">
                <a:solidFill>
                  <a:srgbClr val="3366CC"/>
                </a:solidFill>
                <a:latin typeface="+mj-lt"/>
                <a:ea typeface="+mj-lt"/>
                <a:cs typeface="+mj-lt"/>
                <a:hlinkClick r:id="rId12"/>
              </a:rPr>
              <a:t>Dvapara</a:t>
            </a:r>
            <a:r>
              <a:rPr lang="en" sz="1200" kern="1200">
                <a:solidFill>
                  <a:srgbClr val="202122"/>
                </a:solidFill>
                <a:latin typeface="+mj-lt"/>
                <a:ea typeface="+mj-lt"/>
                <a:cs typeface="+mj-lt"/>
              </a:rPr>
              <a:t>, and </a:t>
            </a:r>
            <a:r>
              <a:rPr lang="en" sz="1200" kern="1200" dirty="0">
                <a:solidFill>
                  <a:srgbClr val="3366CC"/>
                </a:solidFill>
                <a:latin typeface="+mj-lt"/>
                <a:ea typeface="+mj-lt"/>
                <a:cs typeface="+mj-lt"/>
                <a:hlinkClick r:id="rId13"/>
              </a:rPr>
              <a:t>Kali</a:t>
            </a:r>
            <a:endParaRPr lang="en-US" kern="1200">
              <a:latin typeface="+mj-lt"/>
              <a:ea typeface="+mj-lt"/>
              <a:cs typeface="+mj-lt"/>
            </a:endParaRPr>
          </a:p>
          <a:p>
            <a:pPr marL="285750" indent="-285750">
              <a:buFont typeface="Arial"/>
              <a:buChar char="•"/>
            </a:pPr>
            <a:r>
              <a:rPr lang="en" sz="1200" dirty="0">
                <a:solidFill>
                  <a:srgbClr val="3366CC"/>
                </a:solidFill>
                <a:ea typeface="+mj-lt"/>
                <a:cs typeface="+mj-lt"/>
                <a:hlinkClick r:id="rId188"/>
              </a:rPr>
              <a:t>Itihasa (Hindu Tradition)</a:t>
            </a:r>
            <a:endParaRPr lang="en-US"/>
          </a:p>
          <a:p>
            <a:pPr marL="285750" indent="-285750">
              <a:buFont typeface="Arial"/>
              <a:buChar char="•"/>
            </a:pPr>
            <a:r>
              <a:rPr lang="en" sz="1200" dirty="0">
                <a:solidFill>
                  <a:srgbClr val="3366CC"/>
                </a:solidFill>
                <a:ea typeface="+mj-lt"/>
                <a:cs typeface="+mj-lt"/>
                <a:hlinkClick r:id="rId62"/>
              </a:rPr>
              <a:t>List of numbers in Hindu scriptures</a:t>
            </a:r>
            <a:endParaRPr lang="en-US"/>
          </a:p>
          <a:p>
            <a:pPr marL="285750" indent="-285750">
              <a:buFont typeface="Arial"/>
              <a:buChar char="•"/>
            </a:pPr>
            <a:r>
              <a:rPr lang="en" sz="1200" dirty="0">
                <a:solidFill>
                  <a:srgbClr val="3366CC"/>
                </a:solidFill>
                <a:ea typeface="+mj-lt"/>
                <a:cs typeface="+mj-lt"/>
                <a:hlinkClick r:id="rId189"/>
              </a:rPr>
              <a:t>Vedic-Puranic chronology</a:t>
            </a:r>
            <a:endParaRPr lang="en-US"/>
          </a:p>
          <a:p>
            <a:r>
              <a:rPr lang="en-US"/>
              <a:t>Explanatory notes</a:t>
            </a:r>
          </a:p>
          <a:p>
            <a:pPr marL="285750" indent="-285750">
              <a:buFont typeface="Arial"/>
              <a:buChar char="•"/>
            </a:pPr>
            <a:r>
              <a:rPr lang="en" sz="1100" dirty="0">
                <a:solidFill>
                  <a:srgbClr val="202122"/>
                </a:solidFill>
                <a:ea typeface="+mj-lt"/>
                <a:cs typeface="+mj-lt"/>
              </a:rPr>
              <a:t> </a:t>
            </a:r>
            <a:r>
              <a:rPr lang="en" sz="1100">
                <a:solidFill>
                  <a:srgbClr val="202122"/>
                </a:solidFill>
                <a:ea typeface="+mj-lt"/>
                <a:cs typeface="+mj-lt"/>
              </a:rPr>
              <a:t>360 solar years constitute a divine year. This is as per the following belief system: The gods are believed to reside in the north celestial sphere.</a:t>
            </a:r>
            <a:r>
              <a:rPr lang="en" sz="900" baseline="30000" dirty="0">
                <a:solidFill>
                  <a:srgbClr val="3366CC"/>
                </a:solidFill>
                <a:ea typeface="+mj-lt"/>
                <a:cs typeface="+mj-lt"/>
                <a:hlinkClick r:id="rId190"/>
              </a:rPr>
              <a:t>[1]</a:t>
            </a:r>
            <a:r>
              <a:rPr lang="en" sz="1100" dirty="0">
                <a:solidFill>
                  <a:srgbClr val="202122"/>
                </a:solidFill>
                <a:ea typeface="+mj-lt"/>
                <a:cs typeface="+mj-lt"/>
              </a:rPr>
              <a:t> </a:t>
            </a:r>
            <a:r>
              <a:rPr lang="en" sz="1100">
                <a:solidFill>
                  <a:srgbClr val="202122"/>
                </a:solidFill>
                <a:ea typeface="+mj-lt"/>
                <a:cs typeface="+mj-lt"/>
              </a:rPr>
              <a:t>Due to the </a:t>
            </a:r>
            <a:r>
              <a:rPr lang="en" sz="1100" dirty="0">
                <a:solidFill>
                  <a:srgbClr val="3366CC"/>
                </a:solidFill>
                <a:ea typeface="+mj-lt"/>
                <a:cs typeface="+mj-lt"/>
                <a:hlinkClick r:id="rId191"/>
              </a:rPr>
              <a:t>axial tilt</a:t>
            </a:r>
            <a:r>
              <a:rPr lang="en" sz="1100" dirty="0">
                <a:solidFill>
                  <a:srgbClr val="202122"/>
                </a:solidFill>
                <a:ea typeface="+mj-lt"/>
                <a:cs typeface="+mj-lt"/>
              </a:rPr>
              <a:t> </a:t>
            </a:r>
            <a:r>
              <a:rPr lang="en" sz="1100">
                <a:solidFill>
                  <a:srgbClr val="202122"/>
                </a:solidFill>
                <a:ea typeface="+mj-lt"/>
                <a:cs typeface="+mj-lt"/>
              </a:rPr>
              <a:t>of the earth, the Sun is overhead the northern hemisphere during the period between the </a:t>
            </a:r>
            <a:r>
              <a:rPr lang="en" sz="1100" dirty="0">
                <a:solidFill>
                  <a:srgbClr val="3366CC"/>
                </a:solidFill>
                <a:ea typeface="+mj-lt"/>
                <a:cs typeface="+mj-lt"/>
                <a:hlinkClick r:id="rId192"/>
              </a:rPr>
              <a:t>vernal</a:t>
            </a:r>
            <a:r>
              <a:rPr lang="en" sz="1100" dirty="0">
                <a:solidFill>
                  <a:srgbClr val="202122"/>
                </a:solidFill>
                <a:ea typeface="+mj-lt"/>
                <a:cs typeface="+mj-lt"/>
              </a:rPr>
              <a:t> </a:t>
            </a:r>
            <a:r>
              <a:rPr lang="en" sz="1100">
                <a:solidFill>
                  <a:srgbClr val="202122"/>
                </a:solidFill>
                <a:ea typeface="+mj-lt"/>
                <a:cs typeface="+mj-lt"/>
              </a:rPr>
              <a:t>and the </a:t>
            </a:r>
            <a:r>
              <a:rPr lang="en" sz="1100" dirty="0">
                <a:solidFill>
                  <a:srgbClr val="3366CC"/>
                </a:solidFill>
                <a:ea typeface="+mj-lt"/>
                <a:cs typeface="+mj-lt"/>
                <a:hlinkClick r:id="rId193"/>
              </a:rPr>
              <a:t>autumnal equinox</a:t>
            </a:r>
            <a:r>
              <a:rPr lang="en" sz="1100">
                <a:solidFill>
                  <a:srgbClr val="202122"/>
                </a:solidFill>
                <a:ea typeface="+mj-lt"/>
                <a:cs typeface="+mj-lt"/>
              </a:rPr>
              <a:t>. This period is designated the daytime of the gods. Conversely, the Sun is overhead the southern hemisphere during the period between the autumnal and the vernal equinox. This period is designated the nighttime of the gods. Put together, an entire </a:t>
            </a:r>
            <a:r>
              <a:rPr lang="en" sz="1100" dirty="0">
                <a:solidFill>
                  <a:srgbClr val="3366CC"/>
                </a:solidFill>
                <a:ea typeface="+mj-lt"/>
                <a:cs typeface="+mj-lt"/>
                <a:hlinkClick r:id="rId43"/>
              </a:rPr>
              <a:t>tropical solar year</a:t>
            </a:r>
            <a:r>
              <a:rPr lang="en" sz="1100" dirty="0">
                <a:solidFill>
                  <a:srgbClr val="202122"/>
                </a:solidFill>
                <a:ea typeface="+mj-lt"/>
                <a:cs typeface="+mj-lt"/>
              </a:rPr>
              <a:t> </a:t>
            </a:r>
            <a:r>
              <a:rPr lang="en" sz="1100">
                <a:solidFill>
                  <a:srgbClr val="202122"/>
                </a:solidFill>
                <a:ea typeface="+mj-lt"/>
                <a:cs typeface="+mj-lt"/>
              </a:rPr>
              <a:t>is designated the </a:t>
            </a:r>
            <a:r>
              <a:rPr lang="en" sz="1100" i="1">
                <a:solidFill>
                  <a:srgbClr val="202122"/>
                </a:solidFill>
                <a:ea typeface="+mj-lt"/>
                <a:cs typeface="+mj-lt"/>
              </a:rPr>
              <a:t>day of the gods</a:t>
            </a:r>
            <a:r>
              <a:rPr lang="en" sz="1100">
                <a:solidFill>
                  <a:srgbClr val="202122"/>
                </a:solidFill>
                <a:ea typeface="+mj-lt"/>
                <a:cs typeface="+mj-lt"/>
              </a:rPr>
              <a:t>.</a:t>
            </a:r>
            <a:r>
              <a:rPr lang="en" sz="900" baseline="30000" dirty="0">
                <a:solidFill>
                  <a:srgbClr val="3366CC"/>
                </a:solidFill>
                <a:ea typeface="+mj-lt"/>
                <a:cs typeface="+mj-lt"/>
                <a:hlinkClick r:id="rId194"/>
              </a:rPr>
              <a:t>[2]</a:t>
            </a:r>
            <a:r>
              <a:rPr lang="en" sz="1100" dirty="0">
                <a:solidFill>
                  <a:srgbClr val="202122"/>
                </a:solidFill>
                <a:ea typeface="+mj-lt"/>
                <a:cs typeface="+mj-lt"/>
              </a:rPr>
              <a:t> </a:t>
            </a:r>
            <a:r>
              <a:rPr lang="en" sz="1100">
                <a:solidFill>
                  <a:srgbClr val="202122"/>
                </a:solidFill>
                <a:ea typeface="+mj-lt"/>
                <a:cs typeface="+mj-lt"/>
              </a:rPr>
              <a:t>360 such </a:t>
            </a:r>
            <a:r>
              <a:rPr lang="en" sz="1100" i="1">
                <a:solidFill>
                  <a:srgbClr val="202122"/>
                </a:solidFill>
                <a:ea typeface="+mj-lt"/>
                <a:cs typeface="+mj-lt"/>
              </a:rPr>
              <a:t>day of the gods</a:t>
            </a:r>
            <a:r>
              <a:rPr lang="en" sz="1100">
                <a:solidFill>
                  <a:srgbClr val="202122"/>
                </a:solidFill>
                <a:ea typeface="+mj-lt"/>
                <a:cs typeface="+mj-lt"/>
              </a:rPr>
              <a:t> make a divine year.</a:t>
            </a:r>
            <a:r>
              <a:rPr lang="en" sz="900" baseline="30000" dirty="0">
                <a:solidFill>
                  <a:srgbClr val="3366CC"/>
                </a:solidFill>
                <a:ea typeface="+mj-lt"/>
                <a:cs typeface="+mj-lt"/>
                <a:hlinkClick r:id="rId195"/>
              </a:rPr>
              <a:t>[3]</a:t>
            </a:r>
            <a:endParaRPr lang="en-US">
              <a:ea typeface="+mj-lt"/>
              <a:cs typeface="+mj-lt"/>
            </a:endParaRPr>
          </a:p>
          <a:p>
            <a:pPr marL="285750" indent="-285750">
              <a:buFont typeface="Arial"/>
              <a:buChar char="•"/>
            </a:pPr>
            <a:r>
              <a:rPr lang="en" sz="1100" dirty="0">
                <a:solidFill>
                  <a:srgbClr val="202122"/>
                </a:solidFill>
                <a:ea typeface="+mj-lt"/>
                <a:cs typeface="+mj-lt"/>
              </a:rPr>
              <a:t> </a:t>
            </a:r>
            <a:r>
              <a:rPr lang="en" sz="1100">
                <a:solidFill>
                  <a:srgbClr val="202122"/>
                </a:solidFill>
                <a:ea typeface="+mj-lt"/>
                <a:cs typeface="+mj-lt"/>
              </a:rPr>
              <a:t>The general word "</a:t>
            </a:r>
            <a:r>
              <a:rPr lang="en" sz="1100" i="1">
                <a:solidFill>
                  <a:srgbClr val="202122"/>
                </a:solidFill>
                <a:ea typeface="+mj-lt"/>
                <a:cs typeface="+mj-lt"/>
              </a:rPr>
              <a:t>yuga</a:t>
            </a:r>
            <a:r>
              <a:rPr lang="en" sz="1100">
                <a:solidFill>
                  <a:srgbClr val="202122"/>
                </a:solidFill>
                <a:ea typeface="+mj-lt"/>
                <a:cs typeface="+mj-lt"/>
              </a:rPr>
              <a:t>" is sometimes used instead of the more specific word "</a:t>
            </a:r>
            <a:r>
              <a:rPr lang="en" sz="1100" i="1">
                <a:solidFill>
                  <a:srgbClr val="202122"/>
                </a:solidFill>
                <a:ea typeface="+mj-lt"/>
                <a:cs typeface="+mj-lt"/>
              </a:rPr>
              <a:t>catur-yuga</a:t>
            </a:r>
            <a:r>
              <a:rPr lang="en" sz="1100">
                <a:solidFill>
                  <a:srgbClr val="202122"/>
                </a:solidFill>
                <a:ea typeface="+mj-lt"/>
                <a:cs typeface="+mj-lt"/>
              </a:rPr>
              <a:t>". A </a:t>
            </a:r>
            <a:r>
              <a:rPr lang="en" sz="1100" i="1" dirty="0">
                <a:solidFill>
                  <a:srgbClr val="3366CC"/>
                </a:solidFill>
                <a:ea typeface="+mj-lt"/>
                <a:cs typeface="+mj-lt"/>
                <a:hlinkClick r:id="rId22"/>
              </a:rPr>
              <a:t>kalpa</a:t>
            </a:r>
            <a:r>
              <a:rPr lang="en" sz="1100" dirty="0">
                <a:solidFill>
                  <a:srgbClr val="202122"/>
                </a:solidFill>
                <a:ea typeface="+mj-lt"/>
                <a:cs typeface="+mj-lt"/>
              </a:rPr>
              <a:t> </a:t>
            </a:r>
            <a:r>
              <a:rPr lang="en" sz="1100">
                <a:solidFill>
                  <a:srgbClr val="202122"/>
                </a:solidFill>
                <a:ea typeface="+mj-lt"/>
                <a:cs typeface="+mj-lt"/>
              </a:rPr>
              <a:t>is described as lasting 1,000 </a:t>
            </a:r>
            <a:r>
              <a:rPr lang="en" sz="1100" i="1">
                <a:solidFill>
                  <a:srgbClr val="202122"/>
                </a:solidFill>
                <a:ea typeface="+mj-lt"/>
                <a:cs typeface="+mj-lt"/>
              </a:rPr>
              <a:t>catur-yuga</a:t>
            </a:r>
            <a:r>
              <a:rPr lang="en" sz="1100">
                <a:solidFill>
                  <a:srgbClr val="202122"/>
                </a:solidFill>
                <a:ea typeface="+mj-lt"/>
                <a:cs typeface="+mj-lt"/>
              </a:rPr>
              <a:t> in </a:t>
            </a:r>
            <a:r>
              <a:rPr lang="en" sz="1100" dirty="0">
                <a:solidFill>
                  <a:srgbClr val="3366CC"/>
                </a:solidFill>
                <a:ea typeface="+mj-lt"/>
                <a:cs typeface="+mj-lt"/>
                <a:hlinkClick r:id="rId38"/>
              </a:rPr>
              <a:t>Bhagavata Purana</a:t>
            </a:r>
            <a:r>
              <a:rPr lang="en" sz="1100" dirty="0">
                <a:solidFill>
                  <a:srgbClr val="202122"/>
                </a:solidFill>
                <a:ea typeface="+mj-lt"/>
                <a:cs typeface="+mj-lt"/>
              </a:rPr>
              <a:t> </a:t>
            </a:r>
            <a:r>
              <a:rPr lang="en" sz="1100">
                <a:solidFill>
                  <a:srgbClr val="202122"/>
                </a:solidFill>
                <a:ea typeface="+mj-lt"/>
                <a:cs typeface="+mj-lt"/>
              </a:rPr>
              <a:t>12.4.2 ("</a:t>
            </a:r>
            <a:r>
              <a:rPr lang="en" sz="1100" i="1">
                <a:solidFill>
                  <a:srgbClr val="202122"/>
                </a:solidFill>
                <a:ea typeface="+mj-lt"/>
                <a:cs typeface="+mj-lt"/>
              </a:rPr>
              <a:t>catur-yuga</a:t>
            </a:r>
            <a:r>
              <a:rPr lang="en" sz="1100">
                <a:solidFill>
                  <a:srgbClr val="202122"/>
                </a:solidFill>
                <a:ea typeface="+mj-lt"/>
                <a:cs typeface="+mj-lt"/>
              </a:rPr>
              <a:t>")</a:t>
            </a:r>
            <a:r>
              <a:rPr lang="en" sz="900" baseline="30000" dirty="0">
                <a:solidFill>
                  <a:srgbClr val="3366CC"/>
                </a:solidFill>
                <a:ea typeface="+mj-lt"/>
                <a:cs typeface="+mj-lt"/>
                <a:hlinkClick r:id="rId196"/>
              </a:rPr>
              <a:t>[9]</a:t>
            </a:r>
            <a:r>
              <a:rPr lang="en" sz="1100" dirty="0">
                <a:solidFill>
                  <a:srgbClr val="202122"/>
                </a:solidFill>
                <a:ea typeface="+mj-lt"/>
                <a:cs typeface="+mj-lt"/>
              </a:rPr>
              <a:t> </a:t>
            </a:r>
            <a:r>
              <a:rPr lang="en" sz="1100">
                <a:solidFill>
                  <a:srgbClr val="202122"/>
                </a:solidFill>
                <a:ea typeface="+mj-lt"/>
                <a:cs typeface="+mj-lt"/>
              </a:rPr>
              <a:t>and </a:t>
            </a:r>
            <a:r>
              <a:rPr lang="en" sz="1100" dirty="0">
                <a:solidFill>
                  <a:srgbClr val="3366CC"/>
                </a:solidFill>
                <a:ea typeface="+mj-lt"/>
                <a:cs typeface="+mj-lt"/>
                <a:hlinkClick r:id="rId197"/>
              </a:rPr>
              <a:t>Bhagavad Gita</a:t>
            </a:r>
            <a:r>
              <a:rPr lang="en" sz="1100" dirty="0">
                <a:solidFill>
                  <a:srgbClr val="202122"/>
                </a:solidFill>
                <a:ea typeface="+mj-lt"/>
                <a:cs typeface="+mj-lt"/>
              </a:rPr>
              <a:t> </a:t>
            </a:r>
            <a:r>
              <a:rPr lang="en" sz="1100">
                <a:solidFill>
                  <a:srgbClr val="202122"/>
                </a:solidFill>
                <a:ea typeface="+mj-lt"/>
                <a:cs typeface="+mj-lt"/>
              </a:rPr>
              <a:t>8.17 ("</a:t>
            </a:r>
            <a:r>
              <a:rPr lang="en" sz="1100" i="1">
                <a:solidFill>
                  <a:srgbClr val="202122"/>
                </a:solidFill>
                <a:ea typeface="+mj-lt"/>
                <a:cs typeface="+mj-lt"/>
              </a:rPr>
              <a:t>yuga</a:t>
            </a:r>
            <a:r>
              <a:rPr lang="en" sz="1100">
                <a:solidFill>
                  <a:srgbClr val="202122"/>
                </a:solidFill>
                <a:ea typeface="+mj-lt"/>
                <a:cs typeface="+mj-lt"/>
              </a:rPr>
              <a:t>").</a:t>
            </a:r>
            <a:r>
              <a:rPr lang="en" sz="900" baseline="30000" dirty="0">
                <a:solidFill>
                  <a:srgbClr val="3366CC"/>
                </a:solidFill>
                <a:ea typeface="+mj-lt"/>
                <a:cs typeface="+mj-lt"/>
                <a:hlinkClick r:id="rId198"/>
              </a:rPr>
              <a:t>[10]</a:t>
            </a:r>
            <a:endParaRPr lang="en-US">
              <a:ea typeface="+mj-lt"/>
              <a:cs typeface="+mj-lt"/>
            </a:endParaRPr>
          </a:p>
          <a:p>
            <a:pPr marL="285750" indent="-285750">
              <a:buFont typeface="Arial"/>
              <a:buChar char="•"/>
            </a:pPr>
            <a:r>
              <a:rPr lang="en" sz="1100" dirty="0">
                <a:solidFill>
                  <a:srgbClr val="202122"/>
                </a:solidFill>
                <a:ea typeface="+mj-lt"/>
                <a:cs typeface="+mj-lt"/>
              </a:rPr>
              <a:t> </a:t>
            </a:r>
            <a:r>
              <a:rPr lang="en" sz="1100">
                <a:solidFill>
                  <a:srgbClr val="202122"/>
                </a:solidFill>
                <a:ea typeface="+mj-lt"/>
                <a:cs typeface="+mj-lt"/>
              </a:rPr>
              <a:t>Each </a:t>
            </a:r>
            <a:r>
              <a:rPr lang="en" sz="1100" i="1">
                <a:solidFill>
                  <a:srgbClr val="202122"/>
                </a:solidFill>
                <a:ea typeface="+mj-lt"/>
                <a:cs typeface="+mj-lt"/>
              </a:rPr>
              <a:t>Kali-yuga-sandhi</a:t>
            </a:r>
            <a:r>
              <a:rPr lang="en" sz="1100">
                <a:solidFill>
                  <a:srgbClr val="202122"/>
                </a:solidFill>
                <a:ea typeface="+mj-lt"/>
                <a:cs typeface="+mj-lt"/>
              </a:rPr>
              <a:t> lasts for 36,000 solar (100 divine) years:</a:t>
            </a:r>
            <a:br>
              <a:rPr lang="en" sz="1100" dirty="0">
                <a:solidFill>
                  <a:srgbClr val="202122"/>
                </a:solidFill>
                <a:ea typeface="+mj-lt"/>
                <a:cs typeface="+mj-lt"/>
              </a:rPr>
            </a:br>
            <a:r>
              <a:rPr lang="en" sz="1100">
                <a:solidFill>
                  <a:srgbClr val="202122"/>
                </a:solidFill>
                <a:ea typeface="+mj-lt"/>
                <a:cs typeface="+mj-lt"/>
              </a:rPr>
              <a:t>* </a:t>
            </a:r>
            <a:r>
              <a:rPr lang="en" sz="1100" i="1">
                <a:solidFill>
                  <a:srgbClr val="202122"/>
                </a:solidFill>
                <a:ea typeface="+mj-lt"/>
                <a:cs typeface="+mj-lt"/>
              </a:rPr>
              <a:t>Sandhya</a:t>
            </a:r>
            <a:r>
              <a:rPr lang="en" sz="1100">
                <a:solidFill>
                  <a:srgbClr val="202122"/>
                </a:solidFill>
                <a:ea typeface="+mj-lt"/>
                <a:cs typeface="+mj-lt"/>
              </a:rPr>
              <a:t>: 3102 BCE – </a:t>
            </a:r>
            <a:endParaRPr lang="en-US">
              <a:ea typeface="+mj-lt"/>
              <a:cs typeface="+mj-lt"/>
            </a:endParaRPr>
          </a:p>
          <a:p>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9857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From Wikipedia, the free encyclopedia This article is about Hindu ages and is not to be confused with Buddhist ages, Greek ages, or Jain ages. A Yuga Cycle (a.k.a. chatur yuga, maha yuga, etc.) is a cyclic age (epoch) in Hindu cosmology. Each cycle lasts for 4,320,000 years (12,000 divine years[a]) and repeats four yugas (world ages): Krita (Satya) Yuga, Treta Yuga, Dvapara Yuga, and Kali Yuga.[4] As a Yuga Cycle progresses through the four yugas, each yuga's length and humanity's general moral and physical state within each yuga decrease by one-fourth. Kali Yuga, which lasts for 432,000 years, is believed to have started in 3102 BCE.[5][6] Near the end of Kali Yuga, when virtues are at their worst, a cataclysm and a re-establishment of dharma occur to usher in the next cycle's Krita (Satya) Yuga, prophesied to occur by Kalki.[7] There are 71 Yuga Cycles in a manvantara (age of Manu) and 1,000 Yuga Cycles in a kalpa (day of Brahma).[6] Lexicology A Yuga Cycle has several names. Age or Yuga (Sanskrit: युग, lit. 'an age of the gods'):[citation needed] "Age" and "Yuga", sometimes with reverential capitalization, commonly denote a "catur-yuga", a cycle of four world ages, unless expressly limited by the name of one of its minor ages (e.g. Kali Yuga).[8][b] Its archaic spelling is yug, with other forms of yugam, yugānāṃ, and yuge, derived from yuj (Sanskrit: युज्, lit. 'to join or yoke'), believed derived from *yeug- (Proto-Indo-European: lit. 'to join or unite').[11] Chatur Yuga (Sanskrit: चतुर्युग, romanized: caturyuga, catur-yuga, chaturyuga, or chatur-yuga, lit. 'catur means four;[citation needed] a set of the four ages'):[12] A cyclic age encompassing the four yuga ages[6][13] as defined in Hindu texts: Surya Siddhanta,[8] Manusmriti,[14] and Bhagavata Purana.[15] Daiva Yuga (Sanskrit: दैवयुग, romanized: daivayuga or daiva-yuga, lit. 'a divine or celestial age; an age of the gods'),[16] Deva Yuga (Sanskrit: देवयुग, romanized: devayuga or deva-yuga, lit. 'an age of the gods'),[17] Divya Yuga (Sanskrit: दिव्य युग, romanized: divyayuga or divya-yuga, lit. 'a divine or celestial age'):[citation needed] A cyclic age of the divine, celestrial, or gods (Devas) encompassing the four yuga ages (a.k.a. "human ages" or "world ages"). The Hindu texts give a length of 12,000 divine years, where a divine year lasts for 360 solar (human) years.[5][6] Maha Yuga (Sanskrit: महायुग, romanized: mahāyuga or mahā-yuga, lit. 'a great age'):[18] A greater cyclic age encompassing the smaller four yuga ages.[6][19] Yuga Cycle (Sanskrit: युग, lit. 'age') + (English: cycle): A cyclic age encompassing the four yuga ages. It is theorized that the concept of the four yugas originated some time after the compilation of the four Vedas, but prior to the rest of the Hindu texts, based on the concept's absence in the former writings. It is believed that the four yugas—Krita (Satya), Treta, Dvapara, and Kali—are named after throws of an Indian game of long dice, marked with 4-3-2-1 respectively.[5] A dice game is described in the Rigveda, Atharvaveda, Upanishads, Ramayana, Mahabharata, and Puranas, while the four yugas are described after the four Vedas with no mention of a correlation to dice.[13][20] A complete description of the four yugas and their characteristics are in the Vishnu Smriti (ch. 20),[21] Mahabharata (e.g. Vanaparva 149, 183), Manusmriti (I.81–86), and Puranas (e.g. Brahma, ch. 122–123; Matsya, ch. 142–143; Naradiya, Purvardha, ch. 41).[22] The four yugas are also described in the Bhagavata Purana (3.11.18–20). Duration and structure See also: Kali Yuga § Start date, Hindu units of time, and List of numbers in Hindu scriptures Hindu texts describe four yugas (world ages) in a Yuga Cycle—Krita (Satya) Yuga, Treta Yuga, Dvapara Yuga, and Kali Yuga—where, starting in order from the first age, each yuga's length decreases by one-fourth (25%), giving proportions of 4:3:2:1. Each yuga is described as having a main period (a.k.a. yuga proper) preceded by its yuga-sandhyā (dawn) and followed by its yuga-sandhyāṃśa (dusk), where each twilight (dawn/dusk) lasts for one-tenth (10%) of its main period. Lengths are given in divine years (years of the gods), each lasting for 360 solar (human) years.[4][5][6] Each Yuga Cycle lasts for 4,320,000 years (12,000 divine years) with its four yugas: Krita (Satya) Yuga for 1,728,000 (4,800 divine) years, Treta Yuga for 1,296,000 (3,600 divine) years, Dvapara Yuga for 864,000 (2,400 divine) years, and Kali Yuga for 432,000 (1,200 divine) years.[4][5][6] Structure of a yuga cycle Yuga Part Divine years Solar years Krita (Satya) Krita-yuga-sandhya (dawn) 400 144,000 Krita-yuga (proper) 4,000 1,440,000 Krita-yuga-sandhyamsa (dusk) 400 144,000 Treta Treta-yuga-sandhya (dawn) 300 108,000 Treta-yuga (proper) 3,000 1,080,000 Treta-yuga-sandhyamsa (dusk) 300 108,000 Dvapara Dvapara-yuga-sandhya (dawn) 200 72,000 Dvapara-yuga (proper) 2,000 720,000 Dvapara-yuga-sandhyamsa (dusk) 200 72,000 Kali Kali-yuga-sandhya (dawn) 100 36,000 Kali-yuga (proper) 1,000 360,000 Kali-yuga-sandhyamsa (dusk) 100 36,000 Total 12,000 4,320,000 The current cycle's four yugas have the following dates based on Kali Yuga, the fourth and present age, starting in 3102 BCE:[6][13][23] Yuga cycle Yuga Start (– End) Length Krita (Satya) 3,891,102 BCE 1,728,000 (4,800) Treta 2,163,102 BCE 1,296,000 (3,600) Dvapara 867,102 BCE 864,000 (2,400) Kali* 3102 BCE – 428,899 CE 432,000 (1,200) Years: 4,320,000 solar (12,000 divine) (*) Current. [c][23][24] Mahabharata, Book 12 (Shanti Parva), Ch. 231:[25][d] (17) A year (of men) is equal to a day and night of the gods ... (19) I shall, in their order, tell you the number of years that are for different purposes calculated differently, in the Krita, the Treta, the Dwapara, and the Kali yugas. (20) Four thousand celestial years is the duration of the first or Krita age. The morning of that cycle consists of four hundred years and its evening is of four hundred years. (21) Regarding the other cycles, the duration of each gradually decreases by a quarter in respect of both the principal period with the minor portion and the conjoining portion itself. (29) The learned say that these twelve thousand celestial years form what is called a cycle ... Manusmriti, Ch. 1:[26] (67) A year is a day and a night of the gods ... (68) But hear now the brief (description of) the duration of a night and a day of Brahman [(Brahma)] and of the several ages (of the world, yuga) according to their order. (69) They declare that the Krita age (consists of) four thousand years (of the gods); the twilight preceding it consists of as many hundreds, and the twilight following it of the same number. (70) In the other three ages with their twilights preceding and following, the thousands and hundreds are diminished by one (in each). (71) These twelve thousand (years) which thus have been just mentioned as the total of four (human) ages, are called one age of the gods. Surya Siddhanta, Ch. 1:[27] (13) ... twelve months make a year. This is called a day of the gods. (14) ... Six times sixty [360] of them are a year of the gods ... (15) Twelve thousand of these divine years are denominated a Quadruple Age (caturyuga); of ten thousand times four hundred and thirty-two [4,320,000] solar years (16) Is composed that Quadruple Age, with its dawn and twilight. The difference of the Golden and the other Ages, as measured by the difference in the number of the feet of Virtue in each, is as follows : (17) The tenth part of an Age, multiplied successively by four, three, two, and one, gives the length of the Golden and the other Ages, in order : the sixth part of each belongs to its dawn and twilight. Greater cycles Main articles: Hindu units of time, Kalpa (time), Pralaya, and Manvantara There are 71 Yuga Cycles (306,720,000 years) in a manvantara, a period ruled by Manu, who is the progenitor of mankind.[28] There are 1,000 Yuga Cycles (4,320,000,000 years) in a kalpa, a period that is a day (12-hour day proper) of Brahma, who is the creator of the planets and first living entities. There are 14 manvantaras (4,294,080,000 years) in a kalpa with a remainder of 25,920,000 years assigned to 15 manvantara-sandhyas (junctures), each the length of a Satya Yuga (1,728,000 years). A kalpa is followed by a pralaya (night or partial dissolution) of equal length forming a full day (24-hour day). A maha-kalpa (life of Brahma) lasts for 100 360-day years of Brahma, which lasts for 72,000,000 Yuga Cycles (311.04 trillion years) and is followed by a maha-pralaya (full dissolution) of equal length.[6] We are currently halfway through Brahma's life (maha-kalpa):[6][29][30][31] 51st year of 100 (2nd half or parardha) 1st month of 12 1st kalpa (Shveta-Varaha Kalpa) of 30 7th manvantara (Vaivasvatha Manu) of 14 28th chatur-yuga (a.k.a. Yuga Cycle) of 71 4th yuga (Kali Yuga) of 4 Yuga dates are used in an ashloka, which is read out at the beginning of Hindu rites to specify the elapsed time in Brahma's life. For example, an ashloka in 2007 CE of the Gregorian calendar might include the lines:[32][e] 5109 of Kalyugi year of the 28th Chaturyugee of the 7th Manvantara on the first day of the 51st year of the 2nd Brahma [(2nd half of Brahma's life)]. Virtues This section needs expansion. You can help by adding to it. (February 2025) According to the Manusmriti, the virtue (dharma) of human beings varies across the four yugas (ages). The text states: तपः परं कृतयुगे त्रेतायां ज्ञानमुच्यते । द्वापरे यज्ञमेवाहुर्दानमेकं कलौ युगे ॥ tapaḥ paraṃ kṛtayuge tretāyāṃ jñānamucyate dvāpare yajñamevāhurdānamekaṃ kalau yuge In the Krita Yuga, the virtue is austerity (tapas); in the Treta Yuga, it is knowledge (jnana); in the Dvapara Yuga, it is sacrifice (yajna); and in the Kali Yuga, it is charity (dāna).[33] Avatars This section needs expansion. You can help by adding to it. (November 2020) Ganesha Main article: Ganesha Purana § Kridakhanda: Ganesha in four Yugas Ganesha avatars are described as coming during specific yugas.[34][35][36] Vishnu Main articles: Dashavatara § List of Avatars, and Vamana § Vayu Purana The Puranas describe Vishnu avatars that come during specific yugas, but may not occur in every Yuga Cycle. Vamana appears at the beginning of Treta Yuga. According to Vayu Purana, Vamana's 3rd appearance was in the 7th Treta Yuga.[37][38] Rama appears at the end of Treta Yuga.[39] According to Vayu Purana and Matsya Purana, Rama appeared in the 24th Yuga Cycle.[40] According to Padma Purana, Rama also appeared in the 27th Yuga Cycle of the 6th (previous) manvantara.[41] Vyasa Vyasa is attributed as the compiler of the four Vedas, Mahabharata, and Puranas. According to the Vishnu Purana, Kurma Purana, and Shiva Purana, a different Vyasa comes at the end of each Dvapara Yuga to write down veda (knowledge) to guide humans in the degraded age of Kali Yuga.[42][43][44] Modern theories Breaking from the long duration of a Yuga Cycle, new theories have emerged regarding the length, number, and order of the yugas. Sri Yukteswar Giri See also: The Holy Science § Yuga theory Swami Sri Yukteswar Giri (1855–1936) proposed a Yuga Cycle of 24,000 years in the introduction of his book The Holy Science (1894).[45] He claimed the understanding that Kali Yuga lasts for 432,000 years was a mistake, which he traced back to Raja Parikshit, just after the descending Dvapara Yuga ended (c. 3101 BCE) and all the wise men of his court retired to the Himalaya Mountains. With no one left to correctly calculate the ages, Kali Yuga never officially started. After 499 CE, in ascending Dvapara Yuga, when the intellect of men began to develop, but not fully, they noticed mistakes and attempted to correct them by converting what they thought to be divine years to human years (1:360 ratio). Yukteswar's yuga lengths for Satya, Treta, Dvapara, and Kali are respectively 4,800, 3,600, 2,400, and 1,200 "human" years (12,000 years total).[46][47] He accepted the four yugas and their 4:3:2:1 length and dharma proportions, but his Yuga Cycle contained eight yugas, the original descending set of the four yugas followed by an ascending (reversed) set, where he called each set a "Daiva Yuga" or "Electric Couple". His Yuga Cycle lasts for 24,000 years, which he believed equals one precession of the equinoxes (traditionally 25,920 years; 1,920 years difference). He states that the world entered the Pisces-Virgo Age in 499 CE ("cycle bottom"), and that the current age of ascending Dvapara Yuga started in 1699 CE around the time of scientific discoveries and advancements such as electricity.[48][47] He explained that in a 24,000-year Yuga Cycle, the Sun completes one orbit around some dual star, becoming nearer and farther to a galactic center, which the pair orbit in a longer period. He called this galactic center Vishnunabhi (Vishnu's Navel), where Brahma regulates dharma or, as Yukteswar defined it, mental virtue. Dharma is lowest when farthest from Brahma at the descending-ascending intersection ("cycle-bottom"), where the opposite occurs at the "cycle-top" when nearest. At dharma's lowest (499 CE), human intellect cannot comprehend anything beyond the gross material world.[49][50] Sri Yukteswar's yuga cycle Yuga Start (– End) Length Descending (12,000 years) Krita (Satya) 11,501 BCE 4,800 Treta 6701 BCE 3,600 Dvapara 3101 BCE 2,400 Kali 701 BCE 1,200 Ascending (12,000 years) Kali 499 CE 1,200 Dvapara* 1699 CE 2,400 Treta 4099 CE 3,600 Krita (Satya) 7699–12,499 CE 4,800 Years: 24,000 (*) Current. [e] Joscelyn Godwin states that Yukteswar believed the traditional chronology of the yugas wrong and rigged for political reasons, but that Yukteswar may have had political reasons of his own, evident in a police report printed in Atlantis and the Cycles of Time, which links Yukteswar to a secret anti-colonial movement called Yugantar, meaning "new age" or "transition of an epoch".[51] Godwin claims the Jain time cycle and the European myth of progress influenced Yukteswar, whose theory only recently became prominent outside India. Humanity in an upward cycle is contrary to traditional ideas. Godwin points out many philosophies and religions that started during a time when "man could not see beyond the gross material world" (701 BCE – 1699 CE). Only materialists and atheists would welcome the post-1700 age as an improvement.[52] John Major Jenkins, who adjusted ascending Kali Yuga from 499 CE to 2012 in his version, criticizes Yukteswar as wanting the "cycle-bottom" to correspond to his education, beliefs, and historical understanding. Technology has thrust us deeper into material dependency and spiritual darkness.[53] René Guénon See also: The Reign of Quantity and the Signs of the Times René Guénon (1886–1951) proposed a Yuga Cycle of 64,800 years in his 1931 French article, which was later translated in the book Traditional Forms &amp; Cosmic Cycles (2001).[54] Guénon accepted the doctrine of the four yugas, the 4:3:2:1 yuga length proportions, and Kali Yuga as the present age. He couldn't accept the extremely large lengths and felt they were encoded with additional zeros to mislead those who might use it to predict the future. He reduced a Yuga Cycle from 4,320,000 to 4,320 years (1,728 + 1,296 + 864 + 432), but he felt this was too short for humanity's history.[55] In looking for a multiplier, he worked backwards from the precession of the equinoxes (traditionally 25,920 years; 360 72-year degrees). Using 25,920 and 72, he calculated the sub-multiplier to be 4,320 years (72 × 60 = 4,320; 4,320 × 6 = 25,920). In noticing the "great year" of the Persians (~12,000) and Greeks (~13,000) as almost half the precession, he concluded a "great year" must be 12,960 years (4,320 × 3). In trying to find the whole number of "great years" in a manvantara or reign of Vaivasvata Manu, he found the reign of Xisuthros of the Chaldeans to be set to 64,800 years (12,960 × 5), someone he thought to be the same Manu. Guénon felt 64,800 years was a more plausible length that may line up with humanity's history. He calculated a 64,800 manvantara divided into a 4,320 "encoded" Yuga Cycle gave a multiplier of 15 (5 "great years"). Using 15 as the multiplier, he "decoded" a 5-"great year" Yuga Cycle as having the following yuga lengths:[54][56] Satya: 25,920 (4 ratio or 2 × "great year"; 15 × 1,728) Treta: 19,440 (3 ratio or 1.5 × "great year"; 15 × 1,296) Dvapara: 12,960 (2 ratio or 1 × "great year"; 15 × 864) Kali: 6,480 (1 ratio or 0.5 × "great year"; 15 × 432) Guénon did not give a start date for Kali Yuga, but instead left clues in his description of the cataclysmic destruction of the Atlantean civilization. His commentator, Jean Robin, in an early 1980s publication, claimed to have decoded this description and calculated that Kali Yuga lasted from 4481 BCE to 1999 CE (2000 CE excluding year 0).[57] In Les Quatre Âges de L’Humanité (The Four Ages of Humanity), a book written in 1949 by Gaston Georgel, this same end date of 1999 CE was calculated; although, in his 1983 book titled Le Cycle Judéo-Chrétien (The Judeo-Christian Cycle), he later argued to shift the cycle forward by 31 years to end in 2030 CE.[58] René Guénon's yuga cycle Yuga Start (– End) Length Krita (Satya) 62,801 BCE 25,920 Treta 36,881 BCE 19,440 Dvapara 17,441 BCE 12,960 Kali 4481 BCE – 1999 CE 6,480 Years: 64,800 Current: Krita Yuga [1999–27,919 CE], next cycle. [e][f] Alain Daniélou Alain Daniélou (1907–1994) proposed a Yuga Cycle of 60,487 years in his book While the Gods Play: Shaiva Oracles and Predictions on the Cycles of History and the Destiny of Mankind (1985).[59] Daniélou and René Guénon had some correspondence where they both couldn't accept the extremely large lengths found in the Puranas. Daniélou mostly cited Linga Purana and his calculations are based on a 4,320,000-year Yuga Cycle containing (his calculation of 1000 ÷ 14) 71.42 manvantaras, each containing 4 yugas [4:3:2:1 proportions]. He pegged 3102 BCE as the start of Kali Yuga and placed it after the dawn (yuga-sandhya). He claimed his dates are accurate to within 50 years, and that the Yuga Cycle started with a great flood and appearance of Cro-Magnon man, and will end with a catastrophe wiping out mankind.[60] Alain Daniélou's yuga cycle Yuga Start (– End) Length Krita (Satya) 58,042 BCE 24,195 Treta 33,848 BCE 18,146 Dvapara 15,703 BCE 12,097 Kali* 3606 BCE – 2442 CE 6,048.72 Years: 60,487 (*) Current. [e][61] Joscelyn Godwin found that Daniélou's misunderstanding rests solely on a bad translation of Linga Purana 1.4.7.[62] Hindu astronomy In the early texts of Hindu astronomy such as Surya Siddhanta, the length of a yuga cycle is used to specify the orbital period of heavenly bodies. Instead of specifying the period of a single orbit of a heavenly body around the Earth, the number of orbits of a heavenly body in a yuga cycle is specified. Surya Siddhanta, Ch. 1:[63] (29) In an Age (yuga), the revolutions of the sun, Mercury, and Venus, and of the conjunctions (shighra) of Mars, Saturn, and Jupiter, moving eastward, are four million, three hundred and twenty thousand; (30) Of the moon, fifty-seven million, seven hundred and fifty-three thousand, three hundred and thirty-six; of Mars, two million, two hundred and ninety-six thousand, eight hundred and thirty-two; (31) Of Mercury's conjunction (shighra), seventeen million, nine hundred and thirty-seven thousand, and sixty; of Jupiter, three hundred and sixty-four thousand, two hundred and twenty; (32) Of Venus's conjunction (shigra), seven million, twenty-two thousand, three hundred and seventy-six; of Saturn, one hundred and forty-six thousand, five hundred and sixty-eight; (33) Of the moon's apsis (ucca), in an Age, four hundred and eighty-eight thousand, two hundred and three; of its node (pata), in the contrary direction, two hundred and thirty-two thousand, two hundred and thirty-eight; (34) Of the asterisms, one billion, five hundred and eighty-two million, two hundred and thirty-seven thousand, eight hundred and twenty-eight.... The orbital period of heavenly bodies can be derived from the above numbers provided the starting point of a yuga cycle is known. According to Burgess, the Surya Siddhanta fixes the starting point of Kali Yuga as: The instant at which the Age is made to commence is midnight on the meridian of Ujjayini, at the end of the 588,465th and beginning of the 588,466th day (civil reckoning) of the Julian Period, or between the 17th and 18th of February 1612 J.P., or 3102 B.C.[64] Based on this starting point, Ebenezer Burgess calculates the following planetary orbital periods: Comparative table of sidereal revolutions of the planets (geocentric)[65] Planet Surya Siddhanta Modern Revolutions in a yuga cycle Revolution length[g] (day hr min sec) Orbital period (day hr min sec) Sun 4,320,000 365 6 12 36.6 365 6 9 10.8 Mercury 17,937,060 87 23 16 22.3 87 23 15 43.9 Venus 7,022,376 224 16 45 56.2 224 16 49 8.0 Mars 2,296,832 686 23 56 23.5 686 23 30 41.4 Jupiter 364,220 4,332 7 41 44.4 4,332 14 2 8.6 Saturn 146,568 10,765 18 33 13.6 10,759 5 16 32.2 Moon (sidereal) 57,753,336 27 7 43 12.6 27 7 43 11.4 Moon (synodic) 53,433,336 29 12 44 2.8 29 12 44 2.9 Other cultures According to Robert Bolton, there is a universal belief in many traditions that the world started in a perfect state, when nature and the supernatural were still in harmony with all things in their fullest degree of perfection possible, which was followed by an unpreventable constant deterioration of the world through the ages.[66] In the Works and Days (lines 109–201; c. 700 BCE), considered the earliest European writing about human ages, the Greek poet Hesiod describes five ages (Golden, Silver, Bronze, Heroic, and Iron Ages), where the Heroic Age was added, according to Godwin, as a compromise with Greek history when the Trojan War and its heroes loomed so large.[67] Bolton explains that the men of the Golden Age lived like gods without sorrow, toil, grief, and old age, while the men of the Iron Age ("the race of iron") never rest from labor and sorrow, are degenerated without shame, morality, and righteous indignation, and have short lives with frequent deaths at night, where even a new-born baby shows signs of old age, only to end when Zeus destroys it all.[68] In the Statesman (c. 399 – c. 347 BCE), the Athenian philosopher Plato describes time as an indefinite cycle of two 36,000-year halves: (1) the world's unmaking descent into chaos and destruction; (2) the world's remaking by its creator into a renewed state.[69] In the Cratylus (397e), Plato recounts the golden race of men who came first, who were noble and good daemons (godlike guides) upon the earth. In the Metamorphoses (I, 89–150; c. 8 BCE), the Roman poet Ovid describes four ages (Golden, Silver, Bronze, and Iron Ages), excluding Hesiod's Heroic Age, as a downward curve with the present time as the nadir of misery and immorality, according to Godwin, affecting both human life and the after-death state, where deaths in the first two ages became immortal, watchful spirits that benefited the human race, deaths in the third age went to Hades (Greek god of the underworld), and deaths in the fourth age had an unknown fate.[70] Joscelyn Godwin posits that it is probably from Hindu tradition that knowledge of the ages reached the Greeks and other Indo-European peoples.[70] Godwin adds that the number 432,000 (Kali Yuga's duration) occurring in four widely separated cultures (Hindu, Chaldean, Chinese, and Icelandic) has long been noticed.[71] See also Hinduism portal India portal Hindu eschatology Hindu units of time Kalpa (day of Brahma) Manvantara (age of Manu) Pralaya (period of dissolution) Yuga Cycle (four yuga ages): Satya (Krita), Treta, Dvapara, and Kali Itihasa (Hindu Tradition) List of numbers in Hindu scriptures Vedic-Puranic chronology Explanatory notes  360 solar years constitute a divine year. This is as per the following belief system: The gods are believed to reside in the north celestial sphere.[1] Due to the axial tilt of the earth, the Sun is overhead the northern hemisphere during the period between the vernal and the autumnal equinox. This period is designated the daytime of the gods. Conversely, the Sun is overhead the southern hemisphere during the period between the autumnal and the vernal equinox. This period is designated the nighttime of the gods. Put together, an entire tropical solar year is designated the day of the gods.[2] 360 such day of the gods make a divine year.[3]  The general word "yuga" is sometimes used instead of the more specific word "catur-yuga". A kalpa is described as lasting 1,000 catur-yuga in Bhagavata Purana 12.4.2 ("catur-yuga")[9] and Bhagavad Gita 8.17 ("yuga").[10]  Each Kali-yuga-sandhi lasts for 36,000 solar (100 divine) years: * Sandhya: 3102 BCE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2025-08-08T06:21:59Z</dcterms:created>
  <dcterms:modified xsi:type="dcterms:W3CDTF">2025-08-08T06:22:33Z</dcterms:modified>
</cp:coreProperties>
</file>