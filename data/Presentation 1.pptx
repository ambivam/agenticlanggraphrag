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8/8/2025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8/8/2025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hyperlink" Target="https://en.wikipedia.org/wiki/Idi_Katha_Kaadu" TargetMode="External"/><Relationship Id="rId299" Type="http://schemas.openxmlformats.org/officeDocument/2006/relationships/hyperlink" Target="https://en.wikipedia.org/wiki/President_of_India" TargetMode="External"/><Relationship Id="rId21" Type="http://schemas.openxmlformats.org/officeDocument/2006/relationships/hyperlink" Target="https://en.wikipedia.org/wiki/Khaidi_(1983_film)" TargetMode="External"/><Relationship Id="rId63" Type="http://schemas.openxmlformats.org/officeDocument/2006/relationships/hyperlink" Target="https://en.wikipedia.org/wiki/Waltair_Veerayya" TargetMode="External"/><Relationship Id="rId159" Type="http://schemas.openxmlformats.org/officeDocument/2006/relationships/hyperlink" Target="https://en.wikipedia.org/wiki/Chiranjeevi#cite_note-weekendcreations1-36" TargetMode="External"/><Relationship Id="rId324" Type="http://schemas.openxmlformats.org/officeDocument/2006/relationships/hyperlink" Target="https://en.wikipedia.org/wiki/3rd_South_Indian_International_Movie_Awards" TargetMode="External"/><Relationship Id="rId366" Type="http://schemas.openxmlformats.org/officeDocument/2006/relationships/hyperlink" Target="https://en.wikipedia.org/wiki/Lists_of_Indian_actors" TargetMode="External"/><Relationship Id="rId170" Type="http://schemas.openxmlformats.org/officeDocument/2006/relationships/hyperlink" Target="https://en.wikipedia.org/wiki/K._Raghavendra_Rao" TargetMode="External"/><Relationship Id="rId226" Type="http://schemas.openxmlformats.org/officeDocument/2006/relationships/hyperlink" Target="https://en.wikipedia.org/wiki/Godfather_(2022_film)" TargetMode="External"/><Relationship Id="rId268" Type="http://schemas.openxmlformats.org/officeDocument/2006/relationships/hyperlink" Target="https://en.wikipedia.org/wiki/Incredible_India" TargetMode="External"/><Relationship Id="rId32" Type="http://schemas.openxmlformats.org/officeDocument/2006/relationships/hyperlink" Target="https://en.wikipedia.org/wiki/The_Week_(Indian_magazine)" TargetMode="External"/><Relationship Id="rId74" Type="http://schemas.openxmlformats.org/officeDocument/2006/relationships/hyperlink" Target="https://en.wikipedia.org/wiki/Mangalagiri" TargetMode="External"/><Relationship Id="rId128" Type="http://schemas.openxmlformats.org/officeDocument/2006/relationships/hyperlink" Target="https://en.wikipedia.org/wiki/Chiranjeevi#cite_note-29" TargetMode="External"/><Relationship Id="rId335" Type="http://schemas.openxmlformats.org/officeDocument/2006/relationships/hyperlink" Target="https://en.wikipedia.org/wiki/Chiranjeevi#cite_note-109" TargetMode="External"/><Relationship Id="rId377" Type="http://schemas.openxmlformats.org/officeDocument/2006/relationships/hyperlink" Target="https://telugu.hindustantimes.com/entertainment/telugu-hero-with-most-industry-hits-chiranjeevi-on-top-anr-ntr-prabhas-allu-arjun-balakrishna-in-the-list-121713439405225.html" TargetMode="External"/><Relationship Id="rId5" Type="http://schemas.openxmlformats.org/officeDocument/2006/relationships/hyperlink" Target="https://en.wikipedia.org/wiki/Chiranjeevi#cite_note-5" TargetMode="External"/><Relationship Id="rId181" Type="http://schemas.openxmlformats.org/officeDocument/2006/relationships/hyperlink" Target="https://en.wikipedia.org/wiki/Chiranjeevi#cite_note-44" TargetMode="External"/><Relationship Id="rId237" Type="http://schemas.openxmlformats.org/officeDocument/2006/relationships/hyperlink" Target="https://en.wikipedia.org/wiki/Bhola_Shankar" TargetMode="External"/><Relationship Id="rId279" Type="http://schemas.openxmlformats.org/officeDocument/2006/relationships/hyperlink" Target="https://en.wikipedia.org/wiki/Chiranjeevi#cite_note-71" TargetMode="External"/><Relationship Id="rId43" Type="http://schemas.openxmlformats.org/officeDocument/2006/relationships/hyperlink" Target="https://en.wikipedia.org/wiki/Indra_(2002_film)" TargetMode="External"/><Relationship Id="rId139" Type="http://schemas.openxmlformats.org/officeDocument/2006/relationships/hyperlink" Target="https://en.wikipedia.org/wiki/Idi_Pellantara" TargetMode="External"/><Relationship Id="rId290" Type="http://schemas.openxmlformats.org/officeDocument/2006/relationships/hyperlink" Target="https://en.wikipedia.org/wiki/Chiranjeevi#cite_note-79" TargetMode="External"/><Relationship Id="rId304" Type="http://schemas.openxmlformats.org/officeDocument/2006/relationships/hyperlink" Target="https://en.wikipedia.org/wiki/Rajasekhar_(actor)" TargetMode="External"/><Relationship Id="rId346" Type="http://schemas.openxmlformats.org/officeDocument/2006/relationships/hyperlink" Target="https://en.wikipedia.org/wiki/Chiranjeevi#cite_note-119" TargetMode="External"/><Relationship Id="rId85" Type="http://schemas.openxmlformats.org/officeDocument/2006/relationships/hyperlink" Target="https://en.wikipedia.org/wiki/Chiranjeevi#cite_note-birthday-18" TargetMode="External"/><Relationship Id="rId150" Type="http://schemas.openxmlformats.org/officeDocument/2006/relationships/hyperlink" Target="https://en.wikipedia.org/wiki/Challenge_(1984_film)" TargetMode="External"/><Relationship Id="rId192" Type="http://schemas.openxmlformats.org/officeDocument/2006/relationships/hyperlink" Target="https://en.wikipedia.org/wiki/Alluda_Majaka" TargetMode="External"/><Relationship Id="rId206" Type="http://schemas.openxmlformats.org/officeDocument/2006/relationships/hyperlink" Target="https://en.wikipedia.org/wiki/Shankar_Dada_Zindabad" TargetMode="External"/><Relationship Id="rId248" Type="http://schemas.openxmlformats.org/officeDocument/2006/relationships/hyperlink" Target="https://en.wikipedia.org/wiki/International_versions_of_Who_Wants_to_Be_a_Millionaire%3F" TargetMode="External"/><Relationship Id="rId12" Type="http://schemas.openxmlformats.org/officeDocument/2006/relationships/hyperlink" Target="https://en.wikipedia.org/wiki/Raghupathi_Venkaiah_Award" TargetMode="External"/><Relationship Id="rId108" Type="http://schemas.openxmlformats.org/officeDocument/2006/relationships/hyperlink" Target="https://en.wikipedia.org/wiki/Chiranjeevi#cite_note-bhushan-24" TargetMode="External"/><Relationship Id="rId315" Type="http://schemas.openxmlformats.org/officeDocument/2006/relationships/hyperlink" Target="https://en.wikipedia.org/wiki/Chiranjeevi#cite_note-96" TargetMode="External"/><Relationship Id="rId357" Type="http://schemas.openxmlformats.org/officeDocument/2006/relationships/hyperlink" Target="https://en.wikipedia.org/wiki/Chiranjeevi#cite_note-auto2-127" TargetMode="External"/><Relationship Id="rId54" Type="http://schemas.openxmlformats.org/officeDocument/2006/relationships/hyperlink" Target="https://en.wikipedia.org/wiki/Chiranjeevi#cite_note-:8-14" TargetMode="External"/><Relationship Id="rId96" Type="http://schemas.openxmlformats.org/officeDocument/2006/relationships/hyperlink" Target="https://en.wikipedia.org/wiki/Allu_Arjun" TargetMode="External"/><Relationship Id="rId161" Type="http://schemas.openxmlformats.org/officeDocument/2006/relationships/hyperlink" Target="https://en.wikipedia.org/wiki/Chiranjeevi#cite_note-37" TargetMode="External"/><Relationship Id="rId217" Type="http://schemas.openxmlformats.org/officeDocument/2006/relationships/hyperlink" Target="https://en.wikipedia.org/wiki/Chiranjeevi#cite_note-50" TargetMode="External"/><Relationship Id="rId259" Type="http://schemas.openxmlformats.org/officeDocument/2006/relationships/hyperlink" Target="https://en.wikipedia.org/wiki/New_Delhi" TargetMode="External"/><Relationship Id="rId23" Type="http://schemas.openxmlformats.org/officeDocument/2006/relationships/hyperlink" Target="https://en.wikipedia.org/wiki/Yamudiki_Mogudu_(1988_film)" TargetMode="External"/><Relationship Id="rId119" Type="http://schemas.openxmlformats.org/officeDocument/2006/relationships/hyperlink" Target="https://en.wikipedia.org/wiki/Avargal" TargetMode="External"/><Relationship Id="rId270" Type="http://schemas.openxmlformats.org/officeDocument/2006/relationships/hyperlink" Target="https://en.wikipedia.org/wiki/Chiranjeevi#cite_note-67" TargetMode="External"/><Relationship Id="rId326" Type="http://schemas.openxmlformats.org/officeDocument/2006/relationships/hyperlink" Target="https://en.wikipedia.org/wiki/Chiranjeevi#cite_note-auto-101" TargetMode="External"/><Relationship Id="rId65" Type="http://schemas.openxmlformats.org/officeDocument/2006/relationships/hyperlink" Target="https://en.wikipedia.org/wiki/Penugonda" TargetMode="External"/><Relationship Id="rId130" Type="http://schemas.openxmlformats.org/officeDocument/2006/relationships/hyperlink" Target="https://en.wikipedia.org/wiki/Kodi_Ramakrishna" TargetMode="External"/><Relationship Id="rId368" Type="http://schemas.openxmlformats.org/officeDocument/2006/relationships/hyperlink" Target="http://entertainment.oneindia.in/celebs/chiranjeevi/biography.html" TargetMode="External"/><Relationship Id="rId172" Type="http://schemas.openxmlformats.org/officeDocument/2006/relationships/hyperlink" Target="https://en.wikipedia.org/wiki/Kondaveeti_Donga" TargetMode="External"/><Relationship Id="rId228" Type="http://schemas.openxmlformats.org/officeDocument/2006/relationships/hyperlink" Target="https://en.wikipedia.org/wiki/Salman_Khan" TargetMode="External"/><Relationship Id="rId281" Type="http://schemas.openxmlformats.org/officeDocument/2006/relationships/hyperlink" Target="https://en.wikipedia.org/wiki/Chiranjeevi#cite_note-73" TargetMode="External"/><Relationship Id="rId337" Type="http://schemas.openxmlformats.org/officeDocument/2006/relationships/hyperlink" Target="https://en.wikipedia.org/wiki/Chiranjeevi#cite_note-111" TargetMode="External"/><Relationship Id="rId34" Type="http://schemas.openxmlformats.org/officeDocument/2006/relationships/hyperlink" Target="https://en.wikipedia.org/wiki/Chiranjeevi#cite_note-10" TargetMode="External"/><Relationship Id="rId76" Type="http://schemas.openxmlformats.org/officeDocument/2006/relationships/hyperlink" Target="https://en.wikipedia.org/wiki/Republic_Day" TargetMode="External"/><Relationship Id="rId141" Type="http://schemas.openxmlformats.org/officeDocument/2006/relationships/hyperlink" Target="https://en.wikipedia.org/wiki/Tingu_Rangadu" TargetMode="External"/><Relationship Id="rId379" Type="http://schemas.openxmlformats.org/officeDocument/2006/relationships/hyperlink" Target="https://timesofindia.indiatimes.com/entertainment/hindi/bollywood/news/shahid-kapoor-is-the-best-dancerprabhu-dheva/articleshow/28635308.cms" TargetMode="External"/><Relationship Id="rId7" Type="http://schemas.openxmlformats.org/officeDocument/2006/relationships/hyperlink" Target="https://en.wikipedia.org/wiki/Chiranjeevi#cite_note-7" TargetMode="External"/><Relationship Id="rId183" Type="http://schemas.openxmlformats.org/officeDocument/2006/relationships/hyperlink" Target="https://en.wikipedia.org/wiki/Pratibandh" TargetMode="External"/><Relationship Id="rId239" Type="http://schemas.openxmlformats.org/officeDocument/2006/relationships/hyperlink" Target="https://en.wikipedia.org/wiki/Chiranjeevi#cite_note-57" TargetMode="External"/><Relationship Id="rId250" Type="http://schemas.openxmlformats.org/officeDocument/2006/relationships/hyperlink" Target="https://en.wikipedia.org/wiki/Political_party" TargetMode="External"/><Relationship Id="rId292" Type="http://schemas.openxmlformats.org/officeDocument/2006/relationships/hyperlink" Target="https://en.wikipedia.org/wiki/Chiranjeevi#cite_note-81" TargetMode="External"/><Relationship Id="rId306" Type="http://schemas.openxmlformats.org/officeDocument/2006/relationships/hyperlink" Target="https://en.wikipedia.org/wiki/Chiranjeevi#cite_note-90" TargetMode="External"/><Relationship Id="rId45" Type="http://schemas.openxmlformats.org/officeDocument/2006/relationships/hyperlink" Target="https://en.wikipedia.org/wiki/Shankar_Dada_M.B.B.S." TargetMode="External"/><Relationship Id="rId87" Type="http://schemas.openxmlformats.org/officeDocument/2006/relationships/hyperlink" Target="https://en.wikipedia.org/wiki/Chiranjeevi#cite_note-Marriage1980-19" TargetMode="External"/><Relationship Id="rId110" Type="http://schemas.openxmlformats.org/officeDocument/2006/relationships/hyperlink" Target="https://en.wikipedia.org/wiki/Chiranjeevi#cite_note-first_film-25" TargetMode="External"/><Relationship Id="rId348" Type="http://schemas.openxmlformats.org/officeDocument/2006/relationships/hyperlink" Target="https://en.wikipedia.org/wiki/Chiranjeevi#cite_note-121" TargetMode="External"/><Relationship Id="rId152" Type="http://schemas.openxmlformats.org/officeDocument/2006/relationships/hyperlink" Target="https://en.wikipedia.org/wiki/Donga_(film)" TargetMode="External"/><Relationship Id="rId194" Type="http://schemas.openxmlformats.org/officeDocument/2006/relationships/hyperlink" Target="https://en.wikipedia.org/wiki/Sipayi" TargetMode="External"/><Relationship Id="rId208" Type="http://schemas.openxmlformats.org/officeDocument/2006/relationships/hyperlink" Target="https://en.wikipedia.org/wiki/Magadheera" TargetMode="External"/><Relationship Id="rId261" Type="http://schemas.openxmlformats.org/officeDocument/2006/relationships/hyperlink" Target="https://en.wikipedia.org/wiki/Chiranjeevi#cite_note-65" TargetMode="External"/><Relationship Id="rId14" Type="http://schemas.openxmlformats.org/officeDocument/2006/relationships/hyperlink" Target="https://en.wikipedia.org/wiki/Filmfare_Awards_South" TargetMode="External"/><Relationship Id="rId56" Type="http://schemas.openxmlformats.org/officeDocument/2006/relationships/hyperlink" Target="https://en.wikipedia.org/wiki/2009_Andhra_Pradesh_Legislative_Assembly_election" TargetMode="External"/><Relationship Id="rId317" Type="http://schemas.openxmlformats.org/officeDocument/2006/relationships/hyperlink" Target="https://en.wikipedia.org/wiki/Chiranjeevi#cite_note-97" TargetMode="External"/><Relationship Id="rId359" Type="http://schemas.openxmlformats.org/officeDocument/2006/relationships/hyperlink" Target="https://en.wikipedia.org/wiki/Santosham_Best_Actor_Award" TargetMode="External"/><Relationship Id="rId98" Type="http://schemas.openxmlformats.org/officeDocument/2006/relationships/hyperlink" Target="https://en.wikipedia.org/wiki/Varun_Tej" TargetMode="External"/><Relationship Id="rId121" Type="http://schemas.openxmlformats.org/officeDocument/2006/relationships/hyperlink" Target="https://en.wikipedia.org/wiki/Chiranjeevi#cite_note-imdb-27" TargetMode="External"/><Relationship Id="rId163" Type="http://schemas.openxmlformats.org/officeDocument/2006/relationships/hyperlink" Target="https://en.wikipedia.org/wiki/Chiranjeevi#cite_note-rve-38" TargetMode="External"/><Relationship Id="rId219" Type="http://schemas.openxmlformats.org/officeDocument/2006/relationships/hyperlink" Target="https://en.wikipedia.org/wiki/Historical_drama" TargetMode="External"/><Relationship Id="rId370" Type="http://schemas.openxmlformats.org/officeDocument/2006/relationships/hyperlink" Target="https://timesofindia.indiatimes.com/videos/etimes/bollywood/megastar-chiranjeevi-reacts-to-prestigious-padma-vibhushan-honor-truly-humbled/videoshow/107160081.cms" TargetMode="External"/><Relationship Id="rId230" Type="http://schemas.openxmlformats.org/officeDocument/2006/relationships/hyperlink" Target="https://en.wikipedia.org/wiki/Chiranjeevi#cite_note-54" TargetMode="External"/><Relationship Id="rId25" Type="http://schemas.openxmlformats.org/officeDocument/2006/relationships/hyperlink" Target="https://en.wikipedia.org/wiki/Jagadeka_Veerudu_Athiloka_Sundari" TargetMode="External"/><Relationship Id="rId67" Type="http://schemas.openxmlformats.org/officeDocument/2006/relationships/hyperlink" Target="https://en.wikipedia.org/wiki/Andhra_Pradesh" TargetMode="External"/><Relationship Id="rId272" Type="http://schemas.openxmlformats.org/officeDocument/2006/relationships/hyperlink" Target="https://en.wikipedia.org/wiki/14th_IIFA_Awards" TargetMode="External"/><Relationship Id="rId328" Type="http://schemas.openxmlformats.org/officeDocument/2006/relationships/hyperlink" Target="https://en.wikipedia.org/wiki/Chiranjeevi#cite_note-Padma_Awards-103" TargetMode="External"/><Relationship Id="rId132" Type="http://schemas.openxmlformats.org/officeDocument/2006/relationships/hyperlink" Target="https://en.wikipedia.org/wiki/Subhalekha" TargetMode="External"/><Relationship Id="rId174" Type="http://schemas.openxmlformats.org/officeDocument/2006/relationships/hyperlink" Target="https://en.wikipedia.org/wiki/Stereophonic_sound" TargetMode="External"/><Relationship Id="rId381" Type="http://schemas.openxmlformats.org/officeDocument/2006/relationships/hyperlink" Target="https://timesofindia.indiatimes.com/entertainment/telugu/movies/news/28-years-for-gharana-mogudu-4-fascinating-things-about-the-chiranjeevi-starrer/photostory/75079293.cms" TargetMode="External"/><Relationship Id="rId241" Type="http://schemas.openxmlformats.org/officeDocument/2006/relationships/hyperlink" Target="https://en.wikipedia.org/wiki/Mallidi_Vassishta" TargetMode="External"/><Relationship Id="rId36" Type="http://schemas.openxmlformats.org/officeDocument/2006/relationships/hyperlink" Target="https://en.wikipedia.org/wiki/Chiranjeevi#cite_note-11" TargetMode="External"/><Relationship Id="rId283" Type="http://schemas.openxmlformats.org/officeDocument/2006/relationships/hyperlink" Target="https://en.wikipedia.org/wiki/Telugu_Desam_Party" TargetMode="External"/><Relationship Id="rId339" Type="http://schemas.openxmlformats.org/officeDocument/2006/relationships/hyperlink" Target="https://en.wikipedia.org/wiki/Chiranjeevi#cite_note-113" TargetMode="External"/><Relationship Id="rId78" Type="http://schemas.openxmlformats.org/officeDocument/2006/relationships/hyperlink" Target="https://en.wikipedia.org/wiki/Chiranjeevi#cite_note-16" TargetMode="External"/><Relationship Id="rId101" Type="http://schemas.openxmlformats.org/officeDocument/2006/relationships/hyperlink" Target="https://en.wikipedia.org/wiki/Panja_Vaisshnav_Tej" TargetMode="External"/><Relationship Id="rId143" Type="http://schemas.openxmlformats.org/officeDocument/2006/relationships/hyperlink" Target="https://en.wikipedia.org/wiki/Mondi_Ghatam" TargetMode="External"/><Relationship Id="rId185" Type="http://schemas.openxmlformats.org/officeDocument/2006/relationships/hyperlink" Target="https://en.wikipedia.org/wiki/Aaj_Ka_Goonda_Raaj" TargetMode="External"/><Relationship Id="rId350" Type="http://schemas.openxmlformats.org/officeDocument/2006/relationships/hyperlink" Target="https://en.wikipedia.org/wiki/Chiranjeevi#cite_note-123" TargetMode="External"/><Relationship Id="rId9" Type="http://schemas.openxmlformats.org/officeDocument/2006/relationships/hyperlink" Target="https://en.wikipedia.org/wiki/Padma_Vibhushan" TargetMode="External"/><Relationship Id="rId210" Type="http://schemas.openxmlformats.org/officeDocument/2006/relationships/hyperlink" Target="https://en.wikipedia.org/wiki/Varudu" TargetMode="External"/><Relationship Id="rId252" Type="http://schemas.openxmlformats.org/officeDocument/2006/relationships/hyperlink" Target="https://en.wikipedia.org/wiki/Chiranjeevi#cite_note-60" TargetMode="External"/><Relationship Id="rId294" Type="http://schemas.openxmlformats.org/officeDocument/2006/relationships/hyperlink" Target="https://en.wikipedia.org/wiki/Chiranjeevi#cite_note-:1-83" TargetMode="External"/><Relationship Id="rId308" Type="http://schemas.openxmlformats.org/officeDocument/2006/relationships/hyperlink" Target="https://en.wikipedia.org/wiki/Chiranjeevi#cite_note-92" TargetMode="External"/><Relationship Id="rId47" Type="http://schemas.openxmlformats.org/officeDocument/2006/relationships/hyperlink" Target="https://en.wikipedia.org/wiki/Eye_bank" TargetMode="External"/><Relationship Id="rId68" Type="http://schemas.openxmlformats.org/officeDocument/2006/relationships/hyperlink" Target="https://en.wikipedia.org/wiki/Chiranjeevi#cite_note-hindu1-15" TargetMode="External"/><Relationship Id="rId89" Type="http://schemas.openxmlformats.org/officeDocument/2006/relationships/hyperlink" Target="https://en.wikipedia.org/wiki/Ram_Charan" TargetMode="External"/><Relationship Id="rId112" Type="http://schemas.openxmlformats.org/officeDocument/2006/relationships/hyperlink" Target="https://en.wikipedia.org/wiki/Mana_Voori_Pandavulu" TargetMode="External"/><Relationship Id="rId133" Type="http://schemas.openxmlformats.org/officeDocument/2006/relationships/hyperlink" Target="https://en.wikipedia.org/wiki/K._Viswanath" TargetMode="External"/><Relationship Id="rId154" Type="http://schemas.openxmlformats.org/officeDocument/2006/relationships/hyperlink" Target="https://en.wikipedia.org/wiki/Kondaveeti_Raja" TargetMode="External"/><Relationship Id="rId175" Type="http://schemas.openxmlformats.org/officeDocument/2006/relationships/hyperlink" Target="https://en.wikipedia.org/wiki/Western_film" TargetMode="External"/><Relationship Id="rId340" Type="http://schemas.openxmlformats.org/officeDocument/2006/relationships/hyperlink" Target="https://en.wikipedia.org/wiki/Chiranjeevi#cite_note-114" TargetMode="External"/><Relationship Id="rId361" Type="http://schemas.openxmlformats.org/officeDocument/2006/relationships/hyperlink" Target="https://en.wikipedia.org/wiki/Chiranjeevi#cite_note-128" TargetMode="External"/><Relationship Id="rId196" Type="http://schemas.openxmlformats.org/officeDocument/2006/relationships/hyperlink" Target="https://en.wikipedia.org/wiki/Bavagaru_Bagunnara%3F" TargetMode="External"/><Relationship Id="rId200" Type="http://schemas.openxmlformats.org/officeDocument/2006/relationships/hyperlink" Target="https://en.wikipedia.org/wiki/Annayya_(2000_film)" TargetMode="External"/><Relationship Id="rId382" Type="http://schemas.openxmlformats.org/officeDocument/2006/relationships/hyperlink" Target="https://web.archive.org/web/20201028104425/https:/timesofindia.indiatimes.com/entertainment/telugu/movies/news/28-years-for-gharana-mogudu-4-fascinating-things-about-the-chiranjeevi-starrer/photostory/75079293.cms" TargetMode="External"/><Relationship Id="rId16" Type="http://schemas.openxmlformats.org/officeDocument/2006/relationships/hyperlink" Target="https://en.wikipedia.org/wiki/Filmfare_Special_Award_%E2%80%93_South" TargetMode="External"/><Relationship Id="rId221" Type="http://schemas.openxmlformats.org/officeDocument/2006/relationships/hyperlink" Target="https://en.wikipedia.org/wiki/Surender_Reddy" TargetMode="External"/><Relationship Id="rId242" Type="http://schemas.openxmlformats.org/officeDocument/2006/relationships/hyperlink" Target="https://en.wikipedia.org/wiki/Bimbisara_(film)" TargetMode="External"/><Relationship Id="rId263" Type="http://schemas.openxmlformats.org/officeDocument/2006/relationships/hyperlink" Target="https://en.wikipedia.org/wiki/Y._S._Jagan_Mohan_Reddy" TargetMode="External"/><Relationship Id="rId284" Type="http://schemas.openxmlformats.org/officeDocument/2006/relationships/hyperlink" Target="https://en.wikipedia.org/wiki/Bharatiya_Janata_Party" TargetMode="External"/><Relationship Id="rId319" Type="http://schemas.openxmlformats.org/officeDocument/2006/relationships/hyperlink" Target="https://en.wikipedia.org/wiki/Honorary_Doctorate" TargetMode="External"/><Relationship Id="rId37" Type="http://schemas.openxmlformats.org/officeDocument/2006/relationships/hyperlink" Target="https://en.wikipedia.org/wiki/Swayamkrushi" TargetMode="External"/><Relationship Id="rId58" Type="http://schemas.openxmlformats.org/officeDocument/2006/relationships/hyperlink" Target="https://en.wikipedia.org/wiki/Member_of_Parliament,_Rajya_Sabha" TargetMode="External"/><Relationship Id="rId79" Type="http://schemas.openxmlformats.org/officeDocument/2006/relationships/hyperlink" Target="https://en.wikipedia.org/wiki/Ongole" TargetMode="External"/><Relationship Id="rId102" Type="http://schemas.openxmlformats.org/officeDocument/2006/relationships/hyperlink" Target="https://en.wikipedia.org/wiki/Chiranjeevi#cite_note-22" TargetMode="External"/><Relationship Id="rId123" Type="http://schemas.openxmlformats.org/officeDocument/2006/relationships/hyperlink" Target="https://en.wikipedia.org/wiki/Rani_Kasula_Rangamma" TargetMode="External"/><Relationship Id="rId144" Type="http://schemas.openxmlformats.org/officeDocument/2006/relationships/hyperlink" Target="https://en.wikipedia.org/wiki/Patnam_Vachina_Pativrathalu" TargetMode="External"/><Relationship Id="rId330" Type="http://schemas.openxmlformats.org/officeDocument/2006/relationships/hyperlink" Target="https://en.wikipedia.org/wiki/Chiranjeevi#cite_note-105" TargetMode="External"/><Relationship Id="rId90" Type="http://schemas.openxmlformats.org/officeDocument/2006/relationships/hyperlink" Target="https://en.wikipedia.org/wiki/Chiranjeevi#cite_note-Khaidi-21" TargetMode="External"/><Relationship Id="rId165" Type="http://schemas.openxmlformats.org/officeDocument/2006/relationships/hyperlink" Target="https://en.wikipedia.org/wiki/Chiranjeevi#cite_note-39" TargetMode="External"/><Relationship Id="rId186" Type="http://schemas.openxmlformats.org/officeDocument/2006/relationships/hyperlink" Target="https://en.wikipedia.org/wiki/S._P._Parasuram" TargetMode="External"/><Relationship Id="rId351" Type="http://schemas.openxmlformats.org/officeDocument/2006/relationships/hyperlink" Target="https://en.wikipedia.org/wiki/Swayam_Krushi" TargetMode="External"/><Relationship Id="rId372" Type="http://schemas.openxmlformats.org/officeDocument/2006/relationships/hyperlink" Target="https://web.archive.org/web/20220109192606/https:/timesofindia.indiatimes.com/entertainment/telugu/movies/photo-features/chiranjeevi-birthday-special-amazing-unknown-facts/supreme-hero-to-megastar/photostory/53807538.cms?from=mdr" TargetMode="External"/><Relationship Id="rId211" Type="http://schemas.openxmlformats.org/officeDocument/2006/relationships/hyperlink" Target="https://en.wikipedia.org/wiki/Rudhramadevi_(film)" TargetMode="External"/><Relationship Id="rId232" Type="http://schemas.openxmlformats.org/officeDocument/2006/relationships/hyperlink" Target="https://en.wikipedia.org/wiki/Chiranjeevi#cite_note-55" TargetMode="External"/><Relationship Id="rId253" Type="http://schemas.openxmlformats.org/officeDocument/2006/relationships/hyperlink" Target="https://en.wikipedia.org/wiki/Chiranjeevi#cite_note-61" TargetMode="External"/><Relationship Id="rId274" Type="http://schemas.openxmlformats.org/officeDocument/2006/relationships/hyperlink" Target="https://en.wikipedia.org/wiki/Chiranjeevi#cite_note-69" TargetMode="External"/><Relationship Id="rId295" Type="http://schemas.openxmlformats.org/officeDocument/2006/relationships/hyperlink" Target="https://en.wikipedia.org/wiki/Chiranjeevi#cite_note-:3-84" TargetMode="External"/><Relationship Id="rId309" Type="http://schemas.openxmlformats.org/officeDocument/2006/relationships/hyperlink" Target="https://en.wikipedia.org/wiki/National_AIDS_Control_Organisation" TargetMode="External"/><Relationship Id="rId27" Type="http://schemas.openxmlformats.org/officeDocument/2006/relationships/hyperlink" Target="https://en.wikipedia.org/wiki/Gharana_Mogudu" TargetMode="External"/><Relationship Id="rId48" Type="http://schemas.openxmlformats.org/officeDocument/2006/relationships/hyperlink" Target="https://en.wikipedia.org/wiki/Telugu_states" TargetMode="External"/><Relationship Id="rId69" Type="http://schemas.openxmlformats.org/officeDocument/2006/relationships/hyperlink" Target="https://en.wikipedia.org/wiki/Constable" TargetMode="External"/><Relationship Id="rId113" Type="http://schemas.openxmlformats.org/officeDocument/2006/relationships/hyperlink" Target="https://en.wikipedia.org/wiki/Bapu_(director)" TargetMode="External"/><Relationship Id="rId134" Type="http://schemas.openxmlformats.org/officeDocument/2006/relationships/hyperlink" Target="https://en.wikipedia.org/wiki/Dowry_system_in_India" TargetMode="External"/><Relationship Id="rId320" Type="http://schemas.openxmlformats.org/officeDocument/2006/relationships/hyperlink" Target="https://en.wikipedia.org/wiki/Andhra_University" TargetMode="External"/><Relationship Id="rId80" Type="http://schemas.openxmlformats.org/officeDocument/2006/relationships/hyperlink" Target="https://en.wikipedia.org/wiki/Chiranjeevi#cite_note-17" TargetMode="External"/><Relationship Id="rId155" Type="http://schemas.openxmlformats.org/officeDocument/2006/relationships/hyperlink" Target="https://en.wikipedia.org/wiki/Rakshasudu_(1986_film)" TargetMode="External"/><Relationship Id="rId176" Type="http://schemas.openxmlformats.org/officeDocument/2006/relationships/hyperlink" Target="https://en.wikipedia.org/wiki/Kodama_Simham" TargetMode="External"/><Relationship Id="rId197" Type="http://schemas.openxmlformats.org/officeDocument/2006/relationships/hyperlink" Target="https://en.wikipedia.org/wiki/Sneham_Kosam" TargetMode="External"/><Relationship Id="rId341" Type="http://schemas.openxmlformats.org/officeDocument/2006/relationships/hyperlink" Target="https://en.wikipedia.org/wiki/Chiranjeevi#cite_note-115" TargetMode="External"/><Relationship Id="rId362" Type="http://schemas.openxmlformats.org/officeDocument/2006/relationships/hyperlink" Target="https://en.wikipedia.org/wiki/Doctorate" TargetMode="External"/><Relationship Id="rId383" Type="http://schemas.openxmlformats.org/officeDocument/2006/relationships/hyperlink" Target="https://ghostarchive.org/archive/0gllr" TargetMode="External"/><Relationship Id="rId201" Type="http://schemas.openxmlformats.org/officeDocument/2006/relationships/hyperlink" Target="https://en.wikipedia.org/wiki/Stalin_(2006_film)" TargetMode="External"/><Relationship Id="rId222" Type="http://schemas.openxmlformats.org/officeDocument/2006/relationships/hyperlink" Target="https://en.wikipedia.org/wiki/Chiranjeevi#cite_note-52" TargetMode="External"/><Relationship Id="rId243" Type="http://schemas.openxmlformats.org/officeDocument/2006/relationships/hyperlink" Target="https://en.wikipedia.org/wiki/Indian_Super_League" TargetMode="External"/><Relationship Id="rId264" Type="http://schemas.openxmlformats.org/officeDocument/2006/relationships/hyperlink" Target="https://en.wikipedia.org/wiki/YSR_Congress_Party" TargetMode="External"/><Relationship Id="rId285" Type="http://schemas.openxmlformats.org/officeDocument/2006/relationships/hyperlink" Target="https://en.wikipedia.org/wiki/Chiranjeevi#cite_note-75" TargetMode="External"/><Relationship Id="rId17" Type="http://schemas.openxmlformats.org/officeDocument/2006/relationships/hyperlink" Target="https://en.wikipedia.org/wiki/CNN-News18" TargetMode="External"/><Relationship Id="rId38" Type="http://schemas.openxmlformats.org/officeDocument/2006/relationships/hyperlink" Target="https://en.wikipedia.org/wiki/Rudraveena_(film)" TargetMode="External"/><Relationship Id="rId59" Type="http://schemas.openxmlformats.org/officeDocument/2006/relationships/hyperlink" Target="https://en.wikipedia.org/wiki/Ministry_of_Tourism_(India)" TargetMode="External"/><Relationship Id="rId103" Type="http://schemas.openxmlformats.org/officeDocument/2006/relationships/hyperlink" Target="https://en.wikipedia.org/wiki/Hanuman" TargetMode="External"/><Relationship Id="rId124" Type="http://schemas.openxmlformats.org/officeDocument/2006/relationships/hyperlink" Target="https://en.wikipedia.org/wiki/47_Natkal" TargetMode="External"/><Relationship Id="rId310" Type="http://schemas.openxmlformats.org/officeDocument/2006/relationships/hyperlink" Target="https://en.wikipedia.org/wiki/Chiranjeevi#cite_note-93" TargetMode="External"/><Relationship Id="rId70" Type="http://schemas.openxmlformats.org/officeDocument/2006/relationships/hyperlink" Target="https://en.wikipedia.org/wiki/Nidadavolu" TargetMode="External"/><Relationship Id="rId91" Type="http://schemas.openxmlformats.org/officeDocument/2006/relationships/hyperlink" Target="https://en.wikipedia.org/wiki/Nagendra_Babu" TargetMode="External"/><Relationship Id="rId145" Type="http://schemas.openxmlformats.org/officeDocument/2006/relationships/hyperlink" Target="https://en.wikipedia.org/wiki/Manchu_Pallaki" TargetMode="External"/><Relationship Id="rId166" Type="http://schemas.openxmlformats.org/officeDocument/2006/relationships/hyperlink" Target="https://en.wikipedia.org/wiki/Marana_Mrudangam" TargetMode="External"/><Relationship Id="rId187" Type="http://schemas.openxmlformats.org/officeDocument/2006/relationships/hyperlink" Target="https://en.wikipedia.org/wiki/The_Gentleman_(1994_film)" TargetMode="External"/><Relationship Id="rId331" Type="http://schemas.openxmlformats.org/officeDocument/2006/relationships/hyperlink" Target="https://en.wikipedia.org/wiki/Chiranjeevi#cite_note-auto3-106" TargetMode="External"/><Relationship Id="rId352" Type="http://schemas.openxmlformats.org/officeDocument/2006/relationships/hyperlink" Target="https://en.wikipedia.org/wiki/Chiranjeevi#cite_note-:0-124" TargetMode="External"/><Relationship Id="rId373" Type="http://schemas.openxmlformats.org/officeDocument/2006/relationships/hyperlink" Target="https://timesofindia.indiatimes.com/entertainment/hindi/bollywood/news/chiranjeevi-honoured-with-the-indian-film-personality-of-the-year-at-the-53rd-iffi/articleshow/95643674.cms" TargetMode="External"/><Relationship Id="rId1" Type="http://schemas.openxmlformats.org/officeDocument/2006/relationships/slideLayout" Target="../slideLayouts/slideLayout1.xml"/><Relationship Id="rId212" Type="http://schemas.openxmlformats.org/officeDocument/2006/relationships/hyperlink" Target="https://en.wikipedia.org/wiki/Kaththi" TargetMode="External"/><Relationship Id="rId233" Type="http://schemas.openxmlformats.org/officeDocument/2006/relationships/hyperlink" Target="https://en.wikipedia.org/wiki/K._S._Ravindra" TargetMode="External"/><Relationship Id="rId254" Type="http://schemas.openxmlformats.org/officeDocument/2006/relationships/hyperlink" Target="https://en.wikipedia.org/wiki/Chiranjeevi#cite_note-62" TargetMode="External"/><Relationship Id="rId28" Type="http://schemas.openxmlformats.org/officeDocument/2006/relationships/hyperlink" Target="https://en.wikipedia.org/wiki/Cinema_of_South_India" TargetMode="External"/><Relationship Id="rId49" Type="http://schemas.openxmlformats.org/officeDocument/2006/relationships/hyperlink" Target="https://en.wikipedia.org/wiki/Corneal_transplantation" TargetMode="External"/><Relationship Id="rId114" Type="http://schemas.openxmlformats.org/officeDocument/2006/relationships/hyperlink" Target="https://en.wikipedia.org/wiki/Tayaramma_Bangarayya" TargetMode="External"/><Relationship Id="rId275" Type="http://schemas.openxmlformats.org/officeDocument/2006/relationships/hyperlink" Target="https://en.wikipedia.org/wiki/Andhra_Pradesh_Reorganisation_Act,_2014" TargetMode="External"/><Relationship Id="rId296" Type="http://schemas.openxmlformats.org/officeDocument/2006/relationships/hyperlink" Target="https://en.wikipedia.org/wiki/Chiranjeevi#cite_note-85" TargetMode="External"/><Relationship Id="rId300" Type="http://schemas.openxmlformats.org/officeDocument/2006/relationships/hyperlink" Target="https://en.wikipedia.org/wiki/A._P._J._Abdul_Kalam" TargetMode="External"/><Relationship Id="rId60" Type="http://schemas.openxmlformats.org/officeDocument/2006/relationships/hyperlink" Target="https://en.wikipedia.org/wiki/Union_Council_of_Ministers" TargetMode="External"/><Relationship Id="rId81" Type="http://schemas.openxmlformats.org/officeDocument/2006/relationships/hyperlink" Target="https://en.wikipedia.org/wiki/Sri_Y_N_College" TargetMode="External"/><Relationship Id="rId135" Type="http://schemas.openxmlformats.org/officeDocument/2006/relationships/hyperlink" Target="https://en.wikipedia.org/wiki/Filmfare_Award_for_Best_Actor_%E2%80%93_Telugu" TargetMode="External"/><Relationship Id="rId156" Type="http://schemas.openxmlformats.org/officeDocument/2006/relationships/hyperlink" Target="https://en.wikipedia.org/wiki/Chiranjeevi#cite_note-dob-34" TargetMode="External"/><Relationship Id="rId177" Type="http://schemas.openxmlformats.org/officeDocument/2006/relationships/hyperlink" Target="https://en.wikipedia.org/wiki/Action_film" TargetMode="External"/><Relationship Id="rId198" Type="http://schemas.openxmlformats.org/officeDocument/2006/relationships/hyperlink" Target="https://en.wikipedia.org/wiki/Suresh_Krissna" TargetMode="External"/><Relationship Id="rId321" Type="http://schemas.openxmlformats.org/officeDocument/2006/relationships/hyperlink" Target="https://en.wikipedia.org/wiki/59th_Academy_Awards" TargetMode="External"/><Relationship Id="rId342" Type="http://schemas.openxmlformats.org/officeDocument/2006/relationships/hyperlink" Target="https://en.wikipedia.org/wiki/Chiranjeevi#cite_note-116" TargetMode="External"/><Relationship Id="rId363" Type="http://schemas.openxmlformats.org/officeDocument/2006/relationships/hyperlink" Target="https://en.wikipedia.org/wiki/Chiranjeevi#cite_note-129" TargetMode="External"/><Relationship Id="rId384" Type="http://schemas.openxmlformats.org/officeDocument/2006/relationships/hyperlink" Target="https://www.indiatoday.in/magazine/society-and-the-arts/story/19920831-bachchans-and-sridevis-outstripped-by-chiranjeevi-and-rajnikanth-in-terms-of-earning-power-766809-2013-01-02" TargetMode="External"/><Relationship Id="rId202" Type="http://schemas.openxmlformats.org/officeDocument/2006/relationships/hyperlink" Target="https://en.wikipedia.org/wiki/58th_Filmfare_Awards_South" TargetMode="External"/><Relationship Id="rId223" Type="http://schemas.openxmlformats.org/officeDocument/2006/relationships/hyperlink" Target="https://en.wikipedia.org/wiki/Chiranjeevi#cite_note-53" TargetMode="External"/><Relationship Id="rId244" Type="http://schemas.openxmlformats.org/officeDocument/2006/relationships/hyperlink" Target="https://en.wikipedia.org/wiki/Kerala_Blasters_FC" TargetMode="External"/><Relationship Id="rId18" Type="http://schemas.openxmlformats.org/officeDocument/2006/relationships/hyperlink" Target="https://en.wikipedia.org/wiki/Guinness_World_Records" TargetMode="External"/><Relationship Id="rId39" Type="http://schemas.openxmlformats.org/officeDocument/2006/relationships/hyperlink" Target="https://en.wikipedia.org/wiki/Moscow_International_Film_Festival" TargetMode="External"/><Relationship Id="rId265" Type="http://schemas.openxmlformats.org/officeDocument/2006/relationships/hyperlink" Target="https://en.wikipedia.org/wiki/Telangana_movement" TargetMode="External"/><Relationship Id="rId286" Type="http://schemas.openxmlformats.org/officeDocument/2006/relationships/hyperlink" Target="https://en.wikipedia.org/wiki/Chiranjeevi#cite_note-76" TargetMode="External"/><Relationship Id="rId50" Type="http://schemas.openxmlformats.org/officeDocument/2006/relationships/hyperlink" Target="https://en.wikipedia.org/wiki/Chiranjeevi#cite_note-:6-12" TargetMode="External"/><Relationship Id="rId104" Type="http://schemas.openxmlformats.org/officeDocument/2006/relationships/hyperlink" Target="https://en.wikipedia.org/wiki/Hinduism" TargetMode="External"/><Relationship Id="rId125" Type="http://schemas.openxmlformats.org/officeDocument/2006/relationships/hyperlink" Target="https://en.wikipedia.org/wiki/47_Rojulu" TargetMode="External"/><Relationship Id="rId146" Type="http://schemas.openxmlformats.org/officeDocument/2006/relationships/hyperlink" Target="https://en.wikipedia.org/wiki/Chiranjeevi#cite_note-33" TargetMode="External"/><Relationship Id="rId167" Type="http://schemas.openxmlformats.org/officeDocument/2006/relationships/hyperlink" Target="https://en.wikipedia.org/wiki/Chiranjeevi#cite_note-:02-40" TargetMode="External"/><Relationship Id="rId188" Type="http://schemas.openxmlformats.org/officeDocument/2006/relationships/hyperlink" Target="https://en.wikipedia.org/wiki/Big_Boss_(film)" TargetMode="External"/><Relationship Id="rId311" Type="http://schemas.openxmlformats.org/officeDocument/2006/relationships/hyperlink" Target="https://en.wikipedia.org/wiki/Chiranjeevi#cite_note-94" TargetMode="External"/><Relationship Id="rId332" Type="http://schemas.openxmlformats.org/officeDocument/2006/relationships/hyperlink" Target="https://en.wikipedia.org/wiki/ANR_National_Award" TargetMode="External"/><Relationship Id="rId353" Type="http://schemas.openxmlformats.org/officeDocument/2006/relationships/hyperlink" Target="https://en.wikipedia.org/wiki/1989_Cinema_Express_Awards" TargetMode="External"/><Relationship Id="rId374" Type="http://schemas.openxmlformats.org/officeDocument/2006/relationships/hyperlink" Target="https://en.wikipedia.org/wiki/ISSN_(identifier)" TargetMode="External"/><Relationship Id="rId71" Type="http://schemas.openxmlformats.org/officeDocument/2006/relationships/hyperlink" Target="https://en.wikipedia.org/wiki/Gurazala" TargetMode="External"/><Relationship Id="rId92" Type="http://schemas.openxmlformats.org/officeDocument/2006/relationships/hyperlink" Target="https://en.wikipedia.org/wiki/Pawan_Kalyan" TargetMode="External"/><Relationship Id="rId213" Type="http://schemas.openxmlformats.org/officeDocument/2006/relationships/hyperlink" Target="https://en.wikipedia.org/wiki/V._V._Vinayak" TargetMode="External"/><Relationship Id="rId234" Type="http://schemas.openxmlformats.org/officeDocument/2006/relationships/hyperlink" Target="https://en.wikipedia.org/wiki/Sankranti" TargetMode="External"/><Relationship Id="rId2" Type="http://schemas.openxmlformats.org/officeDocument/2006/relationships/hyperlink" Target="https://en.wikipedia.org/wiki/Telugu_cinema" TargetMode="External"/><Relationship Id="rId29" Type="http://schemas.openxmlformats.org/officeDocument/2006/relationships/hyperlink" Target="https://en.wikipedia.org/wiki/Crore" TargetMode="External"/><Relationship Id="rId255" Type="http://schemas.openxmlformats.org/officeDocument/2006/relationships/hyperlink" Target="https://en.wikipedia.org/wiki/Chiranjeevi#cite_note-prp-63" TargetMode="External"/><Relationship Id="rId276" Type="http://schemas.openxmlformats.org/officeDocument/2006/relationships/hyperlink" Target="https://en.wikipedia.org/wiki/Chiranjeevi#cite_note-70" TargetMode="External"/><Relationship Id="rId297" Type="http://schemas.openxmlformats.org/officeDocument/2006/relationships/hyperlink" Target="https://en.wikipedia.org/wiki/Chiranjeevi#cite_note-:4-86" TargetMode="External"/><Relationship Id="rId40" Type="http://schemas.openxmlformats.org/officeDocument/2006/relationships/hyperlink" Target="https://en.wikipedia.org/wiki/Nargis_Dutt_Award_for_Best_Feature_Film_on_National_Integration" TargetMode="External"/><Relationship Id="rId115" Type="http://schemas.openxmlformats.org/officeDocument/2006/relationships/hyperlink" Target="https://en.wikipedia.org/wiki/I_Love_You_(1979_film)" TargetMode="External"/><Relationship Id="rId136" Type="http://schemas.openxmlformats.org/officeDocument/2006/relationships/hyperlink" Target="https://en.wikipedia.org/wiki/Filmfare_Award_for_Best_Director_%E2%80%93_Telugu" TargetMode="External"/><Relationship Id="rId157" Type="http://schemas.openxmlformats.org/officeDocument/2006/relationships/hyperlink" Target="https://en.wikipedia.org/wiki/Vijetha" TargetMode="External"/><Relationship Id="rId178" Type="http://schemas.openxmlformats.org/officeDocument/2006/relationships/hyperlink" Target="https://en.wikipedia.org/wiki/Chiranjeevi#cite_note-gang_leader-42" TargetMode="External"/><Relationship Id="rId301" Type="http://schemas.openxmlformats.org/officeDocument/2006/relationships/hyperlink" Target="https://en.wikipedia.org/wiki/Jubilee_Hills" TargetMode="External"/><Relationship Id="rId322" Type="http://schemas.openxmlformats.org/officeDocument/2006/relationships/hyperlink" Target="https://en.wikipedia.org/wiki/Chiranjeevi#cite_note-99" TargetMode="External"/><Relationship Id="rId343" Type="http://schemas.openxmlformats.org/officeDocument/2006/relationships/hyperlink" Target="https://en.wikipedia.org/wiki/Shankar_Dada_MBBS" TargetMode="External"/><Relationship Id="rId364" Type="http://schemas.openxmlformats.org/officeDocument/2006/relationships/hyperlink" Target="https://en.wikipedia.org/wiki/Chiranjeevi#cite_note-doctorate-130" TargetMode="External"/><Relationship Id="rId61" Type="http://schemas.openxmlformats.org/officeDocument/2006/relationships/hyperlink" Target="https://en.wikipedia.org/wiki/Khaidi_No._150" TargetMode="External"/><Relationship Id="rId82" Type="http://schemas.openxmlformats.org/officeDocument/2006/relationships/hyperlink" Target="https://en.wikipedia.org/wiki/Narasapuram" TargetMode="External"/><Relationship Id="rId199" Type="http://schemas.openxmlformats.org/officeDocument/2006/relationships/hyperlink" Target="https://en.wikipedia.org/wiki/Chiranjeevi#cite_note-46" TargetMode="External"/><Relationship Id="rId203" Type="http://schemas.openxmlformats.org/officeDocument/2006/relationships/hyperlink" Target="https://en.wikipedia.org/wiki/Chiranjeevi#cite_note-47" TargetMode="External"/><Relationship Id="rId385" Type="http://schemas.openxmlformats.org/officeDocument/2006/relationships/hyperlink" Target="https://en.wikipedia.org/wiki/India_Today" TargetMode="External"/><Relationship Id="rId19" Type="http://schemas.openxmlformats.org/officeDocument/2006/relationships/hyperlink" Target="https://en.wikipedia.org/wiki/Chiranjeevi#cite_note-8" TargetMode="External"/><Relationship Id="rId224" Type="http://schemas.openxmlformats.org/officeDocument/2006/relationships/hyperlink" Target="https://en.wikipedia.org/wiki/Acharya_(2022_film)" TargetMode="External"/><Relationship Id="rId245" Type="http://schemas.openxmlformats.org/officeDocument/2006/relationships/hyperlink" Target="https://en.wikipedia.org/wiki/Chiranjeevi#cite_note-58" TargetMode="External"/><Relationship Id="rId266" Type="http://schemas.openxmlformats.org/officeDocument/2006/relationships/hyperlink" Target="https://en.wikipedia.org/wiki/Rajya_Sabha" TargetMode="External"/><Relationship Id="rId287" Type="http://schemas.openxmlformats.org/officeDocument/2006/relationships/hyperlink" Target="https://en.wikipedia.org/wiki/Chiranjeevi#cite_note-77" TargetMode="External"/><Relationship Id="rId30" Type="http://schemas.openxmlformats.org/officeDocument/2006/relationships/hyperlink" Target="https://en.wikipedia.org/wiki/Box_office#Distributor_rentals" TargetMode="External"/><Relationship Id="rId105" Type="http://schemas.openxmlformats.org/officeDocument/2006/relationships/hyperlink" Target="https://en.wikipedia.org/wiki/Chiranjivi" TargetMode="External"/><Relationship Id="rId126" Type="http://schemas.openxmlformats.org/officeDocument/2006/relationships/hyperlink" Target="https://en.wikipedia.org/wiki/Nyayam_Kavali" TargetMode="External"/><Relationship Id="rId147" Type="http://schemas.openxmlformats.org/officeDocument/2006/relationships/hyperlink" Target="https://en.wikipedia.org/wiki/Mantri_Gari_Viyyankudu" TargetMode="External"/><Relationship Id="rId168" Type="http://schemas.openxmlformats.org/officeDocument/2006/relationships/hyperlink" Target="https://en.wikipedia.org/wiki/Chiranjeevi#cite_note-:32-41" TargetMode="External"/><Relationship Id="rId312" Type="http://schemas.openxmlformats.org/officeDocument/2006/relationships/hyperlink" Target="https://en.wikipedia.org/wiki/Chiranjeevi#cite_note-95" TargetMode="External"/><Relationship Id="rId333" Type="http://schemas.openxmlformats.org/officeDocument/2006/relationships/hyperlink" Target="https://en.wikipedia.org/wiki/Chiranjeevi#cite_note-107" TargetMode="External"/><Relationship Id="rId354" Type="http://schemas.openxmlformats.org/officeDocument/2006/relationships/hyperlink" Target="https://en.wikipedia.org/wiki/Cinema_Express_Awards" TargetMode="External"/><Relationship Id="rId51" Type="http://schemas.openxmlformats.org/officeDocument/2006/relationships/hyperlink" Target="https://en.wikipedia.org/wiki/Government_of_Andhra_Pradesh" TargetMode="External"/><Relationship Id="rId72" Type="http://schemas.openxmlformats.org/officeDocument/2006/relationships/hyperlink" Target="https://en.wikipedia.org/wiki/Bapatla" TargetMode="External"/><Relationship Id="rId93" Type="http://schemas.openxmlformats.org/officeDocument/2006/relationships/hyperlink" Target="https://en.wikipedia.org/wiki/Deputy_Chief_Minister_of_Andhra_Pradesh" TargetMode="External"/><Relationship Id="rId189" Type="http://schemas.openxmlformats.org/officeDocument/2006/relationships/hyperlink" Target="https://en.wikipedia.org/wiki/Rikshavodu" TargetMode="External"/><Relationship Id="rId375" Type="http://schemas.openxmlformats.org/officeDocument/2006/relationships/hyperlink" Target="https://search.worldcat.org/issn/0971-8257" TargetMode="External"/><Relationship Id="rId3" Type="http://schemas.openxmlformats.org/officeDocument/2006/relationships/hyperlink" Target="https://en.wikipedia.org/wiki/Cinema_of_India" TargetMode="External"/><Relationship Id="rId214" Type="http://schemas.openxmlformats.org/officeDocument/2006/relationships/hyperlink" Target="https://en.wikipedia.org/wiki/Makar_Sankranti" TargetMode="External"/><Relationship Id="rId235" Type="http://schemas.openxmlformats.org/officeDocument/2006/relationships/hyperlink" Target="https://en.wikipedia.org/wiki/Ravi_Teja" TargetMode="External"/><Relationship Id="rId256" Type="http://schemas.openxmlformats.org/officeDocument/2006/relationships/hyperlink" Target="https://en.wikipedia.org/wiki/Tirupati_(Assembly_constituency)" TargetMode="External"/><Relationship Id="rId277" Type="http://schemas.openxmlformats.org/officeDocument/2006/relationships/hyperlink" Target="https://en.wikipedia.org/wiki/2014_Indian_general_election" TargetMode="External"/><Relationship Id="rId298" Type="http://schemas.openxmlformats.org/officeDocument/2006/relationships/hyperlink" Target="https://en.wikipedia.org/wiki/Chiranjeevi#cite_note-87" TargetMode="External"/><Relationship Id="rId116" Type="http://schemas.openxmlformats.org/officeDocument/2006/relationships/hyperlink" Target="https://en.wikipedia.org/wiki/K._Balachander" TargetMode="External"/><Relationship Id="rId137" Type="http://schemas.openxmlformats.org/officeDocument/2006/relationships/hyperlink" Target="https://en.wikipedia.org/wiki/Chiranjeevi#cite_note-31" TargetMode="External"/><Relationship Id="rId158" Type="http://schemas.openxmlformats.org/officeDocument/2006/relationships/hyperlink" Target="https://en.wikipedia.org/wiki/Chiranjeevi#cite_note-35" TargetMode="External"/><Relationship Id="rId302" Type="http://schemas.openxmlformats.org/officeDocument/2006/relationships/hyperlink" Target="https://en.wikipedia.org/wiki/Chiranjeevi#cite_note-88" TargetMode="External"/><Relationship Id="rId323" Type="http://schemas.openxmlformats.org/officeDocument/2006/relationships/hyperlink" Target="https://en.wikipedia.org/wiki/Chiranjeevi#cite_note-100" TargetMode="External"/><Relationship Id="rId344" Type="http://schemas.openxmlformats.org/officeDocument/2006/relationships/hyperlink" Target="https://en.wikipedia.org/wiki/Chiranjeevi#cite_note-117" TargetMode="External"/><Relationship Id="rId20" Type="http://schemas.openxmlformats.org/officeDocument/2006/relationships/hyperlink" Target="https://en.wikipedia.org/wiki/Antihero" TargetMode="External"/><Relationship Id="rId41" Type="http://schemas.openxmlformats.org/officeDocument/2006/relationships/hyperlink" Target="https://en.wikipedia.org/wiki/Master_(1997_film)" TargetMode="External"/><Relationship Id="rId62" Type="http://schemas.openxmlformats.org/officeDocument/2006/relationships/hyperlink" Target="https://en.wikipedia.org/wiki/Sye_Raa_Narasimha_Reddy" TargetMode="External"/><Relationship Id="rId83" Type="http://schemas.openxmlformats.org/officeDocument/2006/relationships/hyperlink" Target="https://en.wikipedia.org/wiki/Chennai" TargetMode="External"/><Relationship Id="rId179" Type="http://schemas.openxmlformats.org/officeDocument/2006/relationships/hyperlink" Target="https://en.wikipedia.org/wiki/Chiranjeevi#cite_note-43" TargetMode="External"/><Relationship Id="rId365" Type="http://schemas.openxmlformats.org/officeDocument/2006/relationships/hyperlink" Target="https://en.wikipedia.org/wiki/3rd_IIFA_Utsavam" TargetMode="External"/><Relationship Id="rId190" Type="http://schemas.openxmlformats.org/officeDocument/2006/relationships/hyperlink" Target="https://en.wikipedia.org/wiki/Muta_Mestri" TargetMode="External"/><Relationship Id="rId204" Type="http://schemas.openxmlformats.org/officeDocument/2006/relationships/hyperlink" Target="https://en.wikipedia.org/wiki/Vidya_Balan" TargetMode="External"/><Relationship Id="rId225" Type="http://schemas.openxmlformats.org/officeDocument/2006/relationships/hyperlink" Target="https://en.wikipedia.org/wiki/Koratala_Siva" TargetMode="External"/><Relationship Id="rId246" Type="http://schemas.openxmlformats.org/officeDocument/2006/relationships/hyperlink" Target="https://en.wikipedia.org/wiki/Meelo_Evaru_Koteeswarudu" TargetMode="External"/><Relationship Id="rId267" Type="http://schemas.openxmlformats.org/officeDocument/2006/relationships/hyperlink" Target="https://en.wikipedia.org/wiki/Chiranjeevi#cite_note-66" TargetMode="External"/><Relationship Id="rId288" Type="http://schemas.openxmlformats.org/officeDocument/2006/relationships/hyperlink" Target="https://en.wikipedia.org/wiki/Chiranjeevi#cite_note-78" TargetMode="External"/><Relationship Id="rId106" Type="http://schemas.openxmlformats.org/officeDocument/2006/relationships/hyperlink" Target="https://en.wikipedia.org/wiki/Chiranjeevi#cite_note-intro-23" TargetMode="External"/><Relationship Id="rId127" Type="http://schemas.openxmlformats.org/officeDocument/2006/relationships/hyperlink" Target="https://en.wikipedia.org/wiki/Ranuva_Veeran" TargetMode="External"/><Relationship Id="rId313" Type="http://schemas.openxmlformats.org/officeDocument/2006/relationships/hyperlink" Target="https://en.wikipedia.org/wiki/Telangana" TargetMode="External"/><Relationship Id="rId10" Type="http://schemas.openxmlformats.org/officeDocument/2006/relationships/hyperlink" Target="https://en.wikipedia.org/wiki/Government_of_India" TargetMode="External"/><Relationship Id="rId31" Type="http://schemas.openxmlformats.org/officeDocument/2006/relationships/hyperlink" Target="https://en.wikipedia.org/wiki/Chiranjeevi#cite_note-:2-9" TargetMode="External"/><Relationship Id="rId52" Type="http://schemas.openxmlformats.org/officeDocument/2006/relationships/hyperlink" Target="https://en.wikipedia.org/wiki/Chiranjeevi#cite_note-:7-13" TargetMode="External"/><Relationship Id="rId73" Type="http://schemas.openxmlformats.org/officeDocument/2006/relationships/hyperlink" Target="https://en.wikipedia.org/wiki/Ponnur" TargetMode="External"/><Relationship Id="rId94" Type="http://schemas.openxmlformats.org/officeDocument/2006/relationships/hyperlink" Target="https://en.wikipedia.org/wiki/Jana_Sena_Party" TargetMode="External"/><Relationship Id="rId148" Type="http://schemas.openxmlformats.org/officeDocument/2006/relationships/hyperlink" Target="https://en.wikipedia.org/wiki/Sangharshana" TargetMode="External"/><Relationship Id="rId169" Type="http://schemas.openxmlformats.org/officeDocument/2006/relationships/hyperlink" Target="https://en.wikipedia.org/wiki/Fantasy_film" TargetMode="External"/><Relationship Id="rId334" Type="http://schemas.openxmlformats.org/officeDocument/2006/relationships/hyperlink" Target="https://en.wikipedia.org/wiki/Chiranjeevi#cite_note-Amitabh_Bachchan_felicitates_Chiranjeevi_at_ANR_National_Awards_2024:_%E2%80%98Proud_to_be_a_part_of_Telugu_film_industry%E2%80%99-108" TargetMode="External"/><Relationship Id="rId355" Type="http://schemas.openxmlformats.org/officeDocument/2006/relationships/hyperlink" Target="https://en.wikipedia.org/wiki/Chiranjeevi#cite_note-newspaper-125" TargetMode="External"/><Relationship Id="rId376" Type="http://schemas.openxmlformats.org/officeDocument/2006/relationships/hyperlink" Target="https://www.indiatoday.in/movies/regional-cinema/story/chiranjeevi-awarded-with-padma-vibushan-khushbu-sundar-mammootty-nani-celebs-congratulate-2493792-2024-01-26" TargetMode="External"/><Relationship Id="rId4" Type="http://schemas.openxmlformats.org/officeDocument/2006/relationships/hyperlink" Target="https://en.wikipedia.org/wiki/Chiranjeevi#cite_note-4" TargetMode="External"/><Relationship Id="rId180" Type="http://schemas.openxmlformats.org/officeDocument/2006/relationships/hyperlink" Target="https://en.wikipedia.org/wiki/International_Film_Festival_of_India" TargetMode="External"/><Relationship Id="rId215" Type="http://schemas.openxmlformats.org/officeDocument/2006/relationships/hyperlink" Target="https://en.wikipedia.org/wiki/Chiranjeevi#cite_note-48" TargetMode="External"/><Relationship Id="rId236" Type="http://schemas.openxmlformats.org/officeDocument/2006/relationships/hyperlink" Target="https://en.wikipedia.org/wiki/Chiranjeevi#cite_note-56" TargetMode="External"/><Relationship Id="rId257" Type="http://schemas.openxmlformats.org/officeDocument/2006/relationships/hyperlink" Target="https://en.wikipedia.org/wiki/Palakollu_(Assembly_constituency)" TargetMode="External"/><Relationship Id="rId278" Type="http://schemas.openxmlformats.org/officeDocument/2006/relationships/hyperlink" Target="https://en.wikipedia.org/wiki/2014_Andhra_Pradesh_Legislative_Assembly_election" TargetMode="External"/><Relationship Id="rId303" Type="http://schemas.openxmlformats.org/officeDocument/2006/relationships/hyperlink" Target="https://en.wikipedia.org/wiki/Chiranjeevi#cite_note-89" TargetMode="External"/><Relationship Id="rId42" Type="http://schemas.openxmlformats.org/officeDocument/2006/relationships/hyperlink" Target="https://en.wikipedia.org/wiki/Choodalani_Vundi" TargetMode="External"/><Relationship Id="rId84" Type="http://schemas.openxmlformats.org/officeDocument/2006/relationships/hyperlink" Target="https://en.wikipedia.org/wiki/M.G.R._Government_Film_and_Television_Training_Institute" TargetMode="External"/><Relationship Id="rId138" Type="http://schemas.openxmlformats.org/officeDocument/2006/relationships/hyperlink" Target="https://en.wikipedia.org/wiki/Chiranjeevi#cite_note-32" TargetMode="External"/><Relationship Id="rId345" Type="http://schemas.openxmlformats.org/officeDocument/2006/relationships/hyperlink" Target="https://en.wikipedia.org/wiki/Chiranjeevi#cite_note-118" TargetMode="External"/><Relationship Id="rId191" Type="http://schemas.openxmlformats.org/officeDocument/2006/relationships/hyperlink" Target="https://en.wikipedia.org/wiki/Mugguru_Monagallu_(1994_film)" TargetMode="External"/><Relationship Id="rId205" Type="http://schemas.openxmlformats.org/officeDocument/2006/relationships/hyperlink" Target="https://en.wikipedia.org/wiki/2013_Cannes_Film_Festival" TargetMode="External"/><Relationship Id="rId247" Type="http://schemas.openxmlformats.org/officeDocument/2006/relationships/hyperlink" Target="https://en.wikipedia.org/wiki/Star_Maa" TargetMode="External"/><Relationship Id="rId107" Type="http://schemas.openxmlformats.org/officeDocument/2006/relationships/hyperlink" Target="https://en.wikipedia.org/wiki/Punadhirallu" TargetMode="External"/><Relationship Id="rId289" Type="http://schemas.openxmlformats.org/officeDocument/2006/relationships/hyperlink" Target="https://en.wikipedia.org/wiki/All_India_Congress_Committee" TargetMode="External"/><Relationship Id="rId11" Type="http://schemas.openxmlformats.org/officeDocument/2006/relationships/hyperlink" Target="https://en.wikipedia.org/wiki/IFFI_Indian_Film_Personality_of_the_Year_Award" TargetMode="External"/><Relationship Id="rId53" Type="http://schemas.openxmlformats.org/officeDocument/2006/relationships/hyperlink" Target="https://en.wikipedia.org/wiki/Income_Tax_Department" TargetMode="External"/><Relationship Id="rId149" Type="http://schemas.openxmlformats.org/officeDocument/2006/relationships/hyperlink" Target="https://en.wikipedia.org/wiki/Goonda_(film)" TargetMode="External"/><Relationship Id="rId314" Type="http://schemas.openxmlformats.org/officeDocument/2006/relationships/hyperlink" Target="https://en.wikipedia.org/wiki/COVID-19" TargetMode="External"/><Relationship Id="rId356" Type="http://schemas.openxmlformats.org/officeDocument/2006/relationships/hyperlink" Target="https://en.wikipedia.org/wiki/Chiranjeevi#cite_note-auto1-126" TargetMode="External"/><Relationship Id="rId95" Type="http://schemas.openxmlformats.org/officeDocument/2006/relationships/hyperlink" Target="https://en.wikipedia.org/wiki/Allu_Aravind" TargetMode="External"/><Relationship Id="rId160" Type="http://schemas.openxmlformats.org/officeDocument/2006/relationships/hyperlink" Target="https://en.wikipedia.org/wiki/Nandi_Award_for_Best_Actor" TargetMode="External"/><Relationship Id="rId216" Type="http://schemas.openxmlformats.org/officeDocument/2006/relationships/hyperlink" Target="https://en.wikipedia.org/wiki/Chiranjeevi#cite_note-49" TargetMode="External"/><Relationship Id="rId258" Type="http://schemas.openxmlformats.org/officeDocument/2006/relationships/hyperlink" Target="https://en.wikipedia.org/wiki/Chiranjeevi#cite_note-64" TargetMode="External"/><Relationship Id="rId22" Type="http://schemas.openxmlformats.org/officeDocument/2006/relationships/hyperlink" Target="https://en.wikipedia.org/wiki/Pasivadi_Pranam" TargetMode="External"/><Relationship Id="rId64" Type="http://schemas.openxmlformats.org/officeDocument/2006/relationships/hyperlink" Target="https://en.wikipedia.org/wiki/Telugu_people" TargetMode="External"/><Relationship Id="rId118" Type="http://schemas.openxmlformats.org/officeDocument/2006/relationships/hyperlink" Target="https://en.wikipedia.org/wiki/Kamal_Haasan" TargetMode="External"/><Relationship Id="rId325" Type="http://schemas.openxmlformats.org/officeDocument/2006/relationships/hyperlink" Target="https://en.wikipedia.org/wiki/Tengku_Adnan_Tengku_Mansor" TargetMode="External"/><Relationship Id="rId367" Type="http://schemas.openxmlformats.org/officeDocument/2006/relationships/hyperlink" Target="https://en.wikipedia.org/wiki/List_of_dancers" TargetMode="External"/><Relationship Id="rId171" Type="http://schemas.openxmlformats.org/officeDocument/2006/relationships/hyperlink" Target="https://en.wikipedia.org/wiki/C._Aswani_Dutt" TargetMode="External"/><Relationship Id="rId227" Type="http://schemas.openxmlformats.org/officeDocument/2006/relationships/hyperlink" Target="https://en.wikipedia.org/wiki/Mohan_Raja" TargetMode="External"/><Relationship Id="rId269" Type="http://schemas.openxmlformats.org/officeDocument/2006/relationships/hyperlink" Target="https://en.wikipedia.org/wiki/Ministry_of_Information_and_Broadcasting_(India)" TargetMode="External"/><Relationship Id="rId33" Type="http://schemas.openxmlformats.org/officeDocument/2006/relationships/hyperlink" Target="https://en.wikipedia.org/wiki/Amitabh_Bachchan" TargetMode="External"/><Relationship Id="rId129" Type="http://schemas.openxmlformats.org/officeDocument/2006/relationships/hyperlink" Target="https://en.wikipedia.org/wiki/Intlo_Ramayya_Veedhilo_Krishnayya" TargetMode="External"/><Relationship Id="rId280" Type="http://schemas.openxmlformats.org/officeDocument/2006/relationships/hyperlink" Target="https://en.wikipedia.org/wiki/Chiranjeevi#cite_note-72" TargetMode="External"/><Relationship Id="rId336" Type="http://schemas.openxmlformats.org/officeDocument/2006/relationships/hyperlink" Target="https://en.wikipedia.org/wiki/Chiranjeevi#cite_note-110" TargetMode="External"/><Relationship Id="rId75" Type="http://schemas.openxmlformats.org/officeDocument/2006/relationships/hyperlink" Target="https://en.wikipedia.org/wiki/National_Cadet_Corps_(India)" TargetMode="External"/><Relationship Id="rId140" Type="http://schemas.openxmlformats.org/officeDocument/2006/relationships/hyperlink" Target="https://en.wikipedia.org/wiki/Sitadevi" TargetMode="External"/><Relationship Id="rId182" Type="http://schemas.openxmlformats.org/officeDocument/2006/relationships/hyperlink" Target="https://en.wikipedia.org/wiki/Bollywood" TargetMode="External"/><Relationship Id="rId378" Type="http://schemas.openxmlformats.org/officeDocument/2006/relationships/hyperlink" Target="https://en.wikipedia.org/wiki/Hindustan_Times" TargetMode="External"/><Relationship Id="rId6" Type="http://schemas.openxmlformats.org/officeDocument/2006/relationships/hyperlink" Target="https://en.wikipedia.org/wiki/Chiranjeevi#cite_note-:5-6" TargetMode="External"/><Relationship Id="rId238" Type="http://schemas.openxmlformats.org/officeDocument/2006/relationships/hyperlink" Target="https://en.wikipedia.org/wiki/Vedalam" TargetMode="External"/><Relationship Id="rId291" Type="http://schemas.openxmlformats.org/officeDocument/2006/relationships/hyperlink" Target="https://en.wikipedia.org/wiki/Chiranjeevi#cite_note-80" TargetMode="External"/><Relationship Id="rId305" Type="http://schemas.openxmlformats.org/officeDocument/2006/relationships/hyperlink" Target="https://en.wikipedia.org/wiki/Jeevitha" TargetMode="External"/><Relationship Id="rId347" Type="http://schemas.openxmlformats.org/officeDocument/2006/relationships/hyperlink" Target="https://en.wikipedia.org/wiki/Chiranjeevi#cite_note-120" TargetMode="External"/><Relationship Id="rId44" Type="http://schemas.openxmlformats.org/officeDocument/2006/relationships/hyperlink" Target="https://en.wikipedia.org/wiki/Tagore_(film)" TargetMode="External"/><Relationship Id="rId86" Type="http://schemas.openxmlformats.org/officeDocument/2006/relationships/hyperlink" Target="https://en.wikipedia.org/wiki/Allu_Ramalingaiah" TargetMode="External"/><Relationship Id="rId151" Type="http://schemas.openxmlformats.org/officeDocument/2006/relationships/hyperlink" Target="https://en.wikipedia.org/wiki/Hero_(1984_film)" TargetMode="External"/><Relationship Id="rId193" Type="http://schemas.openxmlformats.org/officeDocument/2006/relationships/hyperlink" Target="https://en.wikipedia.org/wiki/Kannada_cinema" TargetMode="External"/><Relationship Id="rId207" Type="http://schemas.openxmlformats.org/officeDocument/2006/relationships/hyperlink" Target="https://en.wikipedia.org/wiki/Cameo_appearance" TargetMode="External"/><Relationship Id="rId249" Type="http://schemas.openxmlformats.org/officeDocument/2006/relationships/hyperlink" Target="https://en.wikipedia.org/wiki/Chiranjeevi#cite_note-59" TargetMode="External"/><Relationship Id="rId13" Type="http://schemas.openxmlformats.org/officeDocument/2006/relationships/hyperlink" Target="https://en.wikipedia.org/wiki/Nandi_Awards" TargetMode="External"/><Relationship Id="rId109" Type="http://schemas.openxmlformats.org/officeDocument/2006/relationships/hyperlink" Target="https://en.wikipedia.org/wiki/Pranam_Khareedu" TargetMode="External"/><Relationship Id="rId260" Type="http://schemas.openxmlformats.org/officeDocument/2006/relationships/hyperlink" Target="https://en.wikipedia.org/wiki/Sonia_Gandhi" TargetMode="External"/><Relationship Id="rId316" Type="http://schemas.openxmlformats.org/officeDocument/2006/relationships/hyperlink" Target="https://en.wikipedia.org/wiki/Chiranjeevi_filmography" TargetMode="External"/><Relationship Id="rId55" Type="http://schemas.openxmlformats.org/officeDocument/2006/relationships/hyperlink" Target="https://en.wikipedia.org/wiki/Praja_Rajyam_Party" TargetMode="External"/><Relationship Id="rId97" Type="http://schemas.openxmlformats.org/officeDocument/2006/relationships/hyperlink" Target="https://en.wikipedia.org/wiki/Allu_Sirish" TargetMode="External"/><Relationship Id="rId120" Type="http://schemas.openxmlformats.org/officeDocument/2006/relationships/hyperlink" Target="https://en.wikipedia.org/wiki/Rajinikanth" TargetMode="External"/><Relationship Id="rId358" Type="http://schemas.openxmlformats.org/officeDocument/2006/relationships/hyperlink" Target="https://en.wikipedia.org/wiki/Santosham_Film_Awards" TargetMode="External"/><Relationship Id="rId162" Type="http://schemas.openxmlformats.org/officeDocument/2006/relationships/hyperlink" Target="https://en.wikipedia.org/wiki/Manchi_Donga" TargetMode="External"/><Relationship Id="rId218" Type="http://schemas.openxmlformats.org/officeDocument/2006/relationships/hyperlink" Target="https://en.wikipedia.org/wiki/Chiranjeevi#cite_note-51" TargetMode="External"/><Relationship Id="rId271" Type="http://schemas.openxmlformats.org/officeDocument/2006/relationships/hyperlink" Target="https://en.wikipedia.org/wiki/Chiranjeevi#cite_note-68" TargetMode="External"/><Relationship Id="rId24" Type="http://schemas.openxmlformats.org/officeDocument/2006/relationships/hyperlink" Target="https://en.wikipedia.org/wiki/Attaku_Yamudu_Ammayiki_Mogudu" TargetMode="External"/><Relationship Id="rId66" Type="http://schemas.openxmlformats.org/officeDocument/2006/relationships/hyperlink" Target="https://en.wikipedia.org/wiki/West_Godavari_district" TargetMode="External"/><Relationship Id="rId131" Type="http://schemas.openxmlformats.org/officeDocument/2006/relationships/hyperlink" Target="https://en.wikipedia.org/wiki/Chiranjeevi#cite_note-30" TargetMode="External"/><Relationship Id="rId327" Type="http://schemas.openxmlformats.org/officeDocument/2006/relationships/hyperlink" Target="https://en.wikipedia.org/wiki/Chiranjeevi#cite_note-:9-102" TargetMode="External"/><Relationship Id="rId369" Type="http://schemas.openxmlformats.org/officeDocument/2006/relationships/hyperlink" Target="https://web.archive.org/web/20140222071538/http:/entertainment.oneindia.in/celebs/chiranjeevi/biography.html" TargetMode="External"/><Relationship Id="rId173" Type="http://schemas.openxmlformats.org/officeDocument/2006/relationships/hyperlink" Target="https://en.wikipedia.org/wiki/70_mm_film" TargetMode="External"/><Relationship Id="rId229" Type="http://schemas.openxmlformats.org/officeDocument/2006/relationships/hyperlink" Target="https://en.wikipedia.org/wiki/Netflix" TargetMode="External"/><Relationship Id="rId380" Type="http://schemas.openxmlformats.org/officeDocument/2006/relationships/hyperlink" Target="https://www.guinnessworldrecords.com/news/commercial/2024/10/chiranjeevi-prolific-megastar-who-shaped-indian-cinema-officially-a-record-breaker" TargetMode="External"/><Relationship Id="rId240" Type="http://schemas.openxmlformats.org/officeDocument/2006/relationships/hyperlink" Target="https://en.wikipedia.org/wiki/Vishwambhara" TargetMode="External"/><Relationship Id="rId35" Type="http://schemas.openxmlformats.org/officeDocument/2006/relationships/hyperlink" Target="https://en.wikipedia.org/wiki/Aapadbandhavudu" TargetMode="External"/><Relationship Id="rId77" Type="http://schemas.openxmlformats.org/officeDocument/2006/relationships/hyperlink" Target="https://en.wikipedia.org/wiki/Delhi_Republic_Day_parade" TargetMode="External"/><Relationship Id="rId100" Type="http://schemas.openxmlformats.org/officeDocument/2006/relationships/hyperlink" Target="https://en.wikipedia.org/wiki/Sai_Dharam_Tej" TargetMode="External"/><Relationship Id="rId282" Type="http://schemas.openxmlformats.org/officeDocument/2006/relationships/hyperlink" Target="https://en.wikipedia.org/wiki/Chiranjeevi#cite_note-74" TargetMode="External"/><Relationship Id="rId338" Type="http://schemas.openxmlformats.org/officeDocument/2006/relationships/hyperlink" Target="https://en.wikipedia.org/wiki/Chiranjeevi#cite_note-Collections394-112" TargetMode="External"/><Relationship Id="rId8" Type="http://schemas.openxmlformats.org/officeDocument/2006/relationships/hyperlink" Target="https://en.wikipedia.org/wiki/Padma_Bhushan" TargetMode="External"/><Relationship Id="rId142" Type="http://schemas.openxmlformats.org/officeDocument/2006/relationships/hyperlink" Target="https://en.wikipedia.org/wiki/Bandhalu_Anubandhalu" TargetMode="External"/><Relationship Id="rId184" Type="http://schemas.openxmlformats.org/officeDocument/2006/relationships/hyperlink" Target="https://en.wikipedia.org/wiki/Chiranjeevi#cite_note-45" TargetMode="External"/><Relationship Id="rId251" Type="http://schemas.openxmlformats.org/officeDocument/2006/relationships/hyperlink" Target="https://en.wikipedia.org/wiki/Tirupati,_Andhra_Pradesh" TargetMode="External"/><Relationship Id="rId46" Type="http://schemas.openxmlformats.org/officeDocument/2006/relationships/hyperlink" Target="https://en.wikipedia.org/wiki/Blood_bank" TargetMode="External"/><Relationship Id="rId293" Type="http://schemas.openxmlformats.org/officeDocument/2006/relationships/hyperlink" Target="https://en.wikipedia.org/wiki/Chiranjeevi#cite_note-82" TargetMode="External"/><Relationship Id="rId307" Type="http://schemas.openxmlformats.org/officeDocument/2006/relationships/hyperlink" Target="https://en.wikipedia.org/wiki/Chiranjeevi#cite_note-91" TargetMode="External"/><Relationship Id="rId349" Type="http://schemas.openxmlformats.org/officeDocument/2006/relationships/hyperlink" Target="https://en.wikipedia.org/wiki/Chiranjeevi#cite_note-122" TargetMode="External"/><Relationship Id="rId88" Type="http://schemas.openxmlformats.org/officeDocument/2006/relationships/hyperlink" Target="https://en.wikipedia.org/wiki/Chiranjeevi#cite_note-Surekha_father-20" TargetMode="External"/><Relationship Id="rId111" Type="http://schemas.openxmlformats.org/officeDocument/2006/relationships/hyperlink" Target="https://en.wikipedia.org/wiki/Chiranjeevi#cite_note-26" TargetMode="External"/><Relationship Id="rId153" Type="http://schemas.openxmlformats.org/officeDocument/2006/relationships/hyperlink" Target="https://en.wikipedia.org/wiki/Adavi_Donga" TargetMode="External"/><Relationship Id="rId195" Type="http://schemas.openxmlformats.org/officeDocument/2006/relationships/hyperlink" Target="https://en.wikipedia.org/wiki/Hitler_(1997_film)" TargetMode="External"/><Relationship Id="rId209" Type="http://schemas.openxmlformats.org/officeDocument/2006/relationships/hyperlink" Target="https://en.wikipedia.org/wiki/Bruce_Lee:_The_Fighter" TargetMode="External"/><Relationship Id="rId360" Type="http://schemas.openxmlformats.org/officeDocument/2006/relationships/hyperlink" Target="https://en.wikipedia.org/wiki/Zee_Cine_Awards_Telugu" TargetMode="External"/><Relationship Id="rId220" Type="http://schemas.openxmlformats.org/officeDocument/2006/relationships/hyperlink" Target="https://en.wikipedia.org/wiki/Uyyalawada_Narasimha_Reddy" TargetMode="External"/><Relationship Id="rId15" Type="http://schemas.openxmlformats.org/officeDocument/2006/relationships/hyperlink" Target="https://en.wikipedia.org/wiki/Filmfare_Lifetime_Achievement_Award_%E2%80%93_South" TargetMode="External"/><Relationship Id="rId57" Type="http://schemas.openxmlformats.org/officeDocument/2006/relationships/hyperlink" Target="https://en.wikipedia.org/wiki/Indian_National_Congress" TargetMode="External"/><Relationship Id="rId262" Type="http://schemas.openxmlformats.org/officeDocument/2006/relationships/hyperlink" Target="https://en.wikipedia.org/wiki/Motion_of_no_confidence" TargetMode="External"/><Relationship Id="rId318" Type="http://schemas.openxmlformats.org/officeDocument/2006/relationships/hyperlink" Target="https://en.wikipedia.org/wiki/Chiranjeevi#cite_note-The_Times_of_India-98" TargetMode="External"/><Relationship Id="rId99" Type="http://schemas.openxmlformats.org/officeDocument/2006/relationships/hyperlink" Target="https://en.wikipedia.org/wiki/Niharika_Konidela" TargetMode="External"/><Relationship Id="rId122" Type="http://schemas.openxmlformats.org/officeDocument/2006/relationships/hyperlink" Target="https://en.wikipedia.org/wiki/Chiranjeevi#cite_note-28" TargetMode="External"/><Relationship Id="rId164" Type="http://schemas.openxmlformats.org/officeDocument/2006/relationships/hyperlink" Target="https://en.wikipedia.org/wiki/Nandi_Special_Jury_Award" TargetMode="External"/><Relationship Id="rId371" Type="http://schemas.openxmlformats.org/officeDocument/2006/relationships/hyperlink" Target="https://timesofindia.indiatimes.com/entertainment/telugu/movies/photo-features/chiranjeevi-birthday-special-amazing-unknown-facts/supreme-hero-to-megastar/photostory/53807538.cms" TargetMode="External"/><Relationship Id="rId26" Type="http://schemas.openxmlformats.org/officeDocument/2006/relationships/hyperlink" Target="https://en.wikipedia.org/wiki/Gang_Leader" TargetMode="External"/><Relationship Id="rId231" Type="http://schemas.openxmlformats.org/officeDocument/2006/relationships/hyperlink" Target="https://en.wikipedia.org/wiki/Batman" TargetMode="External"/><Relationship Id="rId273" Type="http://schemas.openxmlformats.org/officeDocument/2006/relationships/hyperlink" Target="https://en.wikipedia.org/wiki/Macau" TargetMode="External"/><Relationship Id="rId329" Type="http://schemas.openxmlformats.org/officeDocument/2006/relationships/hyperlink" Target="https://en.wikipedia.org/wiki/Chiranjeevi#cite_note-1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vert="horz" lIns="91440" tIns="45720" rIns="91440" bIns="45720" rtlCol="0" anchor="t">
            <a:normAutofit fontScale="25000" lnSpcReduction="20000"/>
          </a:bodyPr>
          <a:lstStyle/>
          <a:p>
            <a:r>
              <a:rPr lang="en-US" sz="1200" b="1">
                <a:solidFill>
                  <a:srgbClr val="202122"/>
                </a:solidFill>
                <a:ea typeface="+mn-lt"/>
                <a:cs typeface="+mn-lt"/>
              </a:rPr>
              <a:t>Konidela Chiranjeevi</a:t>
            </a:r>
            <a:r>
              <a:rPr lang="en-US" sz="1200">
                <a:solidFill>
                  <a:srgbClr val="202122"/>
                </a:solidFill>
                <a:ea typeface="+mn-lt"/>
                <a:cs typeface="+mn-lt"/>
              </a:rPr>
              <a:t> (born </a:t>
            </a:r>
            <a:r>
              <a:rPr lang="en-US" sz="1200" b="1">
                <a:solidFill>
                  <a:srgbClr val="202122"/>
                </a:solidFill>
                <a:ea typeface="+mn-lt"/>
                <a:cs typeface="+mn-lt"/>
              </a:rPr>
              <a:t>Konidela Sivasankara Varaprasad</a:t>
            </a:r>
            <a:r>
              <a:rPr lang="en-US" sz="1200">
                <a:solidFill>
                  <a:srgbClr val="202122"/>
                </a:solidFill>
                <a:ea typeface="+mn-lt"/>
                <a:cs typeface="+mn-lt"/>
              </a:rPr>
              <a:t>; 22 August 1955) is an Indian actor, philanthropist and former politician known for his work in </a:t>
            </a:r>
            <a:r>
              <a:rPr lang="en-US" sz="1200">
                <a:solidFill>
                  <a:srgbClr val="3366CC"/>
                </a:solidFill>
                <a:ea typeface="+mn-lt"/>
                <a:cs typeface="+mn-lt"/>
                <a:hlinkClick r:id="rId2"/>
              </a:rPr>
              <a:t>Telugu cinema</a:t>
            </a:r>
            <a:r>
              <a:rPr lang="en-US" sz="1200">
                <a:solidFill>
                  <a:srgbClr val="202122"/>
                </a:solidFill>
                <a:ea typeface="+mn-lt"/>
                <a:cs typeface="+mn-lt"/>
              </a:rPr>
              <a:t>. Known as the "</a:t>
            </a:r>
            <a:r>
              <a:rPr lang="en-US" sz="1200" b="1">
                <a:solidFill>
                  <a:srgbClr val="202122"/>
                </a:solidFill>
                <a:ea typeface="+mn-lt"/>
                <a:cs typeface="+mn-lt"/>
              </a:rPr>
              <a:t>Mega Star</a:t>
            </a:r>
            <a:r>
              <a:rPr lang="en-US" sz="1200">
                <a:solidFill>
                  <a:srgbClr val="202122"/>
                </a:solidFill>
                <a:ea typeface="+mn-lt"/>
                <a:cs typeface="+mn-lt"/>
              </a:rPr>
              <a:t>", he is widely regarded as one of the most successful and influential actors in the history of </a:t>
            </a:r>
            <a:r>
              <a:rPr lang="en-US" sz="1200">
                <a:solidFill>
                  <a:srgbClr val="3366CC"/>
                </a:solidFill>
                <a:ea typeface="+mn-lt"/>
                <a:cs typeface="+mn-lt"/>
                <a:hlinkClick r:id="rId3"/>
              </a:rPr>
              <a:t>Indian cinema</a:t>
            </a:r>
            <a:r>
              <a:rPr lang="en-US" sz="1200">
                <a:solidFill>
                  <a:srgbClr val="202122"/>
                </a:solidFill>
                <a:ea typeface="+mn-lt"/>
                <a:cs typeface="+mn-lt"/>
              </a:rPr>
              <a:t>.</a:t>
            </a:r>
            <a:r>
              <a:rPr lang="en-US" sz="1000" baseline="30000">
                <a:solidFill>
                  <a:srgbClr val="3366CC"/>
                </a:solidFill>
                <a:ea typeface="+mn-lt"/>
                <a:cs typeface="+mn-lt"/>
                <a:hlinkClick r:id="rId4"/>
              </a:rPr>
              <a:t>[4]</a:t>
            </a:r>
            <a:r>
              <a:rPr lang="en-US" sz="1000" baseline="30000">
                <a:solidFill>
                  <a:srgbClr val="3366CC"/>
                </a:solidFill>
                <a:ea typeface="+mn-lt"/>
                <a:cs typeface="+mn-lt"/>
                <a:hlinkClick r:id="rId5"/>
              </a:rPr>
              <a:t>[5]</a:t>
            </a:r>
            <a:r>
              <a:rPr lang="en-US" sz="1200">
                <a:solidFill>
                  <a:srgbClr val="202122"/>
                </a:solidFill>
                <a:ea typeface="+mn-lt"/>
                <a:cs typeface="+mn-lt"/>
              </a:rPr>
              <a:t> Chiranjeevi holds the record for the most "Industry Hits" in Telugu cinema, with eight films emerging as the top-grossers of their time—a feat unmatched by any actor in the industry's 100-year history.</a:t>
            </a:r>
            <a:r>
              <a:rPr lang="en-US" sz="1000" baseline="30000">
                <a:solidFill>
                  <a:srgbClr val="3366CC"/>
                </a:solidFill>
                <a:ea typeface="+mn-lt"/>
                <a:cs typeface="+mn-lt"/>
                <a:hlinkClick r:id="rId6"/>
              </a:rPr>
              <a:t>[6]</a:t>
            </a:r>
            <a:r>
              <a:rPr lang="en-US" sz="1200">
                <a:solidFill>
                  <a:srgbClr val="202122"/>
                </a:solidFill>
                <a:ea typeface="+mn-lt"/>
                <a:cs typeface="+mn-lt"/>
              </a:rPr>
              <a:t> He is also celebrated as one of the finest dancers in Indian cinema.</a:t>
            </a:r>
            <a:r>
              <a:rPr lang="en-US" sz="1000" baseline="30000">
                <a:solidFill>
                  <a:srgbClr val="3366CC"/>
                </a:solidFill>
                <a:ea typeface="+mn-lt"/>
                <a:cs typeface="+mn-lt"/>
                <a:hlinkClick r:id="rId7"/>
              </a:rPr>
              <a:t>[7]</a:t>
            </a:r>
            <a:r>
              <a:rPr lang="en-US" sz="1200">
                <a:solidFill>
                  <a:srgbClr val="202122"/>
                </a:solidFill>
                <a:ea typeface="+mn-lt"/>
                <a:cs typeface="+mn-lt"/>
              </a:rPr>
              <a:t> He has received numerous honours, including the </a:t>
            </a:r>
            <a:r>
              <a:rPr lang="en-US" sz="1200">
                <a:solidFill>
                  <a:srgbClr val="3366CC"/>
                </a:solidFill>
                <a:ea typeface="+mn-lt"/>
                <a:cs typeface="+mn-lt"/>
                <a:hlinkClick r:id="rId8"/>
              </a:rPr>
              <a:t>Padma Bhushan</a:t>
            </a:r>
            <a:r>
              <a:rPr lang="en-US" sz="1200">
                <a:solidFill>
                  <a:srgbClr val="202122"/>
                </a:solidFill>
                <a:ea typeface="+mn-lt"/>
                <a:cs typeface="+mn-lt"/>
              </a:rPr>
              <a:t> in 2006 and the </a:t>
            </a:r>
            <a:r>
              <a:rPr lang="en-US" sz="1200">
                <a:solidFill>
                  <a:srgbClr val="3366CC"/>
                </a:solidFill>
                <a:ea typeface="+mn-lt"/>
                <a:cs typeface="+mn-lt"/>
                <a:hlinkClick r:id="rId9"/>
              </a:rPr>
              <a:t>Padma Vibhushan</a:t>
            </a:r>
            <a:r>
              <a:rPr lang="en-US" sz="1200">
                <a:solidFill>
                  <a:srgbClr val="202122"/>
                </a:solidFill>
                <a:ea typeface="+mn-lt"/>
                <a:cs typeface="+mn-lt"/>
              </a:rPr>
              <a:t> in 2024 from the </a:t>
            </a:r>
            <a:r>
              <a:rPr lang="en-US" sz="1200">
                <a:solidFill>
                  <a:srgbClr val="3366CC"/>
                </a:solidFill>
                <a:ea typeface="+mn-lt"/>
                <a:cs typeface="+mn-lt"/>
                <a:hlinkClick r:id="rId10"/>
              </a:rPr>
              <a:t>Government of India</a:t>
            </a:r>
            <a:r>
              <a:rPr lang="en-US" sz="1200">
                <a:solidFill>
                  <a:srgbClr val="202122"/>
                </a:solidFill>
                <a:ea typeface="+mn-lt"/>
                <a:cs typeface="+mn-lt"/>
              </a:rPr>
              <a:t>, as well as the </a:t>
            </a:r>
            <a:r>
              <a:rPr lang="en-US" sz="1200">
                <a:solidFill>
                  <a:srgbClr val="3366CC"/>
                </a:solidFill>
                <a:ea typeface="+mn-lt"/>
                <a:cs typeface="+mn-lt"/>
                <a:hlinkClick r:id="rId11"/>
              </a:rPr>
              <a:t>IFFI Indian Film Personality of the Year Award</a:t>
            </a:r>
            <a:r>
              <a:rPr lang="en-US" sz="1200">
                <a:solidFill>
                  <a:srgbClr val="202122"/>
                </a:solidFill>
                <a:ea typeface="+mn-lt"/>
                <a:cs typeface="+mn-lt"/>
              </a:rPr>
              <a:t> in 2022. His other accolades include the </a:t>
            </a:r>
            <a:r>
              <a:rPr lang="en-US" sz="1200">
                <a:solidFill>
                  <a:srgbClr val="3366CC"/>
                </a:solidFill>
                <a:ea typeface="+mn-lt"/>
                <a:cs typeface="+mn-lt"/>
                <a:hlinkClick r:id="rId12"/>
              </a:rPr>
              <a:t>Raghupathi Venkaiah Award</a:t>
            </a:r>
            <a:r>
              <a:rPr lang="en-US" sz="1200">
                <a:solidFill>
                  <a:srgbClr val="202122"/>
                </a:solidFill>
                <a:ea typeface="+mn-lt"/>
                <a:cs typeface="+mn-lt"/>
              </a:rPr>
              <a:t>, three </a:t>
            </a:r>
            <a:r>
              <a:rPr lang="en-US" sz="1200">
                <a:solidFill>
                  <a:srgbClr val="3366CC"/>
                </a:solidFill>
                <a:ea typeface="+mn-lt"/>
                <a:cs typeface="+mn-lt"/>
                <a:hlinkClick r:id="rId13"/>
              </a:rPr>
              <a:t>Nandi Awards</a:t>
            </a:r>
            <a:r>
              <a:rPr lang="en-US" sz="1200">
                <a:solidFill>
                  <a:srgbClr val="202122"/>
                </a:solidFill>
                <a:ea typeface="+mn-lt"/>
                <a:cs typeface="+mn-lt"/>
              </a:rPr>
              <a:t>, and nine </a:t>
            </a:r>
            <a:r>
              <a:rPr lang="en-US" sz="1200">
                <a:solidFill>
                  <a:srgbClr val="3366CC"/>
                </a:solidFill>
                <a:ea typeface="+mn-lt"/>
                <a:cs typeface="+mn-lt"/>
                <a:hlinkClick r:id="rId14"/>
              </a:rPr>
              <a:t>Filmfare Awards South</a:t>
            </a:r>
            <a:r>
              <a:rPr lang="en-US" sz="1200">
                <a:solidFill>
                  <a:srgbClr val="202122"/>
                </a:solidFill>
                <a:ea typeface="+mn-lt"/>
                <a:cs typeface="+mn-lt"/>
              </a:rPr>
              <a:t>, including the </a:t>
            </a:r>
            <a:r>
              <a:rPr lang="en-US" sz="1200">
                <a:solidFill>
                  <a:srgbClr val="3366CC"/>
                </a:solidFill>
                <a:ea typeface="+mn-lt"/>
                <a:cs typeface="+mn-lt"/>
                <a:hlinkClick r:id="rId15"/>
              </a:rPr>
              <a:t>Lifetime Achievement Award</a:t>
            </a:r>
            <a:r>
              <a:rPr lang="en-US" sz="1200">
                <a:solidFill>
                  <a:srgbClr val="202122"/>
                </a:solidFill>
                <a:ea typeface="+mn-lt"/>
                <a:cs typeface="+mn-lt"/>
              </a:rPr>
              <a:t> and the </a:t>
            </a:r>
            <a:r>
              <a:rPr lang="en-US" sz="1200">
                <a:solidFill>
                  <a:srgbClr val="3366CC"/>
                </a:solidFill>
                <a:ea typeface="+mn-lt"/>
                <a:cs typeface="+mn-lt"/>
                <a:hlinkClick r:id="rId16"/>
              </a:rPr>
              <a:t>Honorary Award</a:t>
            </a:r>
            <a:r>
              <a:rPr lang="en-US" sz="1200">
                <a:solidFill>
                  <a:srgbClr val="202122"/>
                </a:solidFill>
                <a:ea typeface="+mn-lt"/>
                <a:cs typeface="+mn-lt"/>
              </a:rPr>
              <a:t>. In 2013, </a:t>
            </a:r>
            <a:r>
              <a:rPr lang="en-US" sz="1200">
                <a:solidFill>
                  <a:srgbClr val="3366CC"/>
                </a:solidFill>
                <a:ea typeface="+mn-lt"/>
                <a:cs typeface="+mn-lt"/>
                <a:hlinkClick r:id="rId17"/>
              </a:rPr>
              <a:t>CNN-IBN</a:t>
            </a:r>
            <a:r>
              <a:rPr lang="en-US" sz="1200">
                <a:solidFill>
                  <a:srgbClr val="202122"/>
                </a:solidFill>
                <a:ea typeface="+mn-lt"/>
                <a:cs typeface="+mn-lt"/>
              </a:rPr>
              <a:t> recognized him as one of "the men who changed the face of the Indian Cinema". In 2024, he was honoured with a </a:t>
            </a:r>
            <a:r>
              <a:rPr lang="en-US" sz="1200">
                <a:solidFill>
                  <a:srgbClr val="3366CC"/>
                </a:solidFill>
                <a:ea typeface="+mn-lt"/>
                <a:cs typeface="+mn-lt"/>
                <a:hlinkClick r:id="rId18"/>
              </a:rPr>
              <a:t>Guinness World Record</a:t>
            </a:r>
            <a:r>
              <a:rPr lang="en-US" sz="1200">
                <a:solidFill>
                  <a:srgbClr val="202122"/>
                </a:solidFill>
                <a:ea typeface="+mn-lt"/>
                <a:cs typeface="+mn-lt"/>
              </a:rPr>
              <a:t> as the most prolific actor-dancer in the Indian film industry.</a:t>
            </a:r>
            <a:r>
              <a:rPr lang="en-US" sz="1000" baseline="30000" dirty="0">
                <a:solidFill>
                  <a:srgbClr val="3366CC"/>
                </a:solidFill>
                <a:ea typeface="+mn-lt"/>
                <a:cs typeface="+mn-lt"/>
                <a:hlinkClick r:id="rId19"/>
              </a:rPr>
              <a:t>[8]</a:t>
            </a:r>
            <a:endParaRPr lang="en-US"/>
          </a:p>
          <a:p>
            <a:r>
              <a:rPr lang="en-US" sz="1200">
                <a:solidFill>
                  <a:srgbClr val="202122"/>
                </a:solidFill>
                <a:ea typeface="+mn-lt"/>
                <a:cs typeface="+mn-lt"/>
              </a:rPr>
              <a:t>Chiranjeevi made his acting debut in 1978, initially gaining recognition for his supporting, </a:t>
            </a:r>
            <a:r>
              <a:rPr lang="en-US" sz="1200">
                <a:solidFill>
                  <a:srgbClr val="3366CC"/>
                </a:solidFill>
                <a:ea typeface="+mn-lt"/>
                <a:cs typeface="+mn-lt"/>
                <a:hlinkClick r:id="rId20"/>
              </a:rPr>
              <a:t>anti-hero</a:t>
            </a:r>
            <a:r>
              <a:rPr lang="en-US" sz="1200">
                <a:solidFill>
                  <a:srgbClr val="202122"/>
                </a:solidFill>
                <a:ea typeface="+mn-lt"/>
                <a:cs typeface="+mn-lt"/>
              </a:rPr>
              <a:t>, and antagonist roles. He later transitioned to lead roles with notable success. His breakthrough came with the 1983 film </a:t>
            </a:r>
            <a:r>
              <a:rPr lang="en-US" sz="1200" i="1">
                <a:solidFill>
                  <a:srgbClr val="3366CC"/>
                </a:solidFill>
                <a:ea typeface="+mn-lt"/>
                <a:cs typeface="+mn-lt"/>
                <a:hlinkClick r:id="rId21"/>
              </a:rPr>
              <a:t>Khaidi</a:t>
            </a:r>
            <a:r>
              <a:rPr lang="en-US" sz="1200">
                <a:solidFill>
                  <a:srgbClr val="202122"/>
                </a:solidFill>
                <a:ea typeface="+mn-lt"/>
                <a:cs typeface="+mn-lt"/>
              </a:rPr>
              <a:t>, which became the highest-grossing Telugu film at the time and established him as a leading actor in the industry. Throughout the 1980s and early 1990s, Chiranjeevi starred in various "Industry Hits"—highest-grossers of all time—like </a:t>
            </a:r>
            <a:r>
              <a:rPr lang="en-US" sz="1200" i="1">
                <a:solidFill>
                  <a:srgbClr val="3366CC"/>
                </a:solidFill>
                <a:ea typeface="+mn-lt"/>
                <a:cs typeface="+mn-lt"/>
                <a:hlinkClick r:id="rId22"/>
              </a:rPr>
              <a:t>Pasivadi Pranam</a:t>
            </a:r>
            <a:r>
              <a:rPr lang="en-US" sz="1200">
                <a:solidFill>
                  <a:srgbClr val="202122"/>
                </a:solidFill>
                <a:ea typeface="+mn-lt"/>
                <a:cs typeface="+mn-lt"/>
              </a:rPr>
              <a:t> (1987), </a:t>
            </a:r>
            <a:r>
              <a:rPr lang="en-US" sz="1200" i="1">
                <a:solidFill>
                  <a:srgbClr val="3366CC"/>
                </a:solidFill>
                <a:ea typeface="+mn-lt"/>
                <a:cs typeface="+mn-lt"/>
                <a:hlinkClick r:id="rId23"/>
              </a:rPr>
              <a:t>Yamudiki Mogudu</a:t>
            </a:r>
            <a:r>
              <a:rPr lang="en-US" sz="1200">
                <a:solidFill>
                  <a:srgbClr val="202122"/>
                </a:solidFill>
                <a:ea typeface="+mn-lt"/>
                <a:cs typeface="+mn-lt"/>
              </a:rPr>
              <a:t> (1988), </a:t>
            </a:r>
            <a:r>
              <a:rPr lang="en-US" sz="1200" i="1">
                <a:solidFill>
                  <a:srgbClr val="3366CC"/>
                </a:solidFill>
                <a:ea typeface="+mn-lt"/>
                <a:cs typeface="+mn-lt"/>
                <a:hlinkClick r:id="rId24"/>
              </a:rPr>
              <a:t>Attaku Yamudu Ammayiki Mogudu</a:t>
            </a:r>
            <a:r>
              <a:rPr lang="en-US" sz="1200">
                <a:solidFill>
                  <a:srgbClr val="202122"/>
                </a:solidFill>
                <a:ea typeface="+mn-lt"/>
                <a:cs typeface="+mn-lt"/>
              </a:rPr>
              <a:t> (1989), </a:t>
            </a:r>
            <a:r>
              <a:rPr lang="en-US" sz="1200" i="1">
                <a:solidFill>
                  <a:srgbClr val="3366CC"/>
                </a:solidFill>
                <a:ea typeface="+mn-lt"/>
                <a:cs typeface="+mn-lt"/>
                <a:hlinkClick r:id="rId25"/>
              </a:rPr>
              <a:t>Jagadeka Veerudu Athiloka Sundari</a:t>
            </a:r>
            <a:r>
              <a:rPr lang="en-US" sz="1200">
                <a:solidFill>
                  <a:srgbClr val="202122"/>
                </a:solidFill>
                <a:ea typeface="+mn-lt"/>
                <a:cs typeface="+mn-lt"/>
              </a:rPr>
              <a:t> (1990), </a:t>
            </a:r>
            <a:r>
              <a:rPr lang="en-US" sz="1200" i="1">
                <a:solidFill>
                  <a:srgbClr val="3366CC"/>
                </a:solidFill>
                <a:ea typeface="+mn-lt"/>
                <a:cs typeface="+mn-lt"/>
                <a:hlinkClick r:id="rId26"/>
              </a:rPr>
              <a:t>Gang Leader</a:t>
            </a:r>
            <a:r>
              <a:rPr lang="en-US" sz="1200">
                <a:solidFill>
                  <a:srgbClr val="202122"/>
                </a:solidFill>
                <a:ea typeface="+mn-lt"/>
                <a:cs typeface="+mn-lt"/>
              </a:rPr>
              <a:t> (1991), and </a:t>
            </a:r>
            <a:r>
              <a:rPr lang="en-US" sz="1200" i="1">
                <a:solidFill>
                  <a:srgbClr val="3366CC"/>
                </a:solidFill>
                <a:ea typeface="+mn-lt"/>
                <a:cs typeface="+mn-lt"/>
                <a:hlinkClick r:id="rId27"/>
              </a:rPr>
              <a:t>Gharana Mogudu</a:t>
            </a:r>
            <a:r>
              <a:rPr lang="en-US" sz="1200">
                <a:solidFill>
                  <a:srgbClr val="202122"/>
                </a:solidFill>
                <a:ea typeface="+mn-lt"/>
                <a:cs typeface="+mn-lt"/>
              </a:rPr>
              <a:t> (1992).</a:t>
            </a:r>
            <a:r>
              <a:rPr lang="en-US" sz="1000" baseline="30000">
                <a:solidFill>
                  <a:srgbClr val="3366CC"/>
                </a:solidFill>
                <a:ea typeface="+mn-lt"/>
                <a:cs typeface="+mn-lt"/>
                <a:hlinkClick r:id="rId6"/>
              </a:rPr>
              <a:t>[6]</a:t>
            </a:r>
            <a:r>
              <a:rPr lang="en-US" sz="1200">
                <a:solidFill>
                  <a:srgbClr val="202122"/>
                </a:solidFill>
                <a:ea typeface="+mn-lt"/>
                <a:cs typeface="+mn-lt"/>
              </a:rPr>
              <a:t> Notably, </a:t>
            </a:r>
            <a:r>
              <a:rPr lang="en-US" sz="1200" i="1">
                <a:solidFill>
                  <a:srgbClr val="202122"/>
                </a:solidFill>
                <a:ea typeface="+mn-lt"/>
                <a:cs typeface="+mn-lt"/>
              </a:rPr>
              <a:t>Gharana Mogudu</a:t>
            </a:r>
            <a:r>
              <a:rPr lang="en-US" sz="1200">
                <a:solidFill>
                  <a:srgbClr val="202122"/>
                </a:solidFill>
                <a:ea typeface="+mn-lt"/>
                <a:cs typeface="+mn-lt"/>
              </a:rPr>
              <a:t> was the first </a:t>
            </a:r>
            <a:r>
              <a:rPr lang="en-US" sz="1200">
                <a:solidFill>
                  <a:srgbClr val="3366CC"/>
                </a:solidFill>
                <a:ea typeface="+mn-lt"/>
                <a:cs typeface="+mn-lt"/>
                <a:hlinkClick r:id="rId28"/>
              </a:rPr>
              <a:t>South Indian</a:t>
            </a:r>
            <a:r>
              <a:rPr lang="en-US" sz="1200">
                <a:solidFill>
                  <a:srgbClr val="202122"/>
                </a:solidFill>
                <a:ea typeface="+mn-lt"/>
                <a:cs typeface="+mn-lt"/>
              </a:rPr>
              <a:t> film to earn over ₹10 </a:t>
            </a:r>
            <a:r>
              <a:rPr lang="en-US" sz="1200">
                <a:solidFill>
                  <a:srgbClr val="3366CC"/>
                </a:solidFill>
                <a:ea typeface="+mn-lt"/>
                <a:cs typeface="+mn-lt"/>
                <a:hlinkClick r:id="rId29"/>
              </a:rPr>
              <a:t>crore</a:t>
            </a:r>
            <a:r>
              <a:rPr lang="en-US" sz="1200">
                <a:solidFill>
                  <a:srgbClr val="202122"/>
                </a:solidFill>
                <a:ea typeface="+mn-lt"/>
                <a:cs typeface="+mn-lt"/>
              </a:rPr>
              <a:t> in </a:t>
            </a:r>
            <a:r>
              <a:rPr lang="en-US" sz="1200">
                <a:solidFill>
                  <a:srgbClr val="3366CC"/>
                </a:solidFill>
                <a:ea typeface="+mn-lt"/>
                <a:cs typeface="+mn-lt"/>
                <a:hlinkClick r:id="rId30"/>
              </a:rPr>
              <a:t>distributor share</a:t>
            </a:r>
            <a:r>
              <a:rPr lang="en-US" sz="1200">
                <a:solidFill>
                  <a:srgbClr val="202122"/>
                </a:solidFill>
                <a:ea typeface="+mn-lt"/>
                <a:cs typeface="+mn-lt"/>
              </a:rPr>
              <a:t>,</a:t>
            </a:r>
            <a:r>
              <a:rPr lang="en-US" sz="1000" baseline="30000">
                <a:solidFill>
                  <a:srgbClr val="3366CC"/>
                </a:solidFill>
                <a:ea typeface="+mn-lt"/>
                <a:cs typeface="+mn-lt"/>
                <a:hlinkClick r:id="rId31"/>
              </a:rPr>
              <a:t>[9]</a:t>
            </a:r>
            <a:r>
              <a:rPr lang="en-US" sz="1200">
                <a:solidFill>
                  <a:srgbClr val="202122"/>
                </a:solidFill>
                <a:ea typeface="+mn-lt"/>
                <a:cs typeface="+mn-lt"/>
              </a:rPr>
              <a:t> prompting </a:t>
            </a:r>
            <a:r>
              <a:rPr lang="en-US" sz="1200" i="1">
                <a:solidFill>
                  <a:srgbClr val="3366CC"/>
                </a:solidFill>
                <a:ea typeface="+mn-lt"/>
                <a:cs typeface="+mn-lt"/>
                <a:hlinkClick r:id="rId32"/>
              </a:rPr>
              <a:t>The Week</a:t>
            </a:r>
            <a:r>
              <a:rPr lang="en-US" sz="1200">
                <a:solidFill>
                  <a:srgbClr val="202122"/>
                </a:solidFill>
                <a:ea typeface="+mn-lt"/>
                <a:cs typeface="+mn-lt"/>
              </a:rPr>
              <a:t> magazine to label him "Bigger than </a:t>
            </a:r>
            <a:r>
              <a:rPr lang="en-US" sz="1200">
                <a:solidFill>
                  <a:srgbClr val="3366CC"/>
                </a:solidFill>
                <a:ea typeface="+mn-lt"/>
                <a:cs typeface="+mn-lt"/>
                <a:hlinkClick r:id="rId33"/>
              </a:rPr>
              <a:t>Bachchan</a:t>
            </a:r>
            <a:r>
              <a:rPr lang="en-US" sz="1200">
                <a:solidFill>
                  <a:srgbClr val="202122"/>
                </a:solidFill>
                <a:ea typeface="+mn-lt"/>
                <a:cs typeface="+mn-lt"/>
              </a:rPr>
              <a:t>" and "the new money machine."</a:t>
            </a:r>
            <a:r>
              <a:rPr lang="en-US" sz="1000" baseline="30000" dirty="0">
                <a:solidFill>
                  <a:srgbClr val="3366CC"/>
                </a:solidFill>
                <a:ea typeface="+mn-lt"/>
                <a:cs typeface="+mn-lt"/>
                <a:hlinkClick r:id="rId34"/>
              </a:rPr>
              <a:t>[10]</a:t>
            </a:r>
            <a:endParaRPr lang="en-US"/>
          </a:p>
          <a:p>
            <a:r>
              <a:rPr lang="en-US" sz="1200">
                <a:solidFill>
                  <a:srgbClr val="202122"/>
                </a:solidFill>
                <a:ea typeface="+mn-lt"/>
                <a:cs typeface="+mn-lt"/>
              </a:rPr>
              <a:t>For his role in </a:t>
            </a:r>
            <a:r>
              <a:rPr lang="en-US" sz="1200" i="1">
                <a:solidFill>
                  <a:srgbClr val="3366CC"/>
                </a:solidFill>
                <a:ea typeface="+mn-lt"/>
                <a:cs typeface="+mn-lt"/>
                <a:hlinkClick r:id="rId35"/>
              </a:rPr>
              <a:t>Aapadbandhavudu</a:t>
            </a:r>
            <a:r>
              <a:rPr lang="en-US" sz="1200">
                <a:solidFill>
                  <a:srgbClr val="202122"/>
                </a:solidFill>
                <a:ea typeface="+mn-lt"/>
                <a:cs typeface="+mn-lt"/>
              </a:rPr>
              <a:t> (1992), Chiranjeevi was paid ₹1.25 crore, making him the highest-paid actor in India at the time and the first Indian actor to command a ₹1 crore remuneration for a film.</a:t>
            </a:r>
            <a:r>
              <a:rPr lang="en-US" sz="1000" baseline="30000">
                <a:solidFill>
                  <a:srgbClr val="3366CC"/>
                </a:solidFill>
                <a:ea typeface="+mn-lt"/>
                <a:cs typeface="+mn-lt"/>
                <a:hlinkClick r:id="rId36"/>
              </a:rPr>
              <a:t>[11]</a:t>
            </a:r>
            <a:r>
              <a:rPr lang="en-US" sz="1200">
                <a:solidFill>
                  <a:srgbClr val="202122"/>
                </a:solidFill>
                <a:ea typeface="+mn-lt"/>
                <a:cs typeface="+mn-lt"/>
              </a:rPr>
              <a:t> During this period, he received widespread critical acclaim for his performances in </a:t>
            </a:r>
            <a:r>
              <a:rPr lang="en-US" sz="1200" i="1">
                <a:solidFill>
                  <a:srgbClr val="3366CC"/>
                </a:solidFill>
                <a:ea typeface="+mn-lt"/>
                <a:cs typeface="+mn-lt"/>
                <a:hlinkClick r:id="rId37"/>
              </a:rPr>
              <a:t>Swayamkrushi</a:t>
            </a:r>
            <a:r>
              <a:rPr lang="en-US" sz="1200">
                <a:solidFill>
                  <a:srgbClr val="202122"/>
                </a:solidFill>
                <a:ea typeface="+mn-lt"/>
                <a:cs typeface="+mn-lt"/>
              </a:rPr>
              <a:t> (1987), </a:t>
            </a:r>
            <a:r>
              <a:rPr lang="en-US" sz="1200" i="1">
                <a:solidFill>
                  <a:srgbClr val="3366CC"/>
                </a:solidFill>
                <a:ea typeface="+mn-lt"/>
                <a:cs typeface="+mn-lt"/>
                <a:hlinkClick r:id="rId38"/>
              </a:rPr>
              <a:t>Rudraveena</a:t>
            </a:r>
            <a:r>
              <a:rPr lang="en-US" sz="1200">
                <a:solidFill>
                  <a:srgbClr val="202122"/>
                </a:solidFill>
                <a:ea typeface="+mn-lt"/>
                <a:cs typeface="+mn-lt"/>
              </a:rPr>
              <a:t> (1988), and </a:t>
            </a:r>
            <a:r>
              <a:rPr lang="en-US" sz="1200" i="1">
                <a:solidFill>
                  <a:srgbClr val="202122"/>
                </a:solidFill>
                <a:ea typeface="+mn-lt"/>
                <a:cs typeface="+mn-lt"/>
              </a:rPr>
              <a:t>Aapadbandhavudu</a:t>
            </a:r>
            <a:r>
              <a:rPr lang="en-US" sz="1200">
                <a:solidFill>
                  <a:srgbClr val="202122"/>
                </a:solidFill>
                <a:ea typeface="+mn-lt"/>
                <a:cs typeface="+mn-lt"/>
              </a:rPr>
              <a:t> (1992), showcasing his versatility as an actor who excelled in both commercial blockbusters and critically acclaimed films. Notably, </a:t>
            </a:r>
            <a:r>
              <a:rPr lang="en-US" sz="1200" i="1">
                <a:solidFill>
                  <a:srgbClr val="202122"/>
                </a:solidFill>
                <a:ea typeface="+mn-lt"/>
                <a:cs typeface="+mn-lt"/>
              </a:rPr>
              <a:t>Swayamkrushi</a:t>
            </a:r>
            <a:r>
              <a:rPr lang="en-US" sz="1200">
                <a:solidFill>
                  <a:srgbClr val="202122"/>
                </a:solidFill>
                <a:ea typeface="+mn-lt"/>
                <a:cs typeface="+mn-lt"/>
              </a:rPr>
              <a:t> was screened at the </a:t>
            </a:r>
            <a:r>
              <a:rPr lang="en-US" sz="1200">
                <a:solidFill>
                  <a:srgbClr val="3366CC"/>
                </a:solidFill>
                <a:ea typeface="+mn-lt"/>
                <a:cs typeface="+mn-lt"/>
                <a:hlinkClick r:id="rId39"/>
              </a:rPr>
              <a:t>Moscow International Film Festival</a:t>
            </a:r>
            <a:r>
              <a:rPr lang="en-US" sz="1200">
                <a:solidFill>
                  <a:srgbClr val="202122"/>
                </a:solidFill>
                <a:ea typeface="+mn-lt"/>
                <a:cs typeface="+mn-lt"/>
              </a:rPr>
              <a:t>, while </a:t>
            </a:r>
            <a:r>
              <a:rPr lang="en-US" sz="1200" i="1">
                <a:solidFill>
                  <a:srgbClr val="202122"/>
                </a:solidFill>
                <a:ea typeface="+mn-lt"/>
                <a:cs typeface="+mn-lt"/>
              </a:rPr>
              <a:t>Rudraveena</a:t>
            </a:r>
            <a:r>
              <a:rPr lang="en-US" sz="1200">
                <a:solidFill>
                  <a:srgbClr val="202122"/>
                </a:solidFill>
                <a:ea typeface="+mn-lt"/>
                <a:cs typeface="+mn-lt"/>
              </a:rPr>
              <a:t>, which he co-produced, won the </a:t>
            </a:r>
            <a:r>
              <a:rPr lang="en-US" sz="1200">
                <a:solidFill>
                  <a:srgbClr val="3366CC"/>
                </a:solidFill>
                <a:ea typeface="+mn-lt"/>
                <a:cs typeface="+mn-lt"/>
                <a:hlinkClick r:id="rId40"/>
              </a:rPr>
              <a:t>National Film Award for Best Feature Film on National Integration</a:t>
            </a:r>
            <a:r>
              <a:rPr lang="en-US" sz="1200">
                <a:solidFill>
                  <a:srgbClr val="202122"/>
                </a:solidFill>
                <a:ea typeface="+mn-lt"/>
                <a:cs typeface="+mn-lt"/>
              </a:rPr>
              <a:t>. In the late 1990s and early 2000s, Chiranjeevi continued to dominate the box office with films like </a:t>
            </a:r>
            <a:r>
              <a:rPr lang="en-US" sz="1200" i="1">
                <a:solidFill>
                  <a:srgbClr val="3366CC"/>
                </a:solidFill>
                <a:ea typeface="+mn-lt"/>
                <a:cs typeface="+mn-lt"/>
                <a:hlinkClick r:id="rId41"/>
              </a:rPr>
              <a:t>Master</a:t>
            </a:r>
            <a:r>
              <a:rPr lang="en-US" sz="1200">
                <a:solidFill>
                  <a:srgbClr val="202122"/>
                </a:solidFill>
                <a:ea typeface="+mn-lt"/>
                <a:cs typeface="+mn-lt"/>
              </a:rPr>
              <a:t> (1997), and </a:t>
            </a:r>
            <a:r>
              <a:rPr lang="en-US" sz="1200" i="1">
                <a:solidFill>
                  <a:srgbClr val="3366CC"/>
                </a:solidFill>
                <a:ea typeface="+mn-lt"/>
                <a:cs typeface="+mn-lt"/>
                <a:hlinkClick r:id="rId42"/>
              </a:rPr>
              <a:t>Choodalani Vundi</a:t>
            </a:r>
            <a:r>
              <a:rPr lang="en-US" sz="1200">
                <a:solidFill>
                  <a:srgbClr val="202122"/>
                </a:solidFill>
                <a:ea typeface="+mn-lt"/>
                <a:cs typeface="+mn-lt"/>
              </a:rPr>
              <a:t> (1998). His 2002 film </a:t>
            </a:r>
            <a:r>
              <a:rPr lang="en-US" sz="1200" i="1">
                <a:solidFill>
                  <a:srgbClr val="3366CC"/>
                </a:solidFill>
                <a:ea typeface="+mn-lt"/>
                <a:cs typeface="+mn-lt"/>
                <a:hlinkClick r:id="rId43"/>
              </a:rPr>
              <a:t>Indra</a:t>
            </a:r>
            <a:r>
              <a:rPr lang="en-US" sz="1200">
                <a:solidFill>
                  <a:srgbClr val="202122"/>
                </a:solidFill>
                <a:ea typeface="+mn-lt"/>
                <a:cs typeface="+mn-lt"/>
              </a:rPr>
              <a:t> was the highest-grossing Telugu film for many years, and socially impactful films like </a:t>
            </a:r>
            <a:r>
              <a:rPr lang="en-US" sz="1200" i="1">
                <a:solidFill>
                  <a:srgbClr val="3366CC"/>
                </a:solidFill>
                <a:ea typeface="+mn-lt"/>
                <a:cs typeface="+mn-lt"/>
                <a:hlinkClick r:id="rId44"/>
              </a:rPr>
              <a:t>Tagore</a:t>
            </a:r>
            <a:r>
              <a:rPr lang="en-US" sz="1200">
                <a:solidFill>
                  <a:srgbClr val="202122"/>
                </a:solidFill>
                <a:ea typeface="+mn-lt"/>
                <a:cs typeface="+mn-lt"/>
              </a:rPr>
              <a:t> (2003) and </a:t>
            </a:r>
            <a:r>
              <a:rPr lang="en-US" sz="1200" i="1">
                <a:solidFill>
                  <a:srgbClr val="3366CC"/>
                </a:solidFill>
                <a:ea typeface="+mn-lt"/>
                <a:cs typeface="+mn-lt"/>
                <a:hlinkClick r:id="rId45"/>
              </a:rPr>
              <a:t>Shankar Dada M.B.B.S.</a:t>
            </a:r>
            <a:r>
              <a:rPr lang="en-US" sz="1200">
                <a:solidFill>
                  <a:srgbClr val="202122"/>
                </a:solidFill>
                <a:ea typeface="+mn-lt"/>
                <a:cs typeface="+mn-lt"/>
              </a:rPr>
              <a:t> (2004) became major blockbusters, further cementing his legacy.</a:t>
            </a:r>
            <a:endParaRPr lang="en-US"/>
          </a:p>
          <a:p>
            <a:r>
              <a:rPr lang="en-US" sz="1200">
                <a:solidFill>
                  <a:srgbClr val="202122"/>
                </a:solidFill>
                <a:ea typeface="+mn-lt"/>
                <a:cs typeface="+mn-lt"/>
              </a:rPr>
              <a:t>On 2 October 1998, Chiranjeevi established the Chiranjeevi Charitable Trust, which operates the largest </a:t>
            </a:r>
            <a:r>
              <a:rPr lang="en-US" sz="1200">
                <a:solidFill>
                  <a:srgbClr val="3366CC"/>
                </a:solidFill>
                <a:ea typeface="+mn-lt"/>
                <a:cs typeface="+mn-lt"/>
                <a:hlinkClick r:id="rId46"/>
              </a:rPr>
              <a:t>blood</a:t>
            </a:r>
            <a:r>
              <a:rPr lang="en-US" sz="1200">
                <a:solidFill>
                  <a:srgbClr val="202122"/>
                </a:solidFill>
                <a:ea typeface="+mn-lt"/>
                <a:cs typeface="+mn-lt"/>
              </a:rPr>
              <a:t> and </a:t>
            </a:r>
            <a:r>
              <a:rPr lang="en-US" sz="1200">
                <a:solidFill>
                  <a:srgbClr val="3366CC"/>
                </a:solidFill>
                <a:ea typeface="+mn-lt"/>
                <a:cs typeface="+mn-lt"/>
                <a:hlinkClick r:id="rId47"/>
              </a:rPr>
              <a:t>eye banks</a:t>
            </a:r>
            <a:r>
              <a:rPr lang="en-US" sz="1200">
                <a:solidFill>
                  <a:srgbClr val="202122"/>
                </a:solidFill>
                <a:ea typeface="+mn-lt"/>
                <a:cs typeface="+mn-lt"/>
              </a:rPr>
              <a:t> in the </a:t>
            </a:r>
            <a:r>
              <a:rPr lang="en-US" sz="1200">
                <a:solidFill>
                  <a:srgbClr val="3366CC"/>
                </a:solidFill>
                <a:ea typeface="+mn-lt"/>
                <a:cs typeface="+mn-lt"/>
                <a:hlinkClick r:id="rId48"/>
              </a:rPr>
              <a:t>Telugu states</a:t>
            </a:r>
            <a:r>
              <a:rPr lang="en-US" sz="1200">
                <a:solidFill>
                  <a:srgbClr val="202122"/>
                </a:solidFill>
                <a:ea typeface="+mn-lt"/>
                <a:cs typeface="+mn-lt"/>
              </a:rPr>
              <a:t>. The trust has restored eyesight to over 9,000 individuals through </a:t>
            </a:r>
            <a:r>
              <a:rPr lang="en-US" sz="1200">
                <a:solidFill>
                  <a:srgbClr val="3366CC"/>
                </a:solidFill>
                <a:ea typeface="+mn-lt"/>
                <a:cs typeface="+mn-lt"/>
                <a:hlinkClick r:id="rId49"/>
              </a:rPr>
              <a:t>cornea transplants</a:t>
            </a:r>
            <a:r>
              <a:rPr lang="en-US" sz="1200">
                <a:solidFill>
                  <a:srgbClr val="202122"/>
                </a:solidFill>
                <a:ea typeface="+mn-lt"/>
                <a:cs typeface="+mn-lt"/>
              </a:rPr>
              <a:t> and provides 79% of collected blood free to the poor.</a:t>
            </a:r>
            <a:r>
              <a:rPr lang="en-US" sz="1000" baseline="30000">
                <a:solidFill>
                  <a:srgbClr val="3366CC"/>
                </a:solidFill>
                <a:ea typeface="+mn-lt"/>
                <a:cs typeface="+mn-lt"/>
                <a:hlinkClick r:id="rId50"/>
              </a:rPr>
              <a:t>[12]</a:t>
            </a:r>
            <a:r>
              <a:rPr lang="en-US" sz="1200">
                <a:solidFill>
                  <a:srgbClr val="202122"/>
                </a:solidFill>
                <a:ea typeface="+mn-lt"/>
                <a:cs typeface="+mn-lt"/>
              </a:rPr>
              <a:t> It has received several accolades, including the "Best Voluntary Blood Bank Award" from the </a:t>
            </a:r>
            <a:r>
              <a:rPr lang="en-US" sz="1200">
                <a:solidFill>
                  <a:srgbClr val="3366CC"/>
                </a:solidFill>
                <a:ea typeface="+mn-lt"/>
                <a:cs typeface="+mn-lt"/>
                <a:hlinkClick r:id="rId51"/>
              </a:rPr>
              <a:t>Government of Andhra Pradesh</a:t>
            </a:r>
            <a:r>
              <a:rPr lang="en-US" sz="1200">
                <a:solidFill>
                  <a:srgbClr val="202122"/>
                </a:solidFill>
                <a:ea typeface="+mn-lt"/>
                <a:cs typeface="+mn-lt"/>
              </a:rPr>
              <a:t> for five consecutive years from 2002 to 2006.</a:t>
            </a:r>
            <a:r>
              <a:rPr lang="en-US" sz="1000" baseline="30000">
                <a:solidFill>
                  <a:srgbClr val="3366CC"/>
                </a:solidFill>
                <a:ea typeface="+mn-lt"/>
                <a:cs typeface="+mn-lt"/>
                <a:hlinkClick r:id="rId52"/>
              </a:rPr>
              <a:t>[13]</a:t>
            </a:r>
            <a:r>
              <a:rPr lang="en-US" sz="1200">
                <a:solidFill>
                  <a:srgbClr val="202122"/>
                </a:solidFill>
                <a:ea typeface="+mn-lt"/>
                <a:cs typeface="+mn-lt"/>
              </a:rPr>
              <a:t> In 2002, he was honoured with the Samman Award by the </a:t>
            </a:r>
            <a:r>
              <a:rPr lang="en-US" sz="1200">
                <a:solidFill>
                  <a:srgbClr val="3366CC"/>
                </a:solidFill>
                <a:ea typeface="+mn-lt"/>
                <a:cs typeface="+mn-lt"/>
                <a:hlinkClick r:id="rId53"/>
              </a:rPr>
              <a:t>Income Tax Department</a:t>
            </a:r>
            <a:r>
              <a:rPr lang="en-US" sz="1200">
                <a:solidFill>
                  <a:srgbClr val="202122"/>
                </a:solidFill>
                <a:ea typeface="+mn-lt"/>
                <a:cs typeface="+mn-lt"/>
              </a:rPr>
              <a:t>, for being the highest income tax payer in the profession category for the assessment year 1999–2000.</a:t>
            </a:r>
            <a:r>
              <a:rPr lang="en-US" sz="1000" baseline="30000" dirty="0">
                <a:solidFill>
                  <a:srgbClr val="3366CC"/>
                </a:solidFill>
                <a:ea typeface="+mn-lt"/>
                <a:cs typeface="+mn-lt"/>
                <a:hlinkClick r:id="rId54"/>
              </a:rPr>
              <a:t>[14]</a:t>
            </a:r>
            <a:endParaRPr lang="en-US"/>
          </a:p>
          <a:p>
            <a:r>
              <a:rPr lang="en-US" sz="1200">
                <a:solidFill>
                  <a:srgbClr val="202122"/>
                </a:solidFill>
                <a:ea typeface="+mn-lt"/>
                <a:cs typeface="+mn-lt"/>
              </a:rPr>
              <a:t>In 2008, Chiranjeevi founded the </a:t>
            </a:r>
            <a:r>
              <a:rPr lang="en-US" sz="1200">
                <a:solidFill>
                  <a:srgbClr val="3366CC"/>
                </a:solidFill>
                <a:ea typeface="+mn-lt"/>
                <a:cs typeface="+mn-lt"/>
                <a:hlinkClick r:id="rId55"/>
              </a:rPr>
              <a:t>Praja Rajyam Party</a:t>
            </a:r>
            <a:r>
              <a:rPr lang="en-US" sz="1200">
                <a:solidFill>
                  <a:srgbClr val="202122"/>
                </a:solidFill>
                <a:ea typeface="+mn-lt"/>
                <a:cs typeface="+mn-lt"/>
              </a:rPr>
              <a:t> and led it in the </a:t>
            </a:r>
            <a:r>
              <a:rPr lang="en-US" sz="1200">
                <a:solidFill>
                  <a:srgbClr val="3366CC"/>
                </a:solidFill>
                <a:ea typeface="+mn-lt"/>
                <a:cs typeface="+mn-lt"/>
                <a:hlinkClick r:id="rId56"/>
              </a:rPr>
              <a:t>2009 Andhra Pradesh elections</a:t>
            </a:r>
            <a:r>
              <a:rPr lang="en-US" sz="1200">
                <a:solidFill>
                  <a:srgbClr val="202122"/>
                </a:solidFill>
                <a:ea typeface="+mn-lt"/>
                <a:cs typeface="+mn-lt"/>
              </a:rPr>
              <a:t>, where it won 18 seats and secured over 16% of the vote, making it the third-largest party in the state. The party merged with the </a:t>
            </a:r>
            <a:r>
              <a:rPr lang="en-US" sz="1200">
                <a:solidFill>
                  <a:srgbClr val="3366CC"/>
                </a:solidFill>
                <a:ea typeface="+mn-lt"/>
                <a:cs typeface="+mn-lt"/>
                <a:hlinkClick r:id="rId57"/>
              </a:rPr>
              <a:t>Indian National Congress</a:t>
            </a:r>
            <a:r>
              <a:rPr lang="en-US" sz="1200">
                <a:solidFill>
                  <a:srgbClr val="202122"/>
                </a:solidFill>
                <a:ea typeface="+mn-lt"/>
                <a:cs typeface="+mn-lt"/>
              </a:rPr>
              <a:t> in 2011. Chiranjeevi served as a </a:t>
            </a:r>
            <a:r>
              <a:rPr lang="en-US" sz="1200">
                <a:solidFill>
                  <a:srgbClr val="3366CC"/>
                </a:solidFill>
                <a:ea typeface="+mn-lt"/>
                <a:cs typeface="+mn-lt"/>
                <a:hlinkClick r:id="rId58"/>
              </a:rPr>
              <a:t>Rajya Sabha MP</a:t>
            </a:r>
            <a:r>
              <a:rPr lang="en-US" sz="1200">
                <a:solidFill>
                  <a:srgbClr val="202122"/>
                </a:solidFill>
                <a:ea typeface="+mn-lt"/>
                <a:cs typeface="+mn-lt"/>
              </a:rPr>
              <a:t> from 2012 to 2018 and was appointed </a:t>
            </a:r>
            <a:r>
              <a:rPr lang="en-US" sz="1200">
                <a:solidFill>
                  <a:srgbClr val="3366CC"/>
                </a:solidFill>
                <a:ea typeface="+mn-lt"/>
                <a:cs typeface="+mn-lt"/>
                <a:hlinkClick r:id="rId59"/>
              </a:rPr>
              <a:t>Minister of Tourism</a:t>
            </a:r>
            <a:r>
              <a:rPr lang="en-US" sz="1200">
                <a:solidFill>
                  <a:srgbClr val="202122"/>
                </a:solidFill>
                <a:ea typeface="+mn-lt"/>
                <a:cs typeface="+mn-lt"/>
              </a:rPr>
              <a:t> in the </a:t>
            </a:r>
            <a:r>
              <a:rPr lang="en-US" sz="1200">
                <a:solidFill>
                  <a:srgbClr val="3366CC"/>
                </a:solidFill>
                <a:ea typeface="+mn-lt"/>
                <a:cs typeface="+mn-lt"/>
                <a:hlinkClick r:id="rId60"/>
              </a:rPr>
              <a:t>central cabinet of India</a:t>
            </a:r>
            <a:r>
              <a:rPr lang="en-US" sz="1200">
                <a:solidFill>
                  <a:srgbClr val="202122"/>
                </a:solidFill>
                <a:ea typeface="+mn-lt"/>
                <a:cs typeface="+mn-lt"/>
              </a:rPr>
              <a:t> in October 2012, holding the position until May 2014. After a hiatus from cinema, he returned with the blockbuster hit </a:t>
            </a:r>
            <a:r>
              <a:rPr lang="en-US" sz="1200" i="1">
                <a:solidFill>
                  <a:srgbClr val="3366CC"/>
                </a:solidFill>
                <a:ea typeface="+mn-lt"/>
                <a:cs typeface="+mn-lt"/>
                <a:hlinkClick r:id="rId61"/>
              </a:rPr>
              <a:t>Khaidi No. 150</a:t>
            </a:r>
            <a:r>
              <a:rPr lang="en-US" sz="1200">
                <a:solidFill>
                  <a:srgbClr val="202122"/>
                </a:solidFill>
                <a:ea typeface="+mn-lt"/>
                <a:cs typeface="+mn-lt"/>
              </a:rPr>
              <a:t> (2017), followed by successful films such as </a:t>
            </a:r>
            <a:r>
              <a:rPr lang="en-US" sz="1200" i="1">
                <a:solidFill>
                  <a:srgbClr val="3366CC"/>
                </a:solidFill>
                <a:ea typeface="+mn-lt"/>
                <a:cs typeface="+mn-lt"/>
                <a:hlinkClick r:id="rId62"/>
              </a:rPr>
              <a:t>Sye Raa Narasimha Reddy</a:t>
            </a:r>
            <a:r>
              <a:rPr lang="en-US" sz="1200">
                <a:solidFill>
                  <a:srgbClr val="202122"/>
                </a:solidFill>
                <a:ea typeface="+mn-lt"/>
                <a:cs typeface="+mn-lt"/>
              </a:rPr>
              <a:t> (2019) and </a:t>
            </a:r>
            <a:r>
              <a:rPr lang="en-US" sz="1200" i="1">
                <a:solidFill>
                  <a:srgbClr val="3366CC"/>
                </a:solidFill>
                <a:ea typeface="+mn-lt"/>
                <a:cs typeface="+mn-lt"/>
                <a:hlinkClick r:id="rId63"/>
              </a:rPr>
              <a:t>Waltair Veerayya</a:t>
            </a:r>
            <a:r>
              <a:rPr lang="en-US" sz="1200">
                <a:solidFill>
                  <a:srgbClr val="202122"/>
                </a:solidFill>
                <a:ea typeface="+mn-lt"/>
                <a:cs typeface="+mn-lt"/>
              </a:rPr>
              <a:t> (2023).</a:t>
            </a:r>
            <a:endParaRPr lang="en-US"/>
          </a:p>
          <a:p>
            <a:r>
              <a:rPr lang="en-US"/>
              <a:t>Early and personal life</a:t>
            </a:r>
          </a:p>
          <a:p>
            <a:r>
              <a:rPr lang="en-US" sz="1200">
                <a:solidFill>
                  <a:srgbClr val="202122"/>
                </a:solidFill>
                <a:ea typeface="+mn-lt"/>
                <a:cs typeface="+mn-lt"/>
              </a:rPr>
              <a:t>Chiranjeevi was born as Konidela Sivasankara Varaprasad Rao on 22 August 1955 in a </a:t>
            </a:r>
            <a:r>
              <a:rPr lang="en-US" sz="1200">
                <a:solidFill>
                  <a:srgbClr val="3366CC"/>
                </a:solidFill>
                <a:ea typeface="+mn-lt"/>
                <a:cs typeface="+mn-lt"/>
                <a:hlinkClick r:id="rId64"/>
              </a:rPr>
              <a:t>Telugu</a:t>
            </a:r>
            <a:r>
              <a:rPr lang="en-US" sz="1200">
                <a:solidFill>
                  <a:srgbClr val="202122"/>
                </a:solidFill>
                <a:ea typeface="+mn-lt"/>
                <a:cs typeface="+mn-lt"/>
              </a:rPr>
              <a:t> family to Konidela Venkata Rao and Anjana Devi in </a:t>
            </a:r>
            <a:r>
              <a:rPr lang="en-US" sz="1200">
                <a:solidFill>
                  <a:srgbClr val="3366CC"/>
                </a:solidFill>
                <a:ea typeface="+mn-lt"/>
                <a:cs typeface="+mn-lt"/>
                <a:hlinkClick r:id="rId65"/>
              </a:rPr>
              <a:t>Mogalthur</a:t>
            </a:r>
            <a:r>
              <a:rPr lang="en-US" sz="1200">
                <a:solidFill>
                  <a:srgbClr val="202122"/>
                </a:solidFill>
                <a:ea typeface="+mn-lt"/>
                <a:cs typeface="+mn-lt"/>
              </a:rPr>
              <a:t>, </a:t>
            </a:r>
            <a:r>
              <a:rPr lang="en-US" sz="1200">
                <a:solidFill>
                  <a:srgbClr val="3366CC"/>
                </a:solidFill>
                <a:ea typeface="+mn-lt"/>
                <a:cs typeface="+mn-lt"/>
                <a:hlinkClick r:id="rId66"/>
              </a:rPr>
              <a:t>West Godavari district</a:t>
            </a:r>
            <a:r>
              <a:rPr lang="en-US" sz="1200">
                <a:solidFill>
                  <a:srgbClr val="202122"/>
                </a:solidFill>
                <a:ea typeface="+mn-lt"/>
                <a:cs typeface="+mn-lt"/>
              </a:rPr>
              <a:t> of </a:t>
            </a:r>
            <a:r>
              <a:rPr lang="en-US" sz="1200">
                <a:solidFill>
                  <a:srgbClr val="3366CC"/>
                </a:solidFill>
                <a:ea typeface="+mn-lt"/>
                <a:cs typeface="+mn-lt"/>
                <a:hlinkClick r:id="rId67"/>
              </a:rPr>
              <a:t>Andhra Pradesh</a:t>
            </a:r>
            <a:r>
              <a:rPr lang="en-US" sz="1200">
                <a:solidFill>
                  <a:srgbClr val="202122"/>
                </a:solidFill>
                <a:ea typeface="+mn-lt"/>
                <a:cs typeface="+mn-lt"/>
              </a:rPr>
              <a:t>.</a:t>
            </a:r>
            <a:r>
              <a:rPr lang="en-US" sz="1000" baseline="30000">
                <a:solidFill>
                  <a:srgbClr val="3366CC"/>
                </a:solidFill>
                <a:ea typeface="+mn-lt"/>
                <a:cs typeface="+mn-lt"/>
                <a:hlinkClick r:id="rId68"/>
              </a:rPr>
              <a:t>[15]</a:t>
            </a:r>
            <a:r>
              <a:rPr lang="en-US" sz="1200">
                <a:solidFill>
                  <a:srgbClr val="202122"/>
                </a:solidFill>
                <a:ea typeface="+mn-lt"/>
                <a:cs typeface="+mn-lt"/>
              </a:rPr>
              <a:t> His father Konidela Venkata Rao worked as a </a:t>
            </a:r>
            <a:r>
              <a:rPr lang="en-US" sz="1200">
                <a:solidFill>
                  <a:srgbClr val="3366CC"/>
                </a:solidFill>
                <a:ea typeface="+mn-lt"/>
                <a:cs typeface="+mn-lt"/>
                <a:hlinkClick r:id="rId69"/>
              </a:rPr>
              <a:t>constable</a:t>
            </a:r>
            <a:r>
              <a:rPr lang="en-US" sz="1200">
                <a:solidFill>
                  <a:srgbClr val="202122"/>
                </a:solidFill>
                <a:ea typeface="+mn-lt"/>
                <a:cs typeface="+mn-lt"/>
              </a:rPr>
              <a:t> and was transferred on a regular basis. He spent his childhood in his native village with his grandparents.</a:t>
            </a:r>
            <a:endParaRPr lang="en-US"/>
          </a:p>
          <a:p>
            <a:r>
              <a:rPr lang="en-US" sz="1200">
                <a:solidFill>
                  <a:srgbClr val="202122"/>
                </a:solidFill>
                <a:ea typeface="+mn-lt"/>
                <a:cs typeface="+mn-lt"/>
              </a:rPr>
              <a:t>Chiranjeevi did his schooling in </a:t>
            </a:r>
            <a:r>
              <a:rPr lang="en-US" sz="1200">
                <a:solidFill>
                  <a:srgbClr val="3366CC"/>
                </a:solidFill>
                <a:ea typeface="+mn-lt"/>
                <a:cs typeface="+mn-lt"/>
                <a:hlinkClick r:id="rId70"/>
              </a:rPr>
              <a:t>Nidadavolu</a:t>
            </a:r>
            <a:r>
              <a:rPr lang="en-US" sz="1200">
                <a:solidFill>
                  <a:srgbClr val="202122"/>
                </a:solidFill>
                <a:ea typeface="+mn-lt"/>
                <a:cs typeface="+mn-lt"/>
              </a:rPr>
              <a:t>, </a:t>
            </a:r>
            <a:r>
              <a:rPr lang="en-US" sz="1200">
                <a:solidFill>
                  <a:srgbClr val="3366CC"/>
                </a:solidFill>
                <a:ea typeface="+mn-lt"/>
                <a:cs typeface="+mn-lt"/>
                <a:hlinkClick r:id="rId71"/>
              </a:rPr>
              <a:t>Gurazala</a:t>
            </a:r>
            <a:r>
              <a:rPr lang="en-US" sz="1200">
                <a:solidFill>
                  <a:srgbClr val="202122"/>
                </a:solidFill>
                <a:ea typeface="+mn-lt"/>
                <a:cs typeface="+mn-lt"/>
              </a:rPr>
              <a:t>, </a:t>
            </a:r>
            <a:r>
              <a:rPr lang="en-US" sz="1200">
                <a:solidFill>
                  <a:srgbClr val="3366CC"/>
                </a:solidFill>
                <a:ea typeface="+mn-lt"/>
                <a:cs typeface="+mn-lt"/>
                <a:hlinkClick r:id="rId72"/>
              </a:rPr>
              <a:t>Bapatla</a:t>
            </a:r>
            <a:r>
              <a:rPr lang="en-US" sz="1200">
                <a:solidFill>
                  <a:srgbClr val="202122"/>
                </a:solidFill>
                <a:ea typeface="+mn-lt"/>
                <a:cs typeface="+mn-lt"/>
              </a:rPr>
              <a:t>, </a:t>
            </a:r>
            <a:r>
              <a:rPr lang="en-US" sz="1200">
                <a:solidFill>
                  <a:srgbClr val="3366CC"/>
                </a:solidFill>
                <a:ea typeface="+mn-lt"/>
                <a:cs typeface="+mn-lt"/>
                <a:hlinkClick r:id="rId73"/>
              </a:rPr>
              <a:t>Ponnur</a:t>
            </a:r>
            <a:r>
              <a:rPr lang="en-US" sz="1200">
                <a:solidFill>
                  <a:srgbClr val="202122"/>
                </a:solidFill>
                <a:ea typeface="+mn-lt"/>
                <a:cs typeface="+mn-lt"/>
              </a:rPr>
              <a:t>, </a:t>
            </a:r>
            <a:r>
              <a:rPr lang="en-US" sz="1200">
                <a:solidFill>
                  <a:srgbClr val="3366CC"/>
                </a:solidFill>
                <a:ea typeface="+mn-lt"/>
                <a:cs typeface="+mn-lt"/>
                <a:hlinkClick r:id="rId74"/>
              </a:rPr>
              <a:t>Mangalagiri</a:t>
            </a:r>
            <a:r>
              <a:rPr lang="en-US" sz="1200">
                <a:solidFill>
                  <a:srgbClr val="202122"/>
                </a:solidFill>
                <a:ea typeface="+mn-lt"/>
                <a:cs typeface="+mn-lt"/>
              </a:rPr>
              <a:t> and Mogalthur. He was an </a:t>
            </a:r>
            <a:r>
              <a:rPr lang="en-US" sz="1200">
                <a:solidFill>
                  <a:srgbClr val="3366CC"/>
                </a:solidFill>
                <a:ea typeface="+mn-lt"/>
                <a:cs typeface="+mn-lt"/>
                <a:hlinkClick r:id="rId75"/>
              </a:rPr>
              <a:t>NCC</a:t>
            </a:r>
            <a:r>
              <a:rPr lang="en-US" sz="1200">
                <a:solidFill>
                  <a:srgbClr val="202122"/>
                </a:solidFill>
                <a:ea typeface="+mn-lt"/>
                <a:cs typeface="+mn-lt"/>
              </a:rPr>
              <a:t> cadet and had participated in the </a:t>
            </a:r>
            <a:r>
              <a:rPr lang="en-US" sz="1200">
                <a:solidFill>
                  <a:srgbClr val="3366CC"/>
                </a:solidFill>
                <a:ea typeface="+mn-lt"/>
                <a:cs typeface="+mn-lt"/>
                <a:hlinkClick r:id="rId76"/>
              </a:rPr>
              <a:t>Republic Day</a:t>
            </a:r>
            <a:r>
              <a:rPr lang="en-US" sz="1200">
                <a:solidFill>
                  <a:srgbClr val="202122"/>
                </a:solidFill>
                <a:ea typeface="+mn-lt"/>
                <a:cs typeface="+mn-lt"/>
              </a:rPr>
              <a:t> </a:t>
            </a:r>
            <a:r>
              <a:rPr lang="en-US" sz="1200">
                <a:solidFill>
                  <a:srgbClr val="3366CC"/>
                </a:solidFill>
                <a:ea typeface="+mn-lt"/>
                <a:cs typeface="+mn-lt"/>
                <a:hlinkClick r:id="rId77"/>
              </a:rPr>
              <a:t>Parade</a:t>
            </a:r>
            <a:r>
              <a:rPr lang="en-US" sz="1200">
                <a:solidFill>
                  <a:srgbClr val="202122"/>
                </a:solidFill>
                <a:ea typeface="+mn-lt"/>
                <a:cs typeface="+mn-lt"/>
              </a:rPr>
              <a:t> in New Delhi in the early 1970s.</a:t>
            </a:r>
            <a:r>
              <a:rPr lang="en-US" sz="1000" baseline="30000">
                <a:solidFill>
                  <a:srgbClr val="3366CC"/>
                </a:solidFill>
                <a:ea typeface="+mn-lt"/>
                <a:cs typeface="+mn-lt"/>
                <a:hlinkClick r:id="rId78"/>
              </a:rPr>
              <a:t>[16]</a:t>
            </a:r>
            <a:r>
              <a:rPr lang="en-US" sz="1200">
                <a:solidFill>
                  <a:srgbClr val="202122"/>
                </a:solidFill>
                <a:ea typeface="+mn-lt"/>
                <a:cs typeface="+mn-lt"/>
              </a:rPr>
              <a:t> He was interested in acting from a young age. He did his Intermediate at C. S. R. Sarma College in </a:t>
            </a:r>
            <a:r>
              <a:rPr lang="en-US" sz="1200">
                <a:solidFill>
                  <a:srgbClr val="3366CC"/>
                </a:solidFill>
                <a:ea typeface="+mn-lt"/>
                <a:cs typeface="+mn-lt"/>
                <a:hlinkClick r:id="rId79"/>
              </a:rPr>
              <a:t>Ongole</a:t>
            </a:r>
            <a:r>
              <a:rPr lang="en-US" sz="1200">
                <a:solidFill>
                  <a:srgbClr val="202122"/>
                </a:solidFill>
                <a:ea typeface="+mn-lt"/>
                <a:cs typeface="+mn-lt"/>
              </a:rPr>
              <a:t>.</a:t>
            </a:r>
            <a:r>
              <a:rPr lang="en-US" sz="1000" baseline="30000">
                <a:solidFill>
                  <a:srgbClr val="3366CC"/>
                </a:solidFill>
                <a:ea typeface="+mn-lt"/>
                <a:cs typeface="+mn-lt"/>
                <a:hlinkClick r:id="rId80"/>
              </a:rPr>
              <a:t>[17]</a:t>
            </a:r>
            <a:r>
              <a:rPr lang="en-US" sz="1200">
                <a:solidFill>
                  <a:srgbClr val="202122"/>
                </a:solidFill>
                <a:ea typeface="+mn-lt"/>
                <a:cs typeface="+mn-lt"/>
              </a:rPr>
              <a:t> After graduating with a degree in commerce from </a:t>
            </a:r>
            <a:r>
              <a:rPr lang="en-US" sz="1200">
                <a:solidFill>
                  <a:srgbClr val="3366CC"/>
                </a:solidFill>
                <a:ea typeface="+mn-lt"/>
                <a:cs typeface="+mn-lt"/>
                <a:hlinkClick r:id="rId81"/>
              </a:rPr>
              <a:t>Sri Y N College</a:t>
            </a:r>
            <a:r>
              <a:rPr lang="en-US" sz="1200">
                <a:solidFill>
                  <a:srgbClr val="202122"/>
                </a:solidFill>
                <a:ea typeface="+mn-lt"/>
                <a:cs typeface="+mn-lt"/>
              </a:rPr>
              <a:t> at </a:t>
            </a:r>
            <a:r>
              <a:rPr lang="en-US" sz="1200">
                <a:solidFill>
                  <a:srgbClr val="3366CC"/>
                </a:solidFill>
                <a:ea typeface="+mn-lt"/>
                <a:cs typeface="+mn-lt"/>
                <a:hlinkClick r:id="rId82"/>
              </a:rPr>
              <a:t>Narsapuram</a:t>
            </a:r>
            <a:r>
              <a:rPr lang="en-US" sz="1200">
                <a:solidFill>
                  <a:srgbClr val="202122"/>
                </a:solidFill>
                <a:ea typeface="+mn-lt"/>
                <a:cs typeface="+mn-lt"/>
              </a:rPr>
              <a:t>, Chiranjeevi moved to </a:t>
            </a:r>
            <a:r>
              <a:rPr lang="en-US" sz="1200">
                <a:solidFill>
                  <a:srgbClr val="3366CC"/>
                </a:solidFill>
                <a:ea typeface="+mn-lt"/>
                <a:cs typeface="+mn-lt"/>
                <a:hlinkClick r:id="rId83"/>
              </a:rPr>
              <a:t>Chennai</a:t>
            </a:r>
            <a:r>
              <a:rPr lang="en-US" sz="1200">
                <a:solidFill>
                  <a:srgbClr val="202122"/>
                </a:solidFill>
                <a:ea typeface="+mn-lt"/>
                <a:cs typeface="+mn-lt"/>
              </a:rPr>
              <a:t> and joined the </a:t>
            </a:r>
            <a:r>
              <a:rPr lang="en-US" sz="1200">
                <a:solidFill>
                  <a:srgbClr val="3366CC"/>
                </a:solidFill>
                <a:ea typeface="+mn-lt"/>
                <a:cs typeface="+mn-lt"/>
                <a:hlinkClick r:id="rId84"/>
              </a:rPr>
              <a:t>Madras Film Institute</a:t>
            </a:r>
            <a:r>
              <a:rPr lang="en-US" sz="1200">
                <a:solidFill>
                  <a:srgbClr val="202122"/>
                </a:solidFill>
                <a:ea typeface="+mn-lt"/>
                <a:cs typeface="+mn-lt"/>
              </a:rPr>
              <a:t> in 1976 to pursue a career in acting.</a:t>
            </a:r>
            <a:r>
              <a:rPr lang="en-US" sz="1000" baseline="30000" dirty="0">
                <a:solidFill>
                  <a:srgbClr val="3366CC"/>
                </a:solidFill>
                <a:ea typeface="+mn-lt"/>
                <a:cs typeface="+mn-lt"/>
                <a:hlinkClick r:id="rId85"/>
              </a:rPr>
              <a:t>[18]</a:t>
            </a:r>
            <a:endParaRPr lang="en-US"/>
          </a:p>
          <a:p>
            <a:r>
              <a:rPr lang="en-US" sz="1200">
                <a:solidFill>
                  <a:srgbClr val="202122"/>
                </a:solidFill>
                <a:ea typeface="+mn-lt"/>
                <a:cs typeface="+mn-lt"/>
              </a:rPr>
              <a:t>On 20 February 1980, Chiranjeevi married Surekha, the daughter of Telugu comic actor </a:t>
            </a:r>
            <a:r>
              <a:rPr lang="en-US" sz="1200">
                <a:solidFill>
                  <a:srgbClr val="3366CC"/>
                </a:solidFill>
                <a:ea typeface="+mn-lt"/>
                <a:cs typeface="+mn-lt"/>
                <a:hlinkClick r:id="rId86"/>
              </a:rPr>
              <a:t>Allu Ramalingaiah</a:t>
            </a:r>
            <a:r>
              <a:rPr lang="en-US" sz="1200">
                <a:solidFill>
                  <a:srgbClr val="202122"/>
                </a:solidFill>
                <a:ea typeface="+mn-lt"/>
                <a:cs typeface="+mn-lt"/>
              </a:rPr>
              <a:t>.</a:t>
            </a:r>
            <a:r>
              <a:rPr lang="en-US" sz="1000" baseline="30000">
                <a:solidFill>
                  <a:srgbClr val="3366CC"/>
                </a:solidFill>
                <a:ea typeface="+mn-lt"/>
                <a:cs typeface="+mn-lt"/>
                <a:hlinkClick r:id="rId87"/>
              </a:rPr>
              <a:t>[19]</a:t>
            </a:r>
            <a:r>
              <a:rPr lang="en-US" sz="1000" baseline="30000">
                <a:solidFill>
                  <a:srgbClr val="3366CC"/>
                </a:solidFill>
                <a:ea typeface="+mn-lt"/>
                <a:cs typeface="+mn-lt"/>
                <a:hlinkClick r:id="rId88"/>
              </a:rPr>
              <a:t>[20]</a:t>
            </a:r>
            <a:r>
              <a:rPr lang="en-US" sz="1200">
                <a:solidFill>
                  <a:srgbClr val="202122"/>
                </a:solidFill>
                <a:ea typeface="+mn-lt"/>
                <a:cs typeface="+mn-lt"/>
              </a:rPr>
              <a:t> They have two daughters, Sushmitha and Sreeja, and a son, </a:t>
            </a:r>
            <a:r>
              <a:rPr lang="en-US" sz="1200">
                <a:solidFill>
                  <a:srgbClr val="3366CC"/>
                </a:solidFill>
                <a:ea typeface="+mn-lt"/>
                <a:cs typeface="+mn-lt"/>
                <a:hlinkClick r:id="rId89"/>
              </a:rPr>
              <a:t>Ram Charan</a:t>
            </a:r>
            <a:r>
              <a:rPr lang="en-US" sz="1200">
                <a:solidFill>
                  <a:srgbClr val="202122"/>
                </a:solidFill>
                <a:ea typeface="+mn-lt"/>
                <a:cs typeface="+mn-lt"/>
              </a:rPr>
              <a:t>, also an actor in </a:t>
            </a:r>
            <a:r>
              <a:rPr lang="en-US" sz="1200">
                <a:solidFill>
                  <a:srgbClr val="3366CC"/>
                </a:solidFill>
                <a:ea typeface="+mn-lt"/>
                <a:cs typeface="+mn-lt"/>
                <a:hlinkClick r:id="rId2"/>
              </a:rPr>
              <a:t>Telugu cinema</a:t>
            </a:r>
            <a:r>
              <a:rPr lang="en-US" sz="1200">
                <a:solidFill>
                  <a:srgbClr val="202122"/>
                </a:solidFill>
                <a:ea typeface="+mn-lt"/>
                <a:cs typeface="+mn-lt"/>
              </a:rPr>
              <a:t>.</a:t>
            </a:r>
            <a:r>
              <a:rPr lang="en-US" sz="1000" baseline="30000">
                <a:solidFill>
                  <a:srgbClr val="3366CC"/>
                </a:solidFill>
                <a:ea typeface="+mn-lt"/>
                <a:cs typeface="+mn-lt"/>
                <a:hlinkClick r:id="rId90"/>
              </a:rPr>
              <a:t>[21]</a:t>
            </a:r>
            <a:r>
              <a:rPr lang="en-US" sz="1200">
                <a:solidFill>
                  <a:srgbClr val="202122"/>
                </a:solidFill>
                <a:ea typeface="+mn-lt"/>
                <a:cs typeface="+mn-lt"/>
              </a:rPr>
              <a:t> Chiranjeevi has two brothers, </a:t>
            </a:r>
            <a:r>
              <a:rPr lang="en-US" sz="1200">
                <a:solidFill>
                  <a:srgbClr val="3366CC"/>
                </a:solidFill>
                <a:ea typeface="+mn-lt"/>
                <a:cs typeface="+mn-lt"/>
                <a:hlinkClick r:id="rId91"/>
              </a:rPr>
              <a:t>Nagendra Babu</a:t>
            </a:r>
            <a:r>
              <a:rPr lang="en-US" sz="1200">
                <a:solidFill>
                  <a:srgbClr val="202122"/>
                </a:solidFill>
                <a:ea typeface="+mn-lt"/>
                <a:cs typeface="+mn-lt"/>
              </a:rPr>
              <a:t>, a film producer and actor, and </a:t>
            </a:r>
            <a:r>
              <a:rPr lang="en-US" sz="1200">
                <a:solidFill>
                  <a:srgbClr val="3366CC"/>
                </a:solidFill>
                <a:ea typeface="+mn-lt"/>
                <a:cs typeface="+mn-lt"/>
                <a:hlinkClick r:id="rId92"/>
              </a:rPr>
              <a:t>Pawan Kalyan</a:t>
            </a:r>
            <a:r>
              <a:rPr lang="en-US" sz="1200">
                <a:solidFill>
                  <a:srgbClr val="202122"/>
                </a:solidFill>
                <a:ea typeface="+mn-lt"/>
                <a:cs typeface="+mn-lt"/>
              </a:rPr>
              <a:t>, an actor-politician who is </a:t>
            </a:r>
            <a:r>
              <a:rPr lang="en-US" sz="1200">
                <a:solidFill>
                  <a:srgbClr val="3366CC"/>
                </a:solidFill>
                <a:ea typeface="+mn-lt"/>
                <a:cs typeface="+mn-lt"/>
                <a:hlinkClick r:id="rId93"/>
              </a:rPr>
              <a:t>Deputy Chief Minister of Andhra Pradesh</a:t>
            </a:r>
            <a:r>
              <a:rPr lang="en-US" sz="1200">
                <a:solidFill>
                  <a:srgbClr val="202122"/>
                </a:solidFill>
                <a:ea typeface="+mn-lt"/>
                <a:cs typeface="+mn-lt"/>
              </a:rPr>
              <a:t> and founder of </a:t>
            </a:r>
            <a:r>
              <a:rPr lang="en-US" sz="1200">
                <a:solidFill>
                  <a:srgbClr val="3366CC"/>
                </a:solidFill>
                <a:ea typeface="+mn-lt"/>
                <a:cs typeface="+mn-lt"/>
                <a:hlinkClick r:id="rId94"/>
              </a:rPr>
              <a:t>Jana Sena</a:t>
            </a:r>
            <a:r>
              <a:rPr lang="en-US" sz="1200">
                <a:solidFill>
                  <a:srgbClr val="202122"/>
                </a:solidFill>
                <a:ea typeface="+mn-lt"/>
                <a:cs typeface="+mn-lt"/>
              </a:rPr>
              <a:t>, a regional political party.</a:t>
            </a:r>
            <a:r>
              <a:rPr lang="en-US" sz="1000" baseline="30000">
                <a:solidFill>
                  <a:srgbClr val="3366CC"/>
                </a:solidFill>
                <a:ea typeface="+mn-lt"/>
                <a:cs typeface="+mn-lt"/>
                <a:hlinkClick r:id="rId90"/>
              </a:rPr>
              <a:t>[21]</a:t>
            </a:r>
            <a:r>
              <a:rPr lang="en-US" sz="1200">
                <a:solidFill>
                  <a:srgbClr val="202122"/>
                </a:solidFill>
                <a:ea typeface="+mn-lt"/>
                <a:cs typeface="+mn-lt"/>
              </a:rPr>
              <a:t> </a:t>
            </a:r>
            <a:r>
              <a:rPr lang="en-US" sz="1200">
                <a:solidFill>
                  <a:srgbClr val="3366CC"/>
                </a:solidFill>
                <a:ea typeface="+mn-lt"/>
                <a:cs typeface="+mn-lt"/>
                <a:hlinkClick r:id="rId95"/>
              </a:rPr>
              <a:t>Allu Aravind</a:t>
            </a:r>
            <a:r>
              <a:rPr lang="en-US" sz="1200">
                <a:solidFill>
                  <a:srgbClr val="202122"/>
                </a:solidFill>
                <a:ea typeface="+mn-lt"/>
                <a:cs typeface="+mn-lt"/>
              </a:rPr>
              <a:t>, his brother-in-law, is a film producer. Chiranjeevi is the uncle to actors </a:t>
            </a:r>
            <a:r>
              <a:rPr lang="en-US" sz="1200">
                <a:solidFill>
                  <a:srgbClr val="3366CC"/>
                </a:solidFill>
                <a:ea typeface="+mn-lt"/>
                <a:cs typeface="+mn-lt"/>
                <a:hlinkClick r:id="rId96"/>
              </a:rPr>
              <a:t>Allu Arjun</a:t>
            </a:r>
            <a:r>
              <a:rPr lang="en-US" sz="1200">
                <a:solidFill>
                  <a:srgbClr val="202122"/>
                </a:solidFill>
                <a:ea typeface="+mn-lt"/>
                <a:cs typeface="+mn-lt"/>
              </a:rPr>
              <a:t>,</a:t>
            </a:r>
            <a:r>
              <a:rPr lang="en-US" sz="1200">
                <a:solidFill>
                  <a:srgbClr val="3366CC"/>
                </a:solidFill>
                <a:ea typeface="+mn-lt"/>
                <a:cs typeface="+mn-lt"/>
                <a:hlinkClick r:id="rId97"/>
              </a:rPr>
              <a:t>Allu Sirish</a:t>
            </a:r>
            <a:r>
              <a:rPr lang="en-US" sz="1200">
                <a:solidFill>
                  <a:srgbClr val="202122"/>
                </a:solidFill>
                <a:ea typeface="+mn-lt"/>
                <a:cs typeface="+mn-lt"/>
              </a:rPr>
              <a:t>, </a:t>
            </a:r>
            <a:r>
              <a:rPr lang="en-US" sz="1200">
                <a:solidFill>
                  <a:srgbClr val="3366CC"/>
                </a:solidFill>
                <a:ea typeface="+mn-lt"/>
                <a:cs typeface="+mn-lt"/>
                <a:hlinkClick r:id="rId98"/>
              </a:rPr>
              <a:t>Varun Tej</a:t>
            </a:r>
            <a:r>
              <a:rPr lang="en-US" sz="1200">
                <a:solidFill>
                  <a:srgbClr val="202122"/>
                </a:solidFill>
                <a:ea typeface="+mn-lt"/>
                <a:cs typeface="+mn-lt"/>
              </a:rPr>
              <a:t>, </a:t>
            </a:r>
            <a:r>
              <a:rPr lang="en-US" sz="1200">
                <a:solidFill>
                  <a:srgbClr val="3366CC"/>
                </a:solidFill>
                <a:ea typeface="+mn-lt"/>
                <a:cs typeface="+mn-lt"/>
                <a:hlinkClick r:id="rId99"/>
              </a:rPr>
              <a:t>Niharika</a:t>
            </a:r>
            <a:r>
              <a:rPr lang="en-US" sz="1200">
                <a:solidFill>
                  <a:srgbClr val="202122"/>
                </a:solidFill>
                <a:ea typeface="+mn-lt"/>
                <a:cs typeface="+mn-lt"/>
              </a:rPr>
              <a:t>, </a:t>
            </a:r>
            <a:r>
              <a:rPr lang="en-US" sz="1200">
                <a:solidFill>
                  <a:srgbClr val="3366CC"/>
                </a:solidFill>
                <a:ea typeface="+mn-lt"/>
                <a:cs typeface="+mn-lt"/>
                <a:hlinkClick r:id="rId100"/>
              </a:rPr>
              <a:t>Sai Dharam Tej</a:t>
            </a:r>
            <a:r>
              <a:rPr lang="en-US" sz="1200">
                <a:solidFill>
                  <a:srgbClr val="202122"/>
                </a:solidFill>
                <a:ea typeface="+mn-lt"/>
                <a:cs typeface="+mn-lt"/>
              </a:rPr>
              <a:t>, and </a:t>
            </a:r>
            <a:r>
              <a:rPr lang="en-US" sz="1200">
                <a:solidFill>
                  <a:srgbClr val="3366CC"/>
                </a:solidFill>
                <a:ea typeface="+mn-lt"/>
                <a:cs typeface="+mn-lt"/>
                <a:hlinkClick r:id="rId101"/>
              </a:rPr>
              <a:t>Panja Vaisshnav Tej</a:t>
            </a:r>
            <a:r>
              <a:rPr lang="en-US" sz="1200">
                <a:solidFill>
                  <a:srgbClr val="202122"/>
                </a:solidFill>
                <a:ea typeface="+mn-lt"/>
                <a:cs typeface="+mn-lt"/>
              </a:rPr>
              <a:t>.</a:t>
            </a:r>
            <a:r>
              <a:rPr lang="en-US" sz="1000" baseline="30000" dirty="0">
                <a:solidFill>
                  <a:srgbClr val="3366CC"/>
                </a:solidFill>
                <a:ea typeface="+mn-lt"/>
                <a:cs typeface="+mn-lt"/>
                <a:hlinkClick r:id="rId102"/>
              </a:rPr>
              <a:t>[22]</a:t>
            </a:r>
            <a:endParaRPr lang="en-US"/>
          </a:p>
          <a:p>
            <a:r>
              <a:rPr lang="en-US"/>
              <a:t>Acting career</a:t>
            </a:r>
          </a:p>
          <a:p>
            <a:r>
              <a:rPr lang="en-US" b="1"/>
              <a:t>1978–1981: Early career</a:t>
            </a:r>
            <a:endParaRPr lang="en-US"/>
          </a:p>
          <a:p>
            <a:r>
              <a:rPr lang="en-US" sz="1200">
                <a:solidFill>
                  <a:srgbClr val="202122"/>
                </a:solidFill>
                <a:ea typeface="+mn-lt"/>
                <a:cs typeface="+mn-lt"/>
              </a:rPr>
              <a:t>Since his family worshipped Anjaneya (</a:t>
            </a:r>
            <a:r>
              <a:rPr lang="en-US" sz="1200">
                <a:solidFill>
                  <a:srgbClr val="3366CC"/>
                </a:solidFill>
                <a:ea typeface="+mn-lt"/>
                <a:cs typeface="+mn-lt"/>
                <a:hlinkClick r:id="rId103"/>
              </a:rPr>
              <a:t>Hanuman</a:t>
            </a:r>
            <a:r>
              <a:rPr lang="en-US" sz="1200">
                <a:solidFill>
                  <a:srgbClr val="202122"/>
                </a:solidFill>
                <a:ea typeface="+mn-lt"/>
                <a:cs typeface="+mn-lt"/>
              </a:rPr>
              <a:t>), a </a:t>
            </a:r>
            <a:r>
              <a:rPr lang="en-US" sz="1200">
                <a:solidFill>
                  <a:srgbClr val="3366CC"/>
                </a:solidFill>
                <a:ea typeface="+mn-lt"/>
                <a:cs typeface="+mn-lt"/>
                <a:hlinkClick r:id="rId104"/>
              </a:rPr>
              <a:t>Hindu</a:t>
            </a:r>
            <a:r>
              <a:rPr lang="en-US" sz="1200">
                <a:solidFill>
                  <a:srgbClr val="202122"/>
                </a:solidFill>
                <a:ea typeface="+mn-lt"/>
                <a:cs typeface="+mn-lt"/>
              </a:rPr>
              <a:t> deity, his mother advised him to take the screen name "</a:t>
            </a:r>
            <a:r>
              <a:rPr lang="en-US" sz="1200">
                <a:solidFill>
                  <a:srgbClr val="3366CC"/>
                </a:solidFill>
                <a:ea typeface="+mn-lt"/>
                <a:cs typeface="+mn-lt"/>
                <a:hlinkClick r:id="rId105"/>
              </a:rPr>
              <a:t>Chiranjeevi</a:t>
            </a:r>
            <a:r>
              <a:rPr lang="en-US" sz="1200">
                <a:solidFill>
                  <a:srgbClr val="202122"/>
                </a:solidFill>
                <a:ea typeface="+mn-lt"/>
                <a:cs typeface="+mn-lt"/>
              </a:rPr>
              <a:t>", meaning "Immortal", a reference to the belief of Hanuman living forever.</a:t>
            </a:r>
            <a:r>
              <a:rPr lang="en-US" sz="1000" baseline="30000" dirty="0">
                <a:solidFill>
                  <a:srgbClr val="3366CC"/>
                </a:solidFill>
                <a:ea typeface="+mn-lt"/>
                <a:cs typeface="+mn-lt"/>
                <a:hlinkClick r:id="rId106"/>
              </a:rPr>
              <a:t>[23]</a:t>
            </a:r>
            <a:endParaRPr lang="en-US"/>
          </a:p>
          <a:p>
            <a:r>
              <a:rPr lang="en-US" sz="1200">
                <a:solidFill>
                  <a:srgbClr val="202122"/>
                </a:solidFill>
                <a:ea typeface="+mn-lt"/>
                <a:cs typeface="+mn-lt"/>
              </a:rPr>
              <a:t>Chiranjeevi started his film career with </a:t>
            </a:r>
            <a:r>
              <a:rPr lang="en-US" sz="1200" i="1">
                <a:solidFill>
                  <a:srgbClr val="3366CC"/>
                </a:solidFill>
                <a:ea typeface="+mn-lt"/>
                <a:cs typeface="+mn-lt"/>
                <a:hlinkClick r:id="rId107"/>
              </a:rPr>
              <a:t>Punadhirallu</a:t>
            </a:r>
            <a:r>
              <a:rPr lang="en-US" sz="1200">
                <a:solidFill>
                  <a:srgbClr val="202122"/>
                </a:solidFill>
                <a:ea typeface="+mn-lt"/>
                <a:cs typeface="+mn-lt"/>
              </a:rPr>
              <a:t> (1979).</a:t>
            </a:r>
            <a:r>
              <a:rPr lang="en-US" sz="1000" baseline="30000">
                <a:solidFill>
                  <a:srgbClr val="3366CC"/>
                </a:solidFill>
                <a:ea typeface="+mn-lt"/>
                <a:cs typeface="+mn-lt"/>
                <a:hlinkClick r:id="rId108"/>
              </a:rPr>
              <a:t>[24]</a:t>
            </a:r>
            <a:r>
              <a:rPr lang="en-US" sz="1200">
                <a:solidFill>
                  <a:srgbClr val="202122"/>
                </a:solidFill>
                <a:ea typeface="+mn-lt"/>
                <a:cs typeface="+mn-lt"/>
              </a:rPr>
              <a:t> However, his first released film was </a:t>
            </a:r>
            <a:r>
              <a:rPr lang="en-US" sz="1200" i="1">
                <a:solidFill>
                  <a:srgbClr val="3366CC"/>
                </a:solidFill>
                <a:ea typeface="+mn-lt"/>
                <a:cs typeface="+mn-lt"/>
                <a:hlinkClick r:id="rId109"/>
              </a:rPr>
              <a:t>Pranam Khareedu</a:t>
            </a:r>
            <a:r>
              <a:rPr lang="en-US" sz="1200">
                <a:solidFill>
                  <a:srgbClr val="202122"/>
                </a:solidFill>
                <a:ea typeface="+mn-lt"/>
                <a:cs typeface="+mn-lt"/>
              </a:rPr>
              <a:t> (1978).</a:t>
            </a:r>
            <a:r>
              <a:rPr lang="en-US" sz="1000" baseline="30000">
                <a:solidFill>
                  <a:srgbClr val="3366CC"/>
                </a:solidFill>
                <a:ea typeface="+mn-lt"/>
                <a:cs typeface="+mn-lt"/>
                <a:hlinkClick r:id="rId110"/>
              </a:rPr>
              <a:t>[25]</a:t>
            </a:r>
            <a:r>
              <a:rPr lang="en-US" sz="1000" baseline="30000">
                <a:solidFill>
                  <a:srgbClr val="3366CC"/>
                </a:solidFill>
                <a:ea typeface="+mn-lt"/>
                <a:cs typeface="+mn-lt"/>
                <a:hlinkClick r:id="rId111"/>
              </a:rPr>
              <a:t>[26]</a:t>
            </a:r>
            <a:r>
              <a:rPr lang="en-US" sz="1200">
                <a:solidFill>
                  <a:srgbClr val="202122"/>
                </a:solidFill>
                <a:ea typeface="+mn-lt"/>
                <a:cs typeface="+mn-lt"/>
              </a:rPr>
              <a:t> </a:t>
            </a:r>
            <a:r>
              <a:rPr lang="en-US" sz="1200" i="1">
                <a:solidFill>
                  <a:srgbClr val="3366CC"/>
                </a:solidFill>
                <a:ea typeface="+mn-lt"/>
                <a:cs typeface="+mn-lt"/>
                <a:hlinkClick r:id="rId112"/>
              </a:rPr>
              <a:t>Mana Voori Pandavulu</a:t>
            </a:r>
            <a:r>
              <a:rPr lang="en-US" sz="1200">
                <a:solidFill>
                  <a:srgbClr val="202122"/>
                </a:solidFill>
                <a:ea typeface="+mn-lt"/>
                <a:cs typeface="+mn-lt"/>
              </a:rPr>
              <a:t> (1978), directed by </a:t>
            </a:r>
            <a:r>
              <a:rPr lang="en-US" sz="1200">
                <a:solidFill>
                  <a:srgbClr val="3366CC"/>
                </a:solidFill>
                <a:ea typeface="+mn-lt"/>
                <a:cs typeface="+mn-lt"/>
                <a:hlinkClick r:id="rId113"/>
              </a:rPr>
              <a:t>Bapu</a:t>
            </a:r>
            <a:r>
              <a:rPr lang="en-US" sz="1200">
                <a:solidFill>
                  <a:srgbClr val="202122"/>
                </a:solidFill>
                <a:ea typeface="+mn-lt"/>
                <a:cs typeface="+mn-lt"/>
              </a:rPr>
              <a:t>, gave Chiranjeevi recognition from the Telugu audience.</a:t>
            </a:r>
            <a:r>
              <a:rPr lang="en-US" sz="1000" baseline="30000">
                <a:solidFill>
                  <a:srgbClr val="3366CC"/>
                </a:solidFill>
                <a:ea typeface="+mn-lt"/>
                <a:cs typeface="+mn-lt"/>
                <a:hlinkClick r:id="rId85"/>
              </a:rPr>
              <a:t>[18]</a:t>
            </a:r>
            <a:r>
              <a:rPr lang="en-US" sz="1200">
                <a:solidFill>
                  <a:srgbClr val="202122"/>
                </a:solidFill>
                <a:ea typeface="+mn-lt"/>
                <a:cs typeface="+mn-lt"/>
              </a:rPr>
              <a:t> He played a small role in </a:t>
            </a:r>
            <a:r>
              <a:rPr lang="en-US" sz="1200" i="1">
                <a:solidFill>
                  <a:srgbClr val="3366CC"/>
                </a:solidFill>
                <a:ea typeface="+mn-lt"/>
                <a:cs typeface="+mn-lt"/>
                <a:hlinkClick r:id="rId114"/>
              </a:rPr>
              <a:t>Tayaramma Bangarayya</a:t>
            </a:r>
            <a:r>
              <a:rPr lang="en-US" sz="1200">
                <a:solidFill>
                  <a:srgbClr val="202122"/>
                </a:solidFill>
                <a:ea typeface="+mn-lt"/>
                <a:cs typeface="+mn-lt"/>
              </a:rPr>
              <a:t> (1979). He played the anti-hero in films </a:t>
            </a:r>
            <a:r>
              <a:rPr lang="en-US" sz="1200" i="1">
                <a:solidFill>
                  <a:srgbClr val="3366CC"/>
                </a:solidFill>
                <a:ea typeface="+mn-lt"/>
                <a:cs typeface="+mn-lt"/>
                <a:hlinkClick r:id="rId115"/>
              </a:rPr>
              <a:t>I Love You</a:t>
            </a:r>
            <a:r>
              <a:rPr lang="en-US" sz="1200">
                <a:solidFill>
                  <a:srgbClr val="202122"/>
                </a:solidFill>
                <a:ea typeface="+mn-lt"/>
                <a:cs typeface="+mn-lt"/>
              </a:rPr>
              <a:t> (1979) and </a:t>
            </a:r>
            <a:r>
              <a:rPr lang="en-US" sz="1200">
                <a:solidFill>
                  <a:srgbClr val="3366CC"/>
                </a:solidFill>
                <a:ea typeface="+mn-lt"/>
                <a:cs typeface="+mn-lt"/>
                <a:hlinkClick r:id="rId116"/>
              </a:rPr>
              <a:t>K. Balachander</a:t>
            </a:r>
            <a:r>
              <a:rPr lang="en-US" sz="1200">
                <a:solidFill>
                  <a:srgbClr val="202122"/>
                </a:solidFill>
                <a:ea typeface="+mn-lt"/>
                <a:cs typeface="+mn-lt"/>
              </a:rPr>
              <a:t>'s </a:t>
            </a:r>
            <a:r>
              <a:rPr lang="en-US" sz="1200" i="1">
                <a:solidFill>
                  <a:srgbClr val="3366CC"/>
                </a:solidFill>
                <a:ea typeface="+mn-lt"/>
                <a:cs typeface="+mn-lt"/>
                <a:hlinkClick r:id="rId117"/>
              </a:rPr>
              <a:t>Idi Katha Kaadu</a:t>
            </a:r>
            <a:r>
              <a:rPr lang="en-US" sz="1200">
                <a:solidFill>
                  <a:srgbClr val="202122"/>
                </a:solidFill>
                <a:ea typeface="+mn-lt"/>
                <a:cs typeface="+mn-lt"/>
              </a:rPr>
              <a:t> (1979),</a:t>
            </a:r>
            <a:r>
              <a:rPr lang="en-US" sz="1000" baseline="30000">
                <a:solidFill>
                  <a:srgbClr val="3366CC"/>
                </a:solidFill>
                <a:ea typeface="+mn-lt"/>
                <a:cs typeface="+mn-lt"/>
                <a:hlinkClick r:id="rId85"/>
              </a:rPr>
              <a:t>[18]</a:t>
            </a:r>
            <a:r>
              <a:rPr lang="en-US" sz="1200">
                <a:solidFill>
                  <a:srgbClr val="202122"/>
                </a:solidFill>
                <a:ea typeface="+mn-lt"/>
                <a:cs typeface="+mn-lt"/>
              </a:rPr>
              <a:t> starring </a:t>
            </a:r>
            <a:r>
              <a:rPr lang="en-US" sz="1200" dirty="0">
                <a:solidFill>
                  <a:srgbClr val="3366CC"/>
                </a:solidFill>
                <a:ea typeface="+mn-lt"/>
                <a:cs typeface="+mn-lt"/>
                <a:hlinkClick r:id="rId118"/>
              </a:rPr>
              <a:t>Kamal Haasan</a:t>
            </a:r>
            <a:r>
              <a:rPr lang="en-US" sz="1200">
                <a:solidFill>
                  <a:srgbClr val="202122"/>
                </a:solidFill>
                <a:ea typeface="+mn-lt"/>
                <a:cs typeface="+mn-lt"/>
              </a:rPr>
              <a:t>.</a:t>
            </a:r>
            <a:endParaRPr lang="en-US"/>
          </a:p>
          <a:p>
            <a:r>
              <a:rPr lang="en-US" sz="1200">
                <a:solidFill>
                  <a:srgbClr val="202122"/>
                </a:solidFill>
                <a:ea typeface="+mn-lt"/>
                <a:cs typeface="+mn-lt"/>
              </a:rPr>
              <a:t>In a remake of the Tamil film </a:t>
            </a:r>
            <a:r>
              <a:rPr lang="en-US" sz="1200" i="1">
                <a:solidFill>
                  <a:srgbClr val="3366CC"/>
                </a:solidFill>
                <a:ea typeface="+mn-lt"/>
                <a:cs typeface="+mn-lt"/>
                <a:hlinkClick r:id="rId119"/>
              </a:rPr>
              <a:t>Avargal</a:t>
            </a:r>
            <a:r>
              <a:rPr lang="en-US" sz="1200">
                <a:solidFill>
                  <a:srgbClr val="202122"/>
                </a:solidFill>
                <a:ea typeface="+mn-lt"/>
                <a:cs typeface="+mn-lt"/>
              </a:rPr>
              <a:t> (1977), Chiranjeevi portrayed the character played by </a:t>
            </a:r>
            <a:r>
              <a:rPr lang="en-US" sz="1200">
                <a:solidFill>
                  <a:srgbClr val="3366CC"/>
                </a:solidFill>
                <a:ea typeface="+mn-lt"/>
                <a:cs typeface="+mn-lt"/>
                <a:hlinkClick r:id="rId120"/>
              </a:rPr>
              <a:t>Rajinikanth</a:t>
            </a:r>
            <a:r>
              <a:rPr lang="en-US" sz="1200">
                <a:solidFill>
                  <a:srgbClr val="202122"/>
                </a:solidFill>
                <a:ea typeface="+mn-lt"/>
                <a:cs typeface="+mn-lt"/>
              </a:rPr>
              <a:t> in the original. In 1979, Chiranjeevi had eight major film releases and then 14 films in the following year.</a:t>
            </a:r>
            <a:r>
              <a:rPr lang="en-US" sz="1000" baseline="30000">
                <a:solidFill>
                  <a:srgbClr val="3366CC"/>
                </a:solidFill>
                <a:ea typeface="+mn-lt"/>
                <a:cs typeface="+mn-lt"/>
                <a:hlinkClick r:id="rId121"/>
              </a:rPr>
              <a:t>[27]</a:t>
            </a:r>
            <a:r>
              <a:rPr lang="en-US" sz="1000" baseline="30000">
                <a:solidFill>
                  <a:srgbClr val="3366CC"/>
                </a:solidFill>
                <a:ea typeface="+mn-lt"/>
                <a:cs typeface="+mn-lt"/>
                <a:hlinkClick r:id="rId122"/>
              </a:rPr>
              <a:t>[28]</a:t>
            </a:r>
            <a:r>
              <a:rPr lang="en-US" sz="1200">
                <a:solidFill>
                  <a:srgbClr val="202122"/>
                </a:solidFill>
                <a:ea typeface="+mn-lt"/>
                <a:cs typeface="+mn-lt"/>
              </a:rPr>
              <a:t> In 1981, he played lead antagonist in works such as </a:t>
            </a:r>
            <a:r>
              <a:rPr lang="en-US" sz="1200" i="1">
                <a:solidFill>
                  <a:srgbClr val="202122"/>
                </a:solidFill>
                <a:ea typeface="+mn-lt"/>
                <a:cs typeface="+mn-lt"/>
              </a:rPr>
              <a:t>Mosagadu</a:t>
            </a:r>
            <a:r>
              <a:rPr lang="en-US" sz="1200">
                <a:solidFill>
                  <a:srgbClr val="202122"/>
                </a:solidFill>
                <a:ea typeface="+mn-lt"/>
                <a:cs typeface="+mn-lt"/>
              </a:rPr>
              <a:t>, </a:t>
            </a:r>
            <a:r>
              <a:rPr lang="en-US" sz="1200" i="1">
                <a:solidFill>
                  <a:srgbClr val="3366CC"/>
                </a:solidFill>
                <a:ea typeface="+mn-lt"/>
                <a:cs typeface="+mn-lt"/>
                <a:hlinkClick r:id="rId123"/>
              </a:rPr>
              <a:t>Rani Kasula Rangamma</a:t>
            </a:r>
            <a:r>
              <a:rPr lang="en-US" sz="1200">
                <a:solidFill>
                  <a:srgbClr val="202122"/>
                </a:solidFill>
                <a:ea typeface="+mn-lt"/>
                <a:cs typeface="+mn-lt"/>
              </a:rPr>
              <a:t>, </a:t>
            </a:r>
            <a:r>
              <a:rPr lang="en-US" sz="1200" i="1">
                <a:solidFill>
                  <a:srgbClr val="3366CC"/>
                </a:solidFill>
                <a:ea typeface="+mn-lt"/>
                <a:cs typeface="+mn-lt"/>
                <a:hlinkClick r:id="rId124"/>
              </a:rPr>
              <a:t>47 Natkal</a:t>
            </a:r>
            <a:r>
              <a:rPr lang="en-US" sz="1200">
                <a:solidFill>
                  <a:srgbClr val="202122"/>
                </a:solidFill>
                <a:ea typeface="+mn-lt"/>
                <a:cs typeface="+mn-lt"/>
              </a:rPr>
              <a:t> /</a:t>
            </a:r>
            <a:r>
              <a:rPr lang="en-US" sz="1200" i="1">
                <a:solidFill>
                  <a:srgbClr val="3366CC"/>
                </a:solidFill>
                <a:ea typeface="+mn-lt"/>
                <a:cs typeface="+mn-lt"/>
                <a:hlinkClick r:id="rId125"/>
              </a:rPr>
              <a:t>47 Rojulu</a:t>
            </a:r>
            <a:r>
              <a:rPr lang="en-US" sz="1200">
                <a:solidFill>
                  <a:srgbClr val="202122"/>
                </a:solidFill>
                <a:ea typeface="+mn-lt"/>
                <a:cs typeface="+mn-lt"/>
              </a:rPr>
              <a:t>, </a:t>
            </a:r>
            <a:r>
              <a:rPr lang="en-US" sz="1200" i="1">
                <a:solidFill>
                  <a:srgbClr val="3366CC"/>
                </a:solidFill>
                <a:ea typeface="+mn-lt"/>
                <a:cs typeface="+mn-lt"/>
                <a:hlinkClick r:id="rId126"/>
              </a:rPr>
              <a:t>Nyayam Kavali</a:t>
            </a:r>
            <a:r>
              <a:rPr lang="en-US" sz="1200">
                <a:solidFill>
                  <a:srgbClr val="202122"/>
                </a:solidFill>
                <a:ea typeface="+mn-lt"/>
                <a:cs typeface="+mn-lt"/>
              </a:rPr>
              <a:t> and </a:t>
            </a:r>
            <a:r>
              <a:rPr lang="en-US" sz="1200" i="1">
                <a:solidFill>
                  <a:srgbClr val="3366CC"/>
                </a:solidFill>
                <a:ea typeface="+mn-lt"/>
                <a:cs typeface="+mn-lt"/>
                <a:hlinkClick r:id="rId127"/>
              </a:rPr>
              <a:t>Ranuva Veeran</a:t>
            </a:r>
            <a:r>
              <a:rPr lang="en-US" sz="1200">
                <a:solidFill>
                  <a:srgbClr val="202122"/>
                </a:solidFill>
                <a:ea typeface="+mn-lt"/>
                <a:cs typeface="+mn-lt"/>
              </a:rPr>
              <a:t>.</a:t>
            </a:r>
            <a:r>
              <a:rPr lang="en-US" sz="1000" baseline="30000" dirty="0">
                <a:solidFill>
                  <a:srgbClr val="3366CC"/>
                </a:solidFill>
                <a:ea typeface="+mn-lt"/>
                <a:cs typeface="+mn-lt"/>
                <a:hlinkClick r:id="rId128"/>
              </a:rPr>
              <a:t>[29]</a:t>
            </a:r>
            <a:endParaRPr lang="en-US"/>
          </a:p>
          <a:p>
            <a:r>
              <a:rPr lang="en-US" b="1"/>
              <a:t>1982–1986: Breakthrough with leading roles</a:t>
            </a:r>
            <a:endParaRPr lang="en-US"/>
          </a:p>
          <a:p>
            <a:r>
              <a:rPr lang="en-US" sz="1200">
                <a:solidFill>
                  <a:srgbClr val="202122"/>
                </a:solidFill>
                <a:ea typeface="+mn-lt"/>
                <a:cs typeface="+mn-lt"/>
              </a:rPr>
              <a:t>Chiranjeevi began to appear in leading roles with films such as </a:t>
            </a:r>
            <a:r>
              <a:rPr lang="en-US" sz="1200" i="1">
                <a:solidFill>
                  <a:srgbClr val="3366CC"/>
                </a:solidFill>
                <a:ea typeface="+mn-lt"/>
                <a:cs typeface="+mn-lt"/>
                <a:hlinkClick r:id="rId129"/>
              </a:rPr>
              <a:t>Intlo Ramayya Veedhilo Krishnayya</a:t>
            </a:r>
            <a:r>
              <a:rPr lang="en-US" sz="1200">
                <a:solidFill>
                  <a:srgbClr val="202122"/>
                </a:solidFill>
                <a:ea typeface="+mn-lt"/>
                <a:cs typeface="+mn-lt"/>
              </a:rPr>
              <a:t> (1982), directed by </a:t>
            </a:r>
            <a:r>
              <a:rPr lang="en-US" sz="1200">
                <a:solidFill>
                  <a:srgbClr val="3366CC"/>
                </a:solidFill>
                <a:ea typeface="+mn-lt"/>
                <a:cs typeface="+mn-lt"/>
                <a:hlinkClick r:id="rId130"/>
              </a:rPr>
              <a:t>Kodi Ramakrishna</a:t>
            </a:r>
            <a:r>
              <a:rPr lang="en-US" sz="1200">
                <a:solidFill>
                  <a:srgbClr val="202122"/>
                </a:solidFill>
                <a:ea typeface="+mn-lt"/>
                <a:cs typeface="+mn-lt"/>
              </a:rPr>
              <a:t>, which was a hit at the box office.</a:t>
            </a:r>
            <a:r>
              <a:rPr lang="en-US" sz="1000" baseline="30000">
                <a:solidFill>
                  <a:srgbClr val="3366CC"/>
                </a:solidFill>
                <a:ea typeface="+mn-lt"/>
                <a:cs typeface="+mn-lt"/>
                <a:hlinkClick r:id="rId131"/>
              </a:rPr>
              <a:t>[30]</a:t>
            </a:r>
            <a:r>
              <a:rPr lang="en-US" sz="1200">
                <a:solidFill>
                  <a:srgbClr val="202122"/>
                </a:solidFill>
                <a:ea typeface="+mn-lt"/>
                <a:cs typeface="+mn-lt"/>
              </a:rPr>
              <a:t> Later, he starred in </a:t>
            </a:r>
            <a:r>
              <a:rPr lang="en-US" sz="1200" i="1">
                <a:solidFill>
                  <a:srgbClr val="3366CC"/>
                </a:solidFill>
                <a:ea typeface="+mn-lt"/>
                <a:cs typeface="+mn-lt"/>
                <a:hlinkClick r:id="rId132"/>
              </a:rPr>
              <a:t>Subhalekha</a:t>
            </a:r>
            <a:r>
              <a:rPr lang="en-US" sz="1200">
                <a:solidFill>
                  <a:srgbClr val="202122"/>
                </a:solidFill>
                <a:ea typeface="+mn-lt"/>
                <a:cs typeface="+mn-lt"/>
              </a:rPr>
              <a:t> (1982), directed by </a:t>
            </a:r>
            <a:r>
              <a:rPr lang="en-US" sz="1200">
                <a:solidFill>
                  <a:srgbClr val="3366CC"/>
                </a:solidFill>
                <a:ea typeface="+mn-lt"/>
                <a:cs typeface="+mn-lt"/>
                <a:hlinkClick r:id="rId133"/>
              </a:rPr>
              <a:t>K. Viswanath</a:t>
            </a:r>
            <a:r>
              <a:rPr lang="en-US" sz="1200">
                <a:solidFill>
                  <a:srgbClr val="202122"/>
                </a:solidFill>
                <a:ea typeface="+mn-lt"/>
                <a:cs typeface="+mn-lt"/>
              </a:rPr>
              <a:t>, which dealt with the social malady of the </a:t>
            </a:r>
            <a:r>
              <a:rPr lang="en-US" sz="1200">
                <a:solidFill>
                  <a:srgbClr val="3366CC"/>
                </a:solidFill>
                <a:ea typeface="+mn-lt"/>
                <a:cs typeface="+mn-lt"/>
                <a:hlinkClick r:id="rId134"/>
              </a:rPr>
              <a:t>dowry system</a:t>
            </a:r>
            <a:r>
              <a:rPr lang="en-US" sz="1200">
                <a:solidFill>
                  <a:srgbClr val="202122"/>
                </a:solidFill>
                <a:ea typeface="+mn-lt"/>
                <a:cs typeface="+mn-lt"/>
              </a:rPr>
              <a:t>. It brought him his first </a:t>
            </a:r>
            <a:r>
              <a:rPr lang="en-US" sz="1200">
                <a:solidFill>
                  <a:srgbClr val="3366CC"/>
                </a:solidFill>
                <a:ea typeface="+mn-lt"/>
                <a:cs typeface="+mn-lt"/>
                <a:hlinkClick r:id="rId135"/>
              </a:rPr>
              <a:t>Filmfare Award for Best Actor – Telugu</a:t>
            </a:r>
            <a:r>
              <a:rPr lang="en-US" sz="1200">
                <a:solidFill>
                  <a:srgbClr val="202122"/>
                </a:solidFill>
                <a:ea typeface="+mn-lt"/>
                <a:cs typeface="+mn-lt"/>
              </a:rPr>
              <a:t> and Viswanath's third </a:t>
            </a:r>
            <a:r>
              <a:rPr lang="en-US" sz="1200">
                <a:solidFill>
                  <a:srgbClr val="3366CC"/>
                </a:solidFill>
                <a:ea typeface="+mn-lt"/>
                <a:cs typeface="+mn-lt"/>
                <a:hlinkClick r:id="rId136"/>
              </a:rPr>
              <a:t>Filmfare Award for Best Director – Telugu</a:t>
            </a:r>
            <a:r>
              <a:rPr lang="en-US" sz="1200">
                <a:solidFill>
                  <a:srgbClr val="202122"/>
                </a:solidFill>
                <a:ea typeface="+mn-lt"/>
                <a:cs typeface="+mn-lt"/>
              </a:rPr>
              <a:t>.</a:t>
            </a:r>
            <a:r>
              <a:rPr lang="en-US" sz="1000" baseline="30000">
                <a:solidFill>
                  <a:srgbClr val="3366CC"/>
                </a:solidFill>
                <a:ea typeface="+mn-lt"/>
                <a:cs typeface="+mn-lt"/>
                <a:hlinkClick r:id="rId137"/>
              </a:rPr>
              <a:t>[31]</a:t>
            </a:r>
            <a:r>
              <a:rPr lang="en-US" sz="1000" baseline="30000">
                <a:solidFill>
                  <a:srgbClr val="3366CC"/>
                </a:solidFill>
                <a:ea typeface="+mn-lt"/>
                <a:cs typeface="+mn-lt"/>
                <a:hlinkClick r:id="rId138"/>
              </a:rPr>
              <a:t>[32]</a:t>
            </a:r>
            <a:r>
              <a:rPr lang="en-US" sz="1200">
                <a:solidFill>
                  <a:srgbClr val="202122"/>
                </a:solidFill>
                <a:ea typeface="+mn-lt"/>
                <a:cs typeface="+mn-lt"/>
              </a:rPr>
              <a:t> In 1982, he also appeared in movies such as </a:t>
            </a:r>
            <a:r>
              <a:rPr lang="en-US" sz="1200" i="1">
                <a:solidFill>
                  <a:srgbClr val="3366CC"/>
                </a:solidFill>
                <a:ea typeface="+mn-lt"/>
                <a:cs typeface="+mn-lt"/>
                <a:hlinkClick r:id="rId139"/>
              </a:rPr>
              <a:t>Idi Pellantara</a:t>
            </a:r>
            <a:r>
              <a:rPr lang="en-US" sz="1200">
                <a:solidFill>
                  <a:srgbClr val="202122"/>
                </a:solidFill>
                <a:ea typeface="+mn-lt"/>
                <a:cs typeface="+mn-lt"/>
              </a:rPr>
              <a:t>, </a:t>
            </a:r>
            <a:r>
              <a:rPr lang="en-US" sz="1200" i="1">
                <a:solidFill>
                  <a:srgbClr val="3366CC"/>
                </a:solidFill>
                <a:ea typeface="+mn-lt"/>
                <a:cs typeface="+mn-lt"/>
                <a:hlinkClick r:id="rId140"/>
              </a:rPr>
              <a:t>Sitadevi</a:t>
            </a:r>
            <a:r>
              <a:rPr lang="en-US" sz="1200">
                <a:solidFill>
                  <a:srgbClr val="202122"/>
                </a:solidFill>
                <a:ea typeface="+mn-lt"/>
                <a:cs typeface="+mn-lt"/>
              </a:rPr>
              <a:t>, </a:t>
            </a:r>
            <a:r>
              <a:rPr lang="en-US" sz="1200" i="1">
                <a:solidFill>
                  <a:srgbClr val="3366CC"/>
                </a:solidFill>
                <a:ea typeface="+mn-lt"/>
                <a:cs typeface="+mn-lt"/>
                <a:hlinkClick r:id="rId141"/>
              </a:rPr>
              <a:t>Tingu Rangadu</a:t>
            </a:r>
            <a:r>
              <a:rPr lang="en-US" sz="1200">
                <a:solidFill>
                  <a:srgbClr val="202122"/>
                </a:solidFill>
                <a:ea typeface="+mn-lt"/>
                <a:cs typeface="+mn-lt"/>
              </a:rPr>
              <a:t>, </a:t>
            </a:r>
            <a:r>
              <a:rPr lang="en-US" sz="1200" i="1">
                <a:solidFill>
                  <a:srgbClr val="3366CC"/>
                </a:solidFill>
                <a:ea typeface="+mn-lt"/>
                <a:cs typeface="+mn-lt"/>
                <a:hlinkClick r:id="rId142"/>
              </a:rPr>
              <a:t>Bandhalu Anubandhalu</a:t>
            </a:r>
            <a:r>
              <a:rPr lang="en-US" sz="1200">
                <a:solidFill>
                  <a:srgbClr val="202122"/>
                </a:solidFill>
                <a:ea typeface="+mn-lt"/>
                <a:cs typeface="+mn-lt"/>
              </a:rPr>
              <a:t> and </a:t>
            </a:r>
            <a:r>
              <a:rPr lang="en-US" sz="1200" i="1">
                <a:solidFill>
                  <a:srgbClr val="3366CC"/>
                </a:solidFill>
                <a:ea typeface="+mn-lt"/>
                <a:cs typeface="+mn-lt"/>
                <a:hlinkClick r:id="rId143"/>
              </a:rPr>
              <a:t>Mondi Ghatam</a:t>
            </a:r>
            <a:r>
              <a:rPr lang="en-US" sz="1200">
                <a:solidFill>
                  <a:srgbClr val="202122"/>
                </a:solidFill>
                <a:ea typeface="+mn-lt"/>
                <a:cs typeface="+mn-lt"/>
              </a:rPr>
              <a:t>. He acted in multi-star movies such as </a:t>
            </a:r>
            <a:r>
              <a:rPr lang="en-US" sz="1200" i="1">
                <a:solidFill>
                  <a:srgbClr val="3366CC"/>
                </a:solidFill>
                <a:ea typeface="+mn-lt"/>
                <a:cs typeface="+mn-lt"/>
                <a:hlinkClick r:id="rId144"/>
              </a:rPr>
              <a:t>Patnam Vachina Pativrathalu</a:t>
            </a:r>
            <a:r>
              <a:rPr lang="en-US" sz="1200">
                <a:solidFill>
                  <a:srgbClr val="202122"/>
                </a:solidFill>
                <a:ea typeface="+mn-lt"/>
                <a:cs typeface="+mn-lt"/>
              </a:rPr>
              <a:t> and </a:t>
            </a:r>
            <a:r>
              <a:rPr lang="en-US" sz="1200" i="1">
                <a:solidFill>
                  <a:srgbClr val="202122"/>
                </a:solidFill>
                <a:ea typeface="+mn-lt"/>
                <a:cs typeface="+mn-lt"/>
              </a:rPr>
              <a:t>Billa Ranga</a:t>
            </a:r>
            <a:r>
              <a:rPr lang="en-US" sz="1200">
                <a:solidFill>
                  <a:srgbClr val="202122"/>
                </a:solidFill>
                <a:ea typeface="+mn-lt"/>
                <a:cs typeface="+mn-lt"/>
              </a:rPr>
              <a:t>, and later appeared in </a:t>
            </a:r>
            <a:r>
              <a:rPr lang="en-US" sz="1200" i="1">
                <a:solidFill>
                  <a:srgbClr val="3366CC"/>
                </a:solidFill>
                <a:ea typeface="+mn-lt"/>
                <a:cs typeface="+mn-lt"/>
                <a:hlinkClick r:id="rId145"/>
              </a:rPr>
              <a:t>Manchu Pallaki</a:t>
            </a:r>
            <a:r>
              <a:rPr lang="en-US" sz="1200">
                <a:solidFill>
                  <a:srgbClr val="202122"/>
                </a:solidFill>
                <a:ea typeface="+mn-lt"/>
                <a:cs typeface="+mn-lt"/>
              </a:rPr>
              <a:t>.</a:t>
            </a:r>
            <a:r>
              <a:rPr lang="en-US" sz="1000" baseline="30000" dirty="0">
                <a:solidFill>
                  <a:srgbClr val="3366CC"/>
                </a:solidFill>
                <a:ea typeface="+mn-lt"/>
                <a:cs typeface="+mn-lt"/>
                <a:hlinkClick r:id="rId146"/>
              </a:rPr>
              <a:t>[33]</a:t>
            </a:r>
            <a:endParaRPr lang="en-US"/>
          </a:p>
          <a:p>
            <a:r>
              <a:rPr lang="en-US" sz="1200" i="1" dirty="0">
                <a:solidFill>
                  <a:srgbClr val="3366CC"/>
                </a:solidFill>
                <a:ea typeface="+mn-lt"/>
                <a:cs typeface="+mn-lt"/>
                <a:hlinkClick r:id="rId21"/>
              </a:rPr>
              <a:t>Khaidi</a:t>
            </a:r>
            <a:r>
              <a:rPr lang="en-US" sz="1200" dirty="0">
                <a:solidFill>
                  <a:srgbClr val="202122"/>
                </a:solidFill>
                <a:ea typeface="+mn-lt"/>
                <a:cs typeface="+mn-lt"/>
              </a:rPr>
              <a:t> </a:t>
            </a:r>
            <a:r>
              <a:rPr lang="en-US" sz="1200">
                <a:solidFill>
                  <a:srgbClr val="202122"/>
                </a:solidFill>
                <a:ea typeface="+mn-lt"/>
                <a:cs typeface="+mn-lt"/>
              </a:rPr>
              <a:t>(1983) was a box office success and Chiranjeevi attained stardom with this movie.</a:t>
            </a:r>
            <a:r>
              <a:rPr lang="en-US" sz="1000" baseline="30000">
                <a:solidFill>
                  <a:srgbClr val="3366CC"/>
                </a:solidFill>
                <a:ea typeface="+mn-lt"/>
                <a:cs typeface="+mn-lt"/>
                <a:hlinkClick r:id="rId106"/>
              </a:rPr>
              <a:t>[23]</a:t>
            </a:r>
            <a:r>
              <a:rPr lang="en-US" sz="1200">
                <a:solidFill>
                  <a:srgbClr val="202122"/>
                </a:solidFill>
                <a:ea typeface="+mn-lt"/>
                <a:cs typeface="+mn-lt"/>
              </a:rPr>
              <a:t> In 1984, he continued doing action films. A series of box office hits at this time include; </a:t>
            </a:r>
            <a:r>
              <a:rPr lang="en-US" sz="1200" i="1">
                <a:solidFill>
                  <a:srgbClr val="3366CC"/>
                </a:solidFill>
                <a:ea typeface="+mn-lt"/>
                <a:cs typeface="+mn-lt"/>
                <a:hlinkClick r:id="rId147"/>
              </a:rPr>
              <a:t>Mantri Gari Viyyankudu</a:t>
            </a:r>
            <a:r>
              <a:rPr lang="en-US" sz="1200">
                <a:solidFill>
                  <a:srgbClr val="202122"/>
                </a:solidFill>
                <a:ea typeface="+mn-lt"/>
                <a:cs typeface="+mn-lt"/>
              </a:rPr>
              <a:t>, </a:t>
            </a:r>
            <a:r>
              <a:rPr lang="en-US" sz="1200" i="1">
                <a:solidFill>
                  <a:srgbClr val="3366CC"/>
                </a:solidFill>
                <a:ea typeface="+mn-lt"/>
                <a:cs typeface="+mn-lt"/>
                <a:hlinkClick r:id="rId148"/>
              </a:rPr>
              <a:t>Sangharshana</a:t>
            </a:r>
            <a:r>
              <a:rPr lang="en-US" sz="1200">
                <a:solidFill>
                  <a:srgbClr val="202122"/>
                </a:solidFill>
                <a:ea typeface="+mn-lt"/>
                <a:cs typeface="+mn-lt"/>
              </a:rPr>
              <a:t>, </a:t>
            </a:r>
            <a:r>
              <a:rPr lang="en-US" sz="1200" i="1">
                <a:solidFill>
                  <a:srgbClr val="3366CC"/>
                </a:solidFill>
                <a:ea typeface="+mn-lt"/>
                <a:cs typeface="+mn-lt"/>
                <a:hlinkClick r:id="rId149"/>
              </a:rPr>
              <a:t>Goonda</a:t>
            </a:r>
            <a:r>
              <a:rPr lang="en-US" sz="1200">
                <a:solidFill>
                  <a:srgbClr val="202122"/>
                </a:solidFill>
                <a:ea typeface="+mn-lt"/>
                <a:cs typeface="+mn-lt"/>
              </a:rPr>
              <a:t>, </a:t>
            </a:r>
            <a:r>
              <a:rPr lang="en-US" sz="1200" i="1">
                <a:solidFill>
                  <a:srgbClr val="3366CC"/>
                </a:solidFill>
                <a:ea typeface="+mn-lt"/>
                <a:cs typeface="+mn-lt"/>
                <a:hlinkClick r:id="rId150"/>
              </a:rPr>
              <a:t>Challenge</a:t>
            </a:r>
            <a:r>
              <a:rPr lang="en-US" sz="1200">
                <a:solidFill>
                  <a:srgbClr val="202122"/>
                </a:solidFill>
                <a:ea typeface="+mn-lt"/>
                <a:cs typeface="+mn-lt"/>
              </a:rPr>
              <a:t>, </a:t>
            </a:r>
            <a:r>
              <a:rPr lang="en-US" sz="1200" i="1">
                <a:solidFill>
                  <a:srgbClr val="3366CC"/>
                </a:solidFill>
                <a:ea typeface="+mn-lt"/>
                <a:cs typeface="+mn-lt"/>
                <a:hlinkClick r:id="rId151"/>
              </a:rPr>
              <a:t>Hero</a:t>
            </a:r>
            <a:r>
              <a:rPr lang="en-US" sz="1200">
                <a:solidFill>
                  <a:srgbClr val="202122"/>
                </a:solidFill>
                <a:ea typeface="+mn-lt"/>
                <a:cs typeface="+mn-lt"/>
              </a:rPr>
              <a:t>, </a:t>
            </a:r>
            <a:r>
              <a:rPr lang="en-US" sz="1200" i="1">
                <a:solidFill>
                  <a:srgbClr val="3366CC"/>
                </a:solidFill>
                <a:ea typeface="+mn-lt"/>
                <a:cs typeface="+mn-lt"/>
                <a:hlinkClick r:id="rId152"/>
              </a:rPr>
              <a:t>Donga</a:t>
            </a:r>
            <a:r>
              <a:rPr lang="en-US" sz="1200">
                <a:solidFill>
                  <a:srgbClr val="202122"/>
                </a:solidFill>
                <a:ea typeface="+mn-lt"/>
                <a:cs typeface="+mn-lt"/>
              </a:rPr>
              <a:t>, </a:t>
            </a:r>
            <a:r>
              <a:rPr lang="en-US" sz="1200" i="1">
                <a:solidFill>
                  <a:srgbClr val="202122"/>
                </a:solidFill>
                <a:ea typeface="+mn-lt"/>
                <a:cs typeface="+mn-lt"/>
              </a:rPr>
              <a:t>Jwala</a:t>
            </a:r>
            <a:r>
              <a:rPr lang="en-US" sz="1200">
                <a:solidFill>
                  <a:srgbClr val="202122"/>
                </a:solidFill>
                <a:ea typeface="+mn-lt"/>
                <a:cs typeface="+mn-lt"/>
              </a:rPr>
              <a:t>, </a:t>
            </a:r>
            <a:r>
              <a:rPr lang="en-US" sz="1200" i="1">
                <a:solidFill>
                  <a:srgbClr val="3366CC"/>
                </a:solidFill>
                <a:ea typeface="+mn-lt"/>
                <a:cs typeface="+mn-lt"/>
                <a:hlinkClick r:id="rId153"/>
              </a:rPr>
              <a:t>Adavi Donga</a:t>
            </a:r>
            <a:r>
              <a:rPr lang="en-US" sz="1200">
                <a:solidFill>
                  <a:srgbClr val="202122"/>
                </a:solidFill>
                <a:ea typeface="+mn-lt"/>
                <a:cs typeface="+mn-lt"/>
              </a:rPr>
              <a:t>, </a:t>
            </a:r>
            <a:r>
              <a:rPr lang="en-US" sz="1200" i="1">
                <a:solidFill>
                  <a:srgbClr val="3366CC"/>
                </a:solidFill>
                <a:ea typeface="+mn-lt"/>
                <a:cs typeface="+mn-lt"/>
                <a:hlinkClick r:id="rId154"/>
              </a:rPr>
              <a:t>Kondaveeti Raja</a:t>
            </a:r>
            <a:r>
              <a:rPr lang="en-US" sz="1200">
                <a:solidFill>
                  <a:srgbClr val="202122"/>
                </a:solidFill>
                <a:ea typeface="+mn-lt"/>
                <a:cs typeface="+mn-lt"/>
              </a:rPr>
              <a:t>, </a:t>
            </a:r>
            <a:r>
              <a:rPr lang="en-US" sz="1200" i="1">
                <a:solidFill>
                  <a:srgbClr val="3366CC"/>
                </a:solidFill>
                <a:ea typeface="+mn-lt"/>
                <a:cs typeface="+mn-lt"/>
                <a:hlinkClick r:id="rId155"/>
              </a:rPr>
              <a:t>Rakshasudu</a:t>
            </a:r>
            <a:r>
              <a:rPr lang="en-US" sz="1200">
                <a:solidFill>
                  <a:srgbClr val="202122"/>
                </a:solidFill>
                <a:ea typeface="+mn-lt"/>
                <a:cs typeface="+mn-lt"/>
              </a:rPr>
              <a:t>.</a:t>
            </a:r>
            <a:r>
              <a:rPr lang="en-US" sz="1000" baseline="30000">
                <a:solidFill>
                  <a:srgbClr val="3366CC"/>
                </a:solidFill>
                <a:ea typeface="+mn-lt"/>
                <a:cs typeface="+mn-lt"/>
                <a:hlinkClick r:id="rId156"/>
              </a:rPr>
              <a:t>[34]</a:t>
            </a:r>
            <a:r>
              <a:rPr lang="en-US" sz="1200">
                <a:solidFill>
                  <a:srgbClr val="202122"/>
                </a:solidFill>
                <a:ea typeface="+mn-lt"/>
                <a:cs typeface="+mn-lt"/>
              </a:rPr>
              <a:t> In 1985, he received his second </a:t>
            </a:r>
            <a:r>
              <a:rPr lang="en-US" sz="1200">
                <a:solidFill>
                  <a:srgbClr val="3366CC"/>
                </a:solidFill>
                <a:ea typeface="+mn-lt"/>
                <a:cs typeface="+mn-lt"/>
                <a:hlinkClick r:id="rId135"/>
              </a:rPr>
              <a:t>Filmfare Award for Best Actor – Telugu</a:t>
            </a:r>
            <a:r>
              <a:rPr lang="en-US" sz="1200">
                <a:solidFill>
                  <a:srgbClr val="202122"/>
                </a:solidFill>
                <a:ea typeface="+mn-lt"/>
                <a:cs typeface="+mn-lt"/>
              </a:rPr>
              <a:t> for his performance in </a:t>
            </a:r>
            <a:r>
              <a:rPr lang="en-US" sz="1200" i="1">
                <a:solidFill>
                  <a:srgbClr val="3366CC"/>
                </a:solidFill>
                <a:ea typeface="+mn-lt"/>
                <a:cs typeface="+mn-lt"/>
                <a:hlinkClick r:id="rId157"/>
              </a:rPr>
              <a:t>Vijetha</a:t>
            </a:r>
            <a:r>
              <a:rPr lang="en-US" sz="1200">
                <a:solidFill>
                  <a:srgbClr val="202122"/>
                </a:solidFill>
                <a:ea typeface="+mn-lt"/>
                <a:cs typeface="+mn-lt"/>
              </a:rPr>
              <a:t>.</a:t>
            </a:r>
            <a:r>
              <a:rPr lang="en-US" sz="1000" baseline="30000" dirty="0">
                <a:solidFill>
                  <a:srgbClr val="3366CC"/>
                </a:solidFill>
                <a:ea typeface="+mn-lt"/>
                <a:cs typeface="+mn-lt"/>
                <a:hlinkClick r:id="rId158"/>
              </a:rPr>
              <a:t>[35]</a:t>
            </a:r>
            <a:r>
              <a:rPr lang="en-US" sz="1000" baseline="30000" dirty="0">
                <a:solidFill>
                  <a:srgbClr val="3366CC"/>
                </a:solidFill>
                <a:ea typeface="+mn-lt"/>
                <a:cs typeface="+mn-lt"/>
                <a:hlinkClick r:id="rId159"/>
              </a:rPr>
              <a:t>[36]</a:t>
            </a:r>
            <a:endParaRPr lang="en-US"/>
          </a:p>
          <a:p>
            <a:r>
              <a:rPr lang="en-US" b="1"/>
              <a:t>1987–2007: Commercial success</a:t>
            </a:r>
            <a:endParaRPr lang="en-US"/>
          </a:p>
          <a:p>
            <a:r>
              <a:rPr lang="en-US" sz="1200">
                <a:solidFill>
                  <a:srgbClr val="202122"/>
                </a:solidFill>
                <a:ea typeface="+mn-lt"/>
                <a:cs typeface="+mn-lt"/>
              </a:rPr>
              <a:t>Chiranjeevi received his first </a:t>
            </a:r>
            <a:r>
              <a:rPr lang="en-US" sz="1200">
                <a:solidFill>
                  <a:srgbClr val="3366CC"/>
                </a:solidFill>
                <a:ea typeface="+mn-lt"/>
                <a:cs typeface="+mn-lt"/>
                <a:hlinkClick r:id="rId160"/>
              </a:rPr>
              <a:t>Nandi Award for Best Actor</a:t>
            </a:r>
            <a:r>
              <a:rPr lang="en-US" sz="1200">
                <a:solidFill>
                  <a:srgbClr val="202122"/>
                </a:solidFill>
                <a:ea typeface="+mn-lt"/>
                <a:cs typeface="+mn-lt"/>
              </a:rPr>
              <a:t> for </a:t>
            </a:r>
            <a:r>
              <a:rPr lang="en-US" sz="1200" i="1">
                <a:solidFill>
                  <a:srgbClr val="3366CC"/>
                </a:solidFill>
                <a:ea typeface="+mn-lt"/>
                <a:cs typeface="+mn-lt"/>
                <a:hlinkClick r:id="rId37"/>
              </a:rPr>
              <a:t>Swayamkrushi</a:t>
            </a:r>
            <a:r>
              <a:rPr lang="en-US" sz="1200">
                <a:solidFill>
                  <a:srgbClr val="202122"/>
                </a:solidFill>
                <a:ea typeface="+mn-lt"/>
                <a:cs typeface="+mn-lt"/>
              </a:rPr>
              <a:t> (1987), directed by K. Viswanath.</a:t>
            </a:r>
            <a:r>
              <a:rPr lang="en-US" sz="1000" baseline="30000">
                <a:solidFill>
                  <a:srgbClr val="3366CC"/>
                </a:solidFill>
                <a:ea typeface="+mn-lt"/>
                <a:cs typeface="+mn-lt"/>
                <a:hlinkClick r:id="rId161"/>
              </a:rPr>
              <a:t>[37]</a:t>
            </a:r>
            <a:r>
              <a:rPr lang="en-US" sz="1200">
                <a:solidFill>
                  <a:srgbClr val="202122"/>
                </a:solidFill>
                <a:ea typeface="+mn-lt"/>
                <a:cs typeface="+mn-lt"/>
              </a:rPr>
              <a:t> </a:t>
            </a:r>
            <a:r>
              <a:rPr lang="en-US" sz="1200" i="1">
                <a:solidFill>
                  <a:srgbClr val="3366CC"/>
                </a:solidFill>
                <a:ea typeface="+mn-lt"/>
                <a:cs typeface="+mn-lt"/>
                <a:hlinkClick r:id="rId22"/>
              </a:rPr>
              <a:t>Pasivadi Pranam</a:t>
            </a:r>
            <a:r>
              <a:rPr lang="en-US" sz="1200">
                <a:solidFill>
                  <a:srgbClr val="202122"/>
                </a:solidFill>
                <a:ea typeface="+mn-lt"/>
                <a:cs typeface="+mn-lt"/>
              </a:rPr>
              <a:t> (1987), </a:t>
            </a:r>
            <a:r>
              <a:rPr lang="en-US" sz="1200" i="1">
                <a:solidFill>
                  <a:srgbClr val="3366CC"/>
                </a:solidFill>
                <a:ea typeface="+mn-lt"/>
                <a:cs typeface="+mn-lt"/>
                <a:hlinkClick r:id="rId23"/>
              </a:rPr>
              <a:t>Yamudiki Mogudu</a:t>
            </a:r>
            <a:r>
              <a:rPr lang="en-US" sz="1200">
                <a:solidFill>
                  <a:srgbClr val="202122"/>
                </a:solidFill>
                <a:ea typeface="+mn-lt"/>
                <a:cs typeface="+mn-lt"/>
              </a:rPr>
              <a:t> (1988) and </a:t>
            </a:r>
            <a:r>
              <a:rPr lang="en-US" sz="1200" i="1">
                <a:solidFill>
                  <a:srgbClr val="3366CC"/>
                </a:solidFill>
                <a:ea typeface="+mn-lt"/>
                <a:cs typeface="+mn-lt"/>
                <a:hlinkClick r:id="rId162"/>
              </a:rPr>
              <a:t>Manchi Donga</a:t>
            </a:r>
            <a:r>
              <a:rPr lang="en-US" sz="1200">
                <a:solidFill>
                  <a:srgbClr val="202122"/>
                </a:solidFill>
                <a:ea typeface="+mn-lt"/>
                <a:cs typeface="+mn-lt"/>
              </a:rPr>
              <a:t> (1988) also did well at the box office. He co-produced and acted in </a:t>
            </a:r>
            <a:r>
              <a:rPr lang="en-US" sz="1200" i="1">
                <a:solidFill>
                  <a:srgbClr val="3366CC"/>
                </a:solidFill>
                <a:ea typeface="+mn-lt"/>
                <a:cs typeface="+mn-lt"/>
                <a:hlinkClick r:id="rId38"/>
              </a:rPr>
              <a:t>Rudraveena</a:t>
            </a:r>
            <a:r>
              <a:rPr lang="en-US" sz="1200">
                <a:solidFill>
                  <a:srgbClr val="202122"/>
                </a:solidFill>
                <a:ea typeface="+mn-lt"/>
                <a:cs typeface="+mn-lt"/>
              </a:rPr>
              <a:t> (1988), which won the </a:t>
            </a:r>
            <a:r>
              <a:rPr lang="en-US" sz="1200">
                <a:solidFill>
                  <a:srgbClr val="3366CC"/>
                </a:solidFill>
                <a:ea typeface="+mn-lt"/>
                <a:cs typeface="+mn-lt"/>
                <a:hlinkClick r:id="rId40"/>
              </a:rPr>
              <a:t>Nargis Dutt Award for Best Feature Film on National Integration</a:t>
            </a:r>
            <a:r>
              <a:rPr lang="en-US" sz="1200">
                <a:solidFill>
                  <a:srgbClr val="202122"/>
                </a:solidFill>
                <a:ea typeface="+mn-lt"/>
                <a:cs typeface="+mn-lt"/>
              </a:rPr>
              <a:t>,</a:t>
            </a:r>
            <a:r>
              <a:rPr lang="en-US" sz="1000" baseline="30000">
                <a:solidFill>
                  <a:srgbClr val="3366CC"/>
                </a:solidFill>
                <a:ea typeface="+mn-lt"/>
                <a:cs typeface="+mn-lt"/>
                <a:hlinkClick r:id="rId163"/>
              </a:rPr>
              <a:t>[38]</a:t>
            </a:r>
            <a:r>
              <a:rPr lang="en-US" sz="1200">
                <a:solidFill>
                  <a:srgbClr val="202122"/>
                </a:solidFill>
                <a:ea typeface="+mn-lt"/>
                <a:cs typeface="+mn-lt"/>
              </a:rPr>
              <a:t> and the </a:t>
            </a:r>
            <a:r>
              <a:rPr lang="en-US" sz="1200">
                <a:solidFill>
                  <a:srgbClr val="3366CC"/>
                </a:solidFill>
                <a:ea typeface="+mn-lt"/>
                <a:cs typeface="+mn-lt"/>
                <a:hlinkClick r:id="rId164"/>
              </a:rPr>
              <a:t>Nandi Special Jury Award</a:t>
            </a:r>
            <a:r>
              <a:rPr lang="en-US" sz="1200">
                <a:solidFill>
                  <a:srgbClr val="202122"/>
                </a:solidFill>
                <a:ea typeface="+mn-lt"/>
                <a:cs typeface="+mn-lt"/>
              </a:rPr>
              <a:t>.</a:t>
            </a:r>
            <a:r>
              <a:rPr lang="en-US" sz="1000" baseline="30000">
                <a:solidFill>
                  <a:srgbClr val="3366CC"/>
                </a:solidFill>
                <a:ea typeface="+mn-lt"/>
                <a:cs typeface="+mn-lt"/>
                <a:hlinkClick r:id="rId163"/>
              </a:rPr>
              <a:t>[38]</a:t>
            </a:r>
            <a:r>
              <a:rPr lang="en-US" sz="1000" baseline="30000">
                <a:solidFill>
                  <a:srgbClr val="3366CC"/>
                </a:solidFill>
                <a:ea typeface="+mn-lt"/>
                <a:cs typeface="+mn-lt"/>
                <a:hlinkClick r:id="rId165"/>
              </a:rPr>
              <a:t>[39]</a:t>
            </a:r>
            <a:r>
              <a:rPr lang="en-US" sz="1200">
                <a:solidFill>
                  <a:srgbClr val="202122"/>
                </a:solidFill>
                <a:ea typeface="+mn-lt"/>
                <a:cs typeface="+mn-lt"/>
              </a:rPr>
              <a:t> The title "Megastar" appeared for the first time in the title cards of the 1988 release </a:t>
            </a:r>
            <a:r>
              <a:rPr lang="en-US" sz="1200" i="1">
                <a:solidFill>
                  <a:srgbClr val="3366CC"/>
                </a:solidFill>
                <a:ea typeface="+mn-lt"/>
                <a:cs typeface="+mn-lt"/>
                <a:hlinkClick r:id="rId166"/>
              </a:rPr>
              <a:t>Marana Mrudangam</a:t>
            </a:r>
            <a:r>
              <a:rPr lang="en-US" sz="1200">
                <a:solidFill>
                  <a:srgbClr val="202122"/>
                </a:solidFill>
                <a:ea typeface="+mn-lt"/>
                <a:cs typeface="+mn-lt"/>
              </a:rPr>
              <a:t>, marking its association with Chiranjeevi.</a:t>
            </a:r>
            <a:r>
              <a:rPr lang="en-US" sz="1000" baseline="30000">
                <a:solidFill>
                  <a:srgbClr val="3366CC"/>
                </a:solidFill>
                <a:ea typeface="+mn-lt"/>
                <a:cs typeface="+mn-lt"/>
                <a:hlinkClick r:id="rId163"/>
              </a:rPr>
              <a:t>[38]</a:t>
            </a:r>
            <a:r>
              <a:rPr lang="en-US" sz="1200">
                <a:solidFill>
                  <a:srgbClr val="202122"/>
                </a:solidFill>
                <a:ea typeface="+mn-lt"/>
                <a:cs typeface="+mn-lt"/>
              </a:rPr>
              <a:t> During the shoot of </a:t>
            </a:r>
            <a:r>
              <a:rPr lang="en-US" sz="1200" i="1">
                <a:solidFill>
                  <a:srgbClr val="202122"/>
                </a:solidFill>
                <a:ea typeface="+mn-lt"/>
                <a:cs typeface="+mn-lt"/>
              </a:rPr>
              <a:t>Marana Mrudangam</a:t>
            </a:r>
            <a:r>
              <a:rPr lang="en-US" sz="1200">
                <a:solidFill>
                  <a:srgbClr val="202122"/>
                </a:solidFill>
                <a:ea typeface="+mn-lt"/>
                <a:cs typeface="+mn-lt"/>
              </a:rPr>
              <a:t>, Chiranjeevi was poisoned by a fan who attempted to get closer to him.</a:t>
            </a:r>
            <a:r>
              <a:rPr lang="en-US" sz="1000" baseline="30000">
                <a:solidFill>
                  <a:srgbClr val="3366CC"/>
                </a:solidFill>
                <a:ea typeface="+mn-lt"/>
                <a:cs typeface="+mn-lt"/>
                <a:hlinkClick r:id="rId167"/>
              </a:rPr>
              <a:t>[40]</a:t>
            </a:r>
            <a:r>
              <a:rPr lang="en-US" sz="1200">
                <a:solidFill>
                  <a:srgbClr val="202122"/>
                </a:solidFill>
                <a:ea typeface="+mn-lt"/>
                <a:cs typeface="+mn-lt"/>
              </a:rPr>
              <a:t> The incident was recalled by Chiranjeevi in 2023, who took it lightly as an act of misguided admiration.</a:t>
            </a:r>
            <a:r>
              <a:rPr lang="en-US" sz="1000" baseline="30000" dirty="0">
                <a:solidFill>
                  <a:srgbClr val="3366CC"/>
                </a:solidFill>
                <a:ea typeface="+mn-lt"/>
                <a:cs typeface="+mn-lt"/>
                <a:hlinkClick r:id="rId168"/>
              </a:rPr>
              <a:t>[41]</a:t>
            </a:r>
            <a:endParaRPr lang="en-US"/>
          </a:p>
          <a:p>
            <a:r>
              <a:rPr lang="en-US" sz="1200">
                <a:solidFill>
                  <a:srgbClr val="202122"/>
                </a:solidFill>
                <a:ea typeface="+mn-lt"/>
                <a:cs typeface="+mn-lt"/>
              </a:rPr>
              <a:t>He then experimented with </a:t>
            </a:r>
            <a:r>
              <a:rPr lang="en-US" sz="1200" i="1">
                <a:solidFill>
                  <a:srgbClr val="3366CC"/>
                </a:solidFill>
                <a:ea typeface="+mn-lt"/>
                <a:cs typeface="+mn-lt"/>
                <a:hlinkClick r:id="rId25"/>
              </a:rPr>
              <a:t>Jagadeka Veerudu Athiloka Sundari</a:t>
            </a:r>
            <a:r>
              <a:rPr lang="en-US" sz="1200">
                <a:solidFill>
                  <a:srgbClr val="202122"/>
                </a:solidFill>
                <a:ea typeface="+mn-lt"/>
                <a:cs typeface="+mn-lt"/>
              </a:rPr>
              <a:t> (1990), a </a:t>
            </a:r>
            <a:r>
              <a:rPr lang="en-US" sz="1200">
                <a:solidFill>
                  <a:srgbClr val="3366CC"/>
                </a:solidFill>
                <a:ea typeface="+mn-lt"/>
                <a:cs typeface="+mn-lt"/>
                <a:hlinkClick r:id="rId169"/>
              </a:rPr>
              <a:t>fantasy film</a:t>
            </a:r>
            <a:r>
              <a:rPr lang="en-US" sz="1200">
                <a:solidFill>
                  <a:srgbClr val="202122"/>
                </a:solidFill>
                <a:ea typeface="+mn-lt"/>
                <a:cs typeface="+mn-lt"/>
              </a:rPr>
              <a:t> directed by </a:t>
            </a:r>
            <a:r>
              <a:rPr lang="en-US" sz="1200">
                <a:solidFill>
                  <a:srgbClr val="3366CC"/>
                </a:solidFill>
                <a:ea typeface="+mn-lt"/>
                <a:cs typeface="+mn-lt"/>
                <a:hlinkClick r:id="rId170"/>
              </a:rPr>
              <a:t>K. Raghavendra Rao</a:t>
            </a:r>
            <a:r>
              <a:rPr lang="en-US" sz="1200">
                <a:solidFill>
                  <a:srgbClr val="202122"/>
                </a:solidFill>
                <a:ea typeface="+mn-lt"/>
                <a:cs typeface="+mn-lt"/>
              </a:rPr>
              <a:t> and produced by </a:t>
            </a:r>
            <a:r>
              <a:rPr lang="en-US" sz="1200">
                <a:solidFill>
                  <a:srgbClr val="3366CC"/>
                </a:solidFill>
                <a:ea typeface="+mn-lt"/>
                <a:cs typeface="+mn-lt"/>
                <a:hlinkClick r:id="rId171"/>
              </a:rPr>
              <a:t>Aswini Dutt</a:t>
            </a:r>
            <a:r>
              <a:rPr lang="en-US" sz="1200">
                <a:solidFill>
                  <a:srgbClr val="202122"/>
                </a:solidFill>
                <a:ea typeface="+mn-lt"/>
                <a:cs typeface="+mn-lt"/>
              </a:rPr>
              <a:t>. Other notable works during this period include </a:t>
            </a:r>
            <a:r>
              <a:rPr lang="en-US" sz="1200" i="1">
                <a:solidFill>
                  <a:srgbClr val="3366CC"/>
                </a:solidFill>
                <a:ea typeface="+mn-lt"/>
                <a:cs typeface="+mn-lt"/>
                <a:hlinkClick r:id="rId172"/>
              </a:rPr>
              <a:t>Kondaveeti Donga</a:t>
            </a:r>
            <a:r>
              <a:rPr lang="en-US" sz="1200">
                <a:solidFill>
                  <a:srgbClr val="202122"/>
                </a:solidFill>
                <a:ea typeface="+mn-lt"/>
                <a:cs typeface="+mn-lt"/>
              </a:rPr>
              <a:t> (1990), released in </a:t>
            </a:r>
            <a:r>
              <a:rPr lang="en-US" sz="1200">
                <a:solidFill>
                  <a:srgbClr val="3366CC"/>
                </a:solidFill>
                <a:ea typeface="+mn-lt"/>
                <a:cs typeface="+mn-lt"/>
                <a:hlinkClick r:id="rId173"/>
              </a:rPr>
              <a:t>70 mm</a:t>
            </a:r>
            <a:r>
              <a:rPr lang="en-US" sz="1200">
                <a:solidFill>
                  <a:srgbClr val="202122"/>
                </a:solidFill>
                <a:ea typeface="+mn-lt"/>
                <a:cs typeface="+mn-lt"/>
              </a:rPr>
              <a:t> format with 6-Track </a:t>
            </a:r>
            <a:r>
              <a:rPr lang="en-US" sz="1200">
                <a:solidFill>
                  <a:srgbClr val="3366CC"/>
                </a:solidFill>
                <a:ea typeface="+mn-lt"/>
                <a:cs typeface="+mn-lt"/>
                <a:hlinkClick r:id="rId174"/>
              </a:rPr>
              <a:t>stereophonic sound</a:t>
            </a:r>
            <a:r>
              <a:rPr lang="en-US" sz="1200">
                <a:solidFill>
                  <a:srgbClr val="202122"/>
                </a:solidFill>
                <a:ea typeface="+mn-lt"/>
                <a:cs typeface="+mn-lt"/>
              </a:rPr>
              <a:t>, the </a:t>
            </a:r>
            <a:r>
              <a:rPr lang="en-US" sz="1200">
                <a:solidFill>
                  <a:srgbClr val="3366CC"/>
                </a:solidFill>
                <a:ea typeface="+mn-lt"/>
                <a:cs typeface="+mn-lt"/>
                <a:hlinkClick r:id="rId175"/>
              </a:rPr>
              <a:t>cowboy film</a:t>
            </a:r>
            <a:r>
              <a:rPr lang="en-US" sz="1200">
                <a:solidFill>
                  <a:srgbClr val="202122"/>
                </a:solidFill>
                <a:ea typeface="+mn-lt"/>
                <a:cs typeface="+mn-lt"/>
              </a:rPr>
              <a:t> </a:t>
            </a:r>
            <a:r>
              <a:rPr lang="en-US" sz="1200" i="1">
                <a:solidFill>
                  <a:srgbClr val="3366CC"/>
                </a:solidFill>
                <a:ea typeface="+mn-lt"/>
                <a:cs typeface="+mn-lt"/>
                <a:hlinkClick r:id="rId176"/>
              </a:rPr>
              <a:t>Kodama Simham</a:t>
            </a:r>
            <a:r>
              <a:rPr lang="en-US" sz="1200">
                <a:solidFill>
                  <a:srgbClr val="202122"/>
                </a:solidFill>
                <a:ea typeface="+mn-lt"/>
                <a:cs typeface="+mn-lt"/>
              </a:rPr>
              <a:t> (1990), and the social problem </a:t>
            </a:r>
            <a:r>
              <a:rPr lang="en-US" sz="1200">
                <a:solidFill>
                  <a:srgbClr val="3366CC"/>
                </a:solidFill>
                <a:ea typeface="+mn-lt"/>
                <a:cs typeface="+mn-lt"/>
                <a:hlinkClick r:id="rId177"/>
              </a:rPr>
              <a:t>action film</a:t>
            </a:r>
            <a:r>
              <a:rPr lang="en-US" sz="1200">
                <a:solidFill>
                  <a:srgbClr val="202122"/>
                </a:solidFill>
                <a:ea typeface="+mn-lt"/>
                <a:cs typeface="+mn-lt"/>
              </a:rPr>
              <a:t> </a:t>
            </a:r>
            <a:r>
              <a:rPr lang="en-US" sz="1200" i="1">
                <a:solidFill>
                  <a:srgbClr val="3366CC"/>
                </a:solidFill>
                <a:ea typeface="+mn-lt"/>
                <a:cs typeface="+mn-lt"/>
                <a:hlinkClick r:id="rId26"/>
              </a:rPr>
              <a:t>Gang Leader</a:t>
            </a:r>
            <a:r>
              <a:rPr lang="en-US" sz="1200">
                <a:solidFill>
                  <a:srgbClr val="202122"/>
                </a:solidFill>
                <a:ea typeface="+mn-lt"/>
                <a:cs typeface="+mn-lt"/>
              </a:rPr>
              <a:t> (1991). These films were major box-office successes and established Chiranjeevi as the "Boss of Telugu cinema".</a:t>
            </a:r>
            <a:r>
              <a:rPr lang="en-US" sz="1000" baseline="30000">
                <a:solidFill>
                  <a:srgbClr val="3366CC"/>
                </a:solidFill>
                <a:ea typeface="+mn-lt"/>
                <a:cs typeface="+mn-lt"/>
                <a:hlinkClick r:id="rId178"/>
              </a:rPr>
              <a:t>[42]</a:t>
            </a:r>
            <a:r>
              <a:rPr lang="en-US" sz="1200">
                <a:solidFill>
                  <a:srgbClr val="202122"/>
                </a:solidFill>
                <a:ea typeface="+mn-lt"/>
                <a:cs typeface="+mn-lt"/>
              </a:rPr>
              <a:t> The 1992 film </a:t>
            </a:r>
            <a:r>
              <a:rPr lang="en-US" sz="1200" i="1">
                <a:solidFill>
                  <a:srgbClr val="3366CC"/>
                </a:solidFill>
                <a:ea typeface="+mn-lt"/>
                <a:cs typeface="+mn-lt"/>
                <a:hlinkClick r:id="rId27"/>
              </a:rPr>
              <a:t>Gharana Mogudu</a:t>
            </a:r>
            <a:r>
              <a:rPr lang="en-US" sz="1200">
                <a:solidFill>
                  <a:srgbClr val="202122"/>
                </a:solidFill>
                <a:ea typeface="+mn-lt"/>
                <a:cs typeface="+mn-lt"/>
              </a:rPr>
              <a:t> was the first South Indian and Telugu film to collect over ₹10 </a:t>
            </a:r>
            <a:r>
              <a:rPr lang="en-US" sz="1200">
                <a:solidFill>
                  <a:srgbClr val="3366CC"/>
                </a:solidFill>
                <a:ea typeface="+mn-lt"/>
                <a:cs typeface="+mn-lt"/>
                <a:hlinkClick r:id="rId29"/>
              </a:rPr>
              <a:t>crore</a:t>
            </a:r>
            <a:r>
              <a:rPr lang="en-US" sz="1200">
                <a:solidFill>
                  <a:srgbClr val="202122"/>
                </a:solidFill>
                <a:ea typeface="+mn-lt"/>
                <a:cs typeface="+mn-lt"/>
              </a:rPr>
              <a:t> in </a:t>
            </a:r>
            <a:r>
              <a:rPr lang="en-US" sz="1200">
                <a:solidFill>
                  <a:srgbClr val="3366CC"/>
                </a:solidFill>
                <a:ea typeface="+mn-lt"/>
                <a:cs typeface="+mn-lt"/>
                <a:hlinkClick r:id="rId30"/>
              </a:rPr>
              <a:t>distributor share</a:t>
            </a:r>
            <a:r>
              <a:rPr lang="en-US" sz="1200">
                <a:solidFill>
                  <a:srgbClr val="202122"/>
                </a:solidFill>
                <a:ea typeface="+mn-lt"/>
                <a:cs typeface="+mn-lt"/>
              </a:rPr>
              <a:t> at the box office.</a:t>
            </a:r>
            <a:r>
              <a:rPr lang="en-US" sz="1000" baseline="30000">
                <a:solidFill>
                  <a:srgbClr val="3366CC"/>
                </a:solidFill>
                <a:ea typeface="+mn-lt"/>
                <a:cs typeface="+mn-lt"/>
                <a:hlinkClick r:id="rId31"/>
              </a:rPr>
              <a:t>[9]</a:t>
            </a:r>
            <a:r>
              <a:rPr lang="en-US" sz="1000" baseline="30000">
                <a:solidFill>
                  <a:srgbClr val="3366CC"/>
                </a:solidFill>
                <a:ea typeface="+mn-lt"/>
                <a:cs typeface="+mn-lt"/>
                <a:hlinkClick r:id="rId179"/>
              </a:rPr>
              <a:t>[43]</a:t>
            </a:r>
            <a:r>
              <a:rPr lang="en-US" sz="1000" baseline="30000">
                <a:solidFill>
                  <a:srgbClr val="3366CC"/>
                </a:solidFill>
                <a:ea typeface="+mn-lt"/>
                <a:cs typeface="+mn-lt"/>
                <a:hlinkClick r:id="rId54"/>
              </a:rPr>
              <a:t>[14]</a:t>
            </a:r>
            <a:r>
              <a:rPr lang="en-US" sz="1200">
                <a:solidFill>
                  <a:srgbClr val="202122"/>
                </a:solidFill>
                <a:ea typeface="+mn-lt"/>
                <a:cs typeface="+mn-lt"/>
              </a:rPr>
              <a:t> The film was screened at the 1993 </a:t>
            </a:r>
            <a:r>
              <a:rPr lang="en-US" sz="1200">
                <a:solidFill>
                  <a:srgbClr val="3366CC"/>
                </a:solidFill>
                <a:ea typeface="+mn-lt"/>
                <a:cs typeface="+mn-lt"/>
                <a:hlinkClick r:id="rId180"/>
              </a:rPr>
              <a:t>International Film Festival of India</a:t>
            </a:r>
            <a:r>
              <a:rPr lang="en-US" sz="1200">
                <a:solidFill>
                  <a:srgbClr val="202122"/>
                </a:solidFill>
                <a:ea typeface="+mn-lt"/>
                <a:cs typeface="+mn-lt"/>
              </a:rPr>
              <a:t> in the mainstream section.</a:t>
            </a:r>
            <a:r>
              <a:rPr lang="en-US" sz="1000" baseline="30000" dirty="0">
                <a:solidFill>
                  <a:srgbClr val="3366CC"/>
                </a:solidFill>
                <a:ea typeface="+mn-lt"/>
                <a:cs typeface="+mn-lt"/>
                <a:hlinkClick r:id="rId181"/>
              </a:rPr>
              <a:t>[44]</a:t>
            </a:r>
            <a:endParaRPr lang="en-US"/>
          </a:p>
          <a:p>
            <a:r>
              <a:rPr lang="en-US" sz="1200">
                <a:solidFill>
                  <a:srgbClr val="202122"/>
                </a:solidFill>
                <a:ea typeface="+mn-lt"/>
                <a:cs typeface="+mn-lt"/>
              </a:rPr>
              <a:t>Chiranjeevi's </a:t>
            </a:r>
            <a:r>
              <a:rPr lang="en-US" sz="1200">
                <a:solidFill>
                  <a:srgbClr val="3366CC"/>
                </a:solidFill>
                <a:ea typeface="+mn-lt"/>
                <a:cs typeface="+mn-lt"/>
                <a:hlinkClick r:id="rId182"/>
              </a:rPr>
              <a:t>Bollywood</a:t>
            </a:r>
            <a:r>
              <a:rPr lang="en-US" sz="1200">
                <a:solidFill>
                  <a:srgbClr val="202122"/>
                </a:solidFill>
                <a:ea typeface="+mn-lt"/>
                <a:cs typeface="+mn-lt"/>
              </a:rPr>
              <a:t> performances were appreciated in </a:t>
            </a:r>
            <a:r>
              <a:rPr lang="en-US" sz="1200" i="1">
                <a:solidFill>
                  <a:srgbClr val="3366CC"/>
                </a:solidFill>
                <a:ea typeface="+mn-lt"/>
                <a:cs typeface="+mn-lt"/>
                <a:hlinkClick r:id="rId183"/>
              </a:rPr>
              <a:t>Pratibandh</a:t>
            </a:r>
            <a:r>
              <a:rPr lang="en-US" sz="1000" baseline="30000">
                <a:solidFill>
                  <a:srgbClr val="3366CC"/>
                </a:solidFill>
                <a:ea typeface="+mn-lt"/>
                <a:cs typeface="+mn-lt"/>
                <a:hlinkClick r:id="rId184"/>
              </a:rPr>
              <a:t>[45]</a:t>
            </a:r>
            <a:r>
              <a:rPr lang="en-US" sz="1200">
                <a:solidFill>
                  <a:srgbClr val="202122"/>
                </a:solidFill>
                <a:ea typeface="+mn-lt"/>
                <a:cs typeface="+mn-lt"/>
              </a:rPr>
              <a:t> and </a:t>
            </a:r>
            <a:r>
              <a:rPr lang="en-US" sz="1200" i="1">
                <a:solidFill>
                  <a:srgbClr val="3366CC"/>
                </a:solidFill>
                <a:ea typeface="+mn-lt"/>
                <a:cs typeface="+mn-lt"/>
                <a:hlinkClick r:id="rId185"/>
              </a:rPr>
              <a:t>Aaj Ka Goonda Raaj</a:t>
            </a:r>
            <a:r>
              <a:rPr lang="en-US" sz="1200">
                <a:solidFill>
                  <a:srgbClr val="202122"/>
                </a:solidFill>
                <a:ea typeface="+mn-lt"/>
                <a:cs typeface="+mn-lt"/>
              </a:rPr>
              <a:t>. For his role in </a:t>
            </a:r>
            <a:r>
              <a:rPr lang="en-US" sz="1200" i="1">
                <a:solidFill>
                  <a:srgbClr val="3366CC"/>
                </a:solidFill>
                <a:ea typeface="+mn-lt"/>
                <a:cs typeface="+mn-lt"/>
                <a:hlinkClick r:id="rId35"/>
              </a:rPr>
              <a:t>Aapadbandhavudu</a:t>
            </a:r>
            <a:r>
              <a:rPr lang="en-US" sz="1200">
                <a:solidFill>
                  <a:srgbClr val="202122"/>
                </a:solidFill>
                <a:ea typeface="+mn-lt"/>
                <a:cs typeface="+mn-lt"/>
              </a:rPr>
              <a:t> (1992), he received his second </a:t>
            </a:r>
            <a:r>
              <a:rPr lang="en-US" sz="1200">
                <a:solidFill>
                  <a:srgbClr val="3366CC"/>
                </a:solidFill>
                <a:ea typeface="+mn-lt"/>
                <a:cs typeface="+mn-lt"/>
                <a:hlinkClick r:id="rId160"/>
              </a:rPr>
              <a:t>Nandi Award for Best Actor</a:t>
            </a:r>
            <a:r>
              <a:rPr lang="en-US" sz="1200">
                <a:solidFill>
                  <a:srgbClr val="202122"/>
                </a:solidFill>
                <a:ea typeface="+mn-lt"/>
                <a:cs typeface="+mn-lt"/>
              </a:rPr>
              <a:t> and third </a:t>
            </a:r>
            <a:r>
              <a:rPr lang="en-US" sz="1200">
                <a:solidFill>
                  <a:srgbClr val="3366CC"/>
                </a:solidFill>
                <a:ea typeface="+mn-lt"/>
                <a:cs typeface="+mn-lt"/>
                <a:hlinkClick r:id="rId135"/>
              </a:rPr>
              <a:t>Filmfare Award for Best Actor – Telugu</a:t>
            </a:r>
            <a:r>
              <a:rPr lang="en-US" sz="1200">
                <a:solidFill>
                  <a:srgbClr val="202122"/>
                </a:solidFill>
                <a:ea typeface="+mn-lt"/>
                <a:cs typeface="+mn-lt"/>
              </a:rPr>
              <a:t>. The mid-1990s saw a career dip for Chiranjeevi with box office duds such as </a:t>
            </a:r>
            <a:r>
              <a:rPr lang="en-US" sz="1200" i="1">
                <a:solidFill>
                  <a:srgbClr val="3366CC"/>
                </a:solidFill>
                <a:ea typeface="+mn-lt"/>
                <a:cs typeface="+mn-lt"/>
                <a:hlinkClick r:id="rId186"/>
              </a:rPr>
              <a:t>S. P. Parasuram</a:t>
            </a:r>
            <a:r>
              <a:rPr lang="en-US" sz="1200">
                <a:solidFill>
                  <a:srgbClr val="202122"/>
                </a:solidFill>
                <a:ea typeface="+mn-lt"/>
                <a:cs typeface="+mn-lt"/>
              </a:rPr>
              <a:t>, </a:t>
            </a:r>
            <a:r>
              <a:rPr lang="en-US" sz="1200" i="1">
                <a:solidFill>
                  <a:srgbClr val="3366CC"/>
                </a:solidFill>
                <a:ea typeface="+mn-lt"/>
                <a:cs typeface="+mn-lt"/>
                <a:hlinkClick r:id="rId187"/>
              </a:rPr>
              <a:t>The Gentleman</a:t>
            </a:r>
            <a:r>
              <a:rPr lang="en-US" sz="1200">
                <a:solidFill>
                  <a:srgbClr val="202122"/>
                </a:solidFill>
                <a:ea typeface="+mn-lt"/>
                <a:cs typeface="+mn-lt"/>
              </a:rPr>
              <a:t>, </a:t>
            </a:r>
            <a:r>
              <a:rPr lang="en-US" sz="1200" i="1">
                <a:solidFill>
                  <a:srgbClr val="3366CC"/>
                </a:solidFill>
                <a:ea typeface="+mn-lt"/>
                <a:cs typeface="+mn-lt"/>
                <a:hlinkClick r:id="rId188"/>
              </a:rPr>
              <a:t>Big Boss</a:t>
            </a:r>
            <a:r>
              <a:rPr lang="en-US" sz="1200">
                <a:solidFill>
                  <a:srgbClr val="202122"/>
                </a:solidFill>
                <a:ea typeface="+mn-lt"/>
                <a:cs typeface="+mn-lt"/>
              </a:rPr>
              <a:t> and </a:t>
            </a:r>
            <a:r>
              <a:rPr lang="en-US" sz="1200" i="1">
                <a:solidFill>
                  <a:srgbClr val="3366CC"/>
                </a:solidFill>
                <a:ea typeface="+mn-lt"/>
                <a:cs typeface="+mn-lt"/>
                <a:hlinkClick r:id="rId189"/>
              </a:rPr>
              <a:t>Rikshavodu</a:t>
            </a:r>
            <a:r>
              <a:rPr lang="en-US" sz="1200">
                <a:solidFill>
                  <a:srgbClr val="202122"/>
                </a:solidFill>
                <a:ea typeface="+mn-lt"/>
                <a:cs typeface="+mn-lt"/>
              </a:rPr>
              <a:t>. There were exceptions, such as </a:t>
            </a:r>
            <a:r>
              <a:rPr lang="en-US" sz="1200" i="1">
                <a:solidFill>
                  <a:srgbClr val="3366CC"/>
                </a:solidFill>
                <a:ea typeface="+mn-lt"/>
                <a:cs typeface="+mn-lt"/>
                <a:hlinkClick r:id="rId190"/>
              </a:rPr>
              <a:t>Muta Mestri</a:t>
            </a:r>
            <a:r>
              <a:rPr lang="en-US" sz="1200">
                <a:solidFill>
                  <a:srgbClr val="202122"/>
                </a:solidFill>
                <a:ea typeface="+mn-lt"/>
                <a:cs typeface="+mn-lt"/>
              </a:rPr>
              <a:t>, which fetched him a fourth Filmfare Award for Best Actor – Telugu; </a:t>
            </a:r>
            <a:r>
              <a:rPr lang="en-US" sz="1200" i="1">
                <a:solidFill>
                  <a:srgbClr val="3366CC"/>
                </a:solidFill>
                <a:ea typeface="+mn-lt"/>
                <a:cs typeface="+mn-lt"/>
                <a:hlinkClick r:id="rId191"/>
              </a:rPr>
              <a:t>Mugguru Monagallu</a:t>
            </a:r>
            <a:r>
              <a:rPr lang="en-US" sz="1200">
                <a:solidFill>
                  <a:srgbClr val="202122"/>
                </a:solidFill>
                <a:ea typeface="+mn-lt"/>
                <a:cs typeface="+mn-lt"/>
              </a:rPr>
              <a:t> and </a:t>
            </a:r>
            <a:r>
              <a:rPr lang="en-US" sz="1200" i="1">
                <a:solidFill>
                  <a:srgbClr val="3366CC"/>
                </a:solidFill>
                <a:ea typeface="+mn-lt"/>
                <a:cs typeface="+mn-lt"/>
                <a:hlinkClick r:id="rId192"/>
              </a:rPr>
              <a:t>Alluda Majaka</a:t>
            </a:r>
            <a:r>
              <a:rPr lang="en-US" sz="1200">
                <a:solidFill>
                  <a:srgbClr val="202122"/>
                </a:solidFill>
                <a:ea typeface="+mn-lt"/>
                <a:cs typeface="+mn-lt"/>
              </a:rPr>
              <a:t> were also successful.</a:t>
            </a:r>
            <a:r>
              <a:rPr lang="en-US" sz="1000" baseline="30000">
                <a:solidFill>
                  <a:srgbClr val="3366CC"/>
                </a:solidFill>
                <a:ea typeface="+mn-lt"/>
                <a:cs typeface="+mn-lt"/>
                <a:hlinkClick r:id="rId159"/>
              </a:rPr>
              <a:t>[36]</a:t>
            </a:r>
            <a:r>
              <a:rPr lang="en-US" sz="1200">
                <a:solidFill>
                  <a:srgbClr val="202122"/>
                </a:solidFill>
                <a:ea typeface="+mn-lt"/>
                <a:cs typeface="+mn-lt"/>
              </a:rPr>
              <a:t> In 1996, he appeared in a guest role in the </a:t>
            </a:r>
            <a:r>
              <a:rPr lang="en-US" sz="1200">
                <a:solidFill>
                  <a:srgbClr val="3366CC"/>
                </a:solidFill>
                <a:ea typeface="+mn-lt"/>
                <a:cs typeface="+mn-lt"/>
                <a:hlinkClick r:id="rId193"/>
              </a:rPr>
              <a:t>Kannada film</a:t>
            </a:r>
            <a:r>
              <a:rPr lang="en-US" sz="1200">
                <a:solidFill>
                  <a:srgbClr val="202122"/>
                </a:solidFill>
                <a:ea typeface="+mn-lt"/>
                <a:cs typeface="+mn-lt"/>
              </a:rPr>
              <a:t> </a:t>
            </a:r>
            <a:r>
              <a:rPr lang="en-US" sz="1200" i="1">
                <a:solidFill>
                  <a:srgbClr val="3366CC"/>
                </a:solidFill>
                <a:ea typeface="+mn-lt"/>
                <a:cs typeface="+mn-lt"/>
                <a:hlinkClick r:id="rId194"/>
              </a:rPr>
              <a:t>Sipayi</a:t>
            </a:r>
            <a:r>
              <a:rPr lang="en-US" sz="1200">
                <a:solidFill>
                  <a:srgbClr val="202122"/>
                </a:solidFill>
                <a:ea typeface="+mn-lt"/>
                <a:cs typeface="+mn-lt"/>
              </a:rPr>
              <a:t>. After a brief lull, Chiranjeevi bounced back with </a:t>
            </a:r>
            <a:r>
              <a:rPr lang="en-US" sz="1200" i="1">
                <a:solidFill>
                  <a:srgbClr val="3366CC"/>
                </a:solidFill>
                <a:ea typeface="+mn-lt"/>
                <a:cs typeface="+mn-lt"/>
                <a:hlinkClick r:id="rId195"/>
              </a:rPr>
              <a:t>Hitler</a:t>
            </a:r>
            <a:r>
              <a:rPr lang="en-US" sz="1200">
                <a:solidFill>
                  <a:srgbClr val="202122"/>
                </a:solidFill>
                <a:ea typeface="+mn-lt"/>
                <a:cs typeface="+mn-lt"/>
              </a:rPr>
              <a:t>, </a:t>
            </a:r>
            <a:r>
              <a:rPr lang="en-US" sz="1200" i="1">
                <a:solidFill>
                  <a:srgbClr val="3366CC"/>
                </a:solidFill>
                <a:ea typeface="+mn-lt"/>
                <a:cs typeface="+mn-lt"/>
                <a:hlinkClick r:id="rId41"/>
              </a:rPr>
              <a:t>Master</a:t>
            </a:r>
            <a:r>
              <a:rPr lang="en-US" sz="1200">
                <a:solidFill>
                  <a:srgbClr val="202122"/>
                </a:solidFill>
                <a:ea typeface="+mn-lt"/>
                <a:cs typeface="+mn-lt"/>
              </a:rPr>
              <a:t>, </a:t>
            </a:r>
            <a:r>
              <a:rPr lang="en-US" sz="1200" i="1">
                <a:solidFill>
                  <a:srgbClr val="3366CC"/>
                </a:solidFill>
                <a:ea typeface="+mn-lt"/>
                <a:cs typeface="+mn-lt"/>
                <a:hlinkClick r:id="rId196"/>
              </a:rPr>
              <a:t>Bavagaru Bagunnara?</a:t>
            </a:r>
            <a:r>
              <a:rPr lang="en-US" sz="1200">
                <a:solidFill>
                  <a:srgbClr val="202122"/>
                </a:solidFill>
                <a:ea typeface="+mn-lt"/>
                <a:cs typeface="+mn-lt"/>
              </a:rPr>
              <a:t>, </a:t>
            </a:r>
            <a:r>
              <a:rPr lang="en-US" sz="1200" i="1">
                <a:solidFill>
                  <a:srgbClr val="3366CC"/>
                </a:solidFill>
                <a:ea typeface="+mn-lt"/>
                <a:cs typeface="+mn-lt"/>
                <a:hlinkClick r:id="rId42"/>
              </a:rPr>
              <a:t>Choodalani Vundi</a:t>
            </a:r>
            <a:r>
              <a:rPr lang="en-US" sz="1200">
                <a:solidFill>
                  <a:srgbClr val="202122"/>
                </a:solidFill>
                <a:ea typeface="+mn-lt"/>
                <a:cs typeface="+mn-lt"/>
              </a:rPr>
              <a:t> and </a:t>
            </a:r>
            <a:r>
              <a:rPr lang="en-US" sz="1200" i="1">
                <a:solidFill>
                  <a:srgbClr val="3366CC"/>
                </a:solidFill>
                <a:ea typeface="+mn-lt"/>
                <a:cs typeface="+mn-lt"/>
                <a:hlinkClick r:id="rId197"/>
              </a:rPr>
              <a:t>Sneham Kosam</a:t>
            </a:r>
            <a:r>
              <a:rPr lang="en-US" sz="1200">
                <a:solidFill>
                  <a:srgbClr val="202122"/>
                </a:solidFill>
                <a:ea typeface="+mn-lt"/>
                <a:cs typeface="+mn-lt"/>
              </a:rPr>
              <a:t>, for which he received his fifth Filmfare Award for Best Actor – Telugu. In 1999, Chiranjeevi was to appear in a Hollywood production directed by Dushan Garsi, and produced by Rameshkrishna Murthi. The Telugu version was directed by </a:t>
            </a:r>
            <a:r>
              <a:rPr lang="en-US" sz="1200">
                <a:solidFill>
                  <a:srgbClr val="3366CC"/>
                </a:solidFill>
                <a:ea typeface="+mn-lt"/>
                <a:cs typeface="+mn-lt"/>
                <a:hlinkClick r:id="rId198"/>
              </a:rPr>
              <a:t>Suresh Krissna</a:t>
            </a:r>
            <a:r>
              <a:rPr lang="en-US" sz="1200">
                <a:solidFill>
                  <a:srgbClr val="202122"/>
                </a:solidFill>
                <a:ea typeface="+mn-lt"/>
                <a:cs typeface="+mn-lt"/>
              </a:rPr>
              <a:t>. The movie, which was titled </a:t>
            </a:r>
            <a:r>
              <a:rPr lang="en-US" sz="1200" i="1">
                <a:solidFill>
                  <a:srgbClr val="202122"/>
                </a:solidFill>
                <a:ea typeface="+mn-lt"/>
                <a:cs typeface="+mn-lt"/>
              </a:rPr>
              <a:t>The Return of the Thief of Baghdad</a:t>
            </a:r>
            <a:r>
              <a:rPr lang="en-US" sz="1200">
                <a:solidFill>
                  <a:srgbClr val="202122"/>
                </a:solidFill>
                <a:ea typeface="+mn-lt"/>
                <a:cs typeface="+mn-lt"/>
              </a:rPr>
              <a:t>, had its filming suspended for undisclosed reasons.</a:t>
            </a:r>
            <a:r>
              <a:rPr lang="en-US" sz="1000" baseline="30000" dirty="0">
                <a:solidFill>
                  <a:srgbClr val="3366CC"/>
                </a:solidFill>
                <a:ea typeface="+mn-lt"/>
                <a:cs typeface="+mn-lt"/>
                <a:hlinkClick r:id="rId199"/>
              </a:rPr>
              <a:t>[46]</a:t>
            </a:r>
            <a:endParaRPr lang="en-US"/>
          </a:p>
          <a:p>
            <a:r>
              <a:rPr lang="en-US" sz="1200">
                <a:solidFill>
                  <a:srgbClr val="202122"/>
                </a:solidFill>
                <a:ea typeface="+mn-lt"/>
                <a:cs typeface="+mn-lt"/>
              </a:rPr>
              <a:t>Chiranjeevi's new decade started with </a:t>
            </a:r>
            <a:r>
              <a:rPr lang="en-US" sz="1200" i="1">
                <a:solidFill>
                  <a:srgbClr val="3366CC"/>
                </a:solidFill>
                <a:ea typeface="+mn-lt"/>
                <a:cs typeface="+mn-lt"/>
                <a:hlinkClick r:id="rId200"/>
              </a:rPr>
              <a:t>Annayya</a:t>
            </a:r>
            <a:r>
              <a:rPr lang="en-US" sz="1200">
                <a:solidFill>
                  <a:srgbClr val="202122"/>
                </a:solidFill>
                <a:ea typeface="+mn-lt"/>
                <a:cs typeface="+mn-lt"/>
              </a:rPr>
              <a:t> (2000). After a brief gap, Chiranjeevi starred in </a:t>
            </a:r>
            <a:r>
              <a:rPr lang="en-US" sz="1200" i="1">
                <a:solidFill>
                  <a:srgbClr val="3366CC"/>
                </a:solidFill>
                <a:ea typeface="+mn-lt"/>
                <a:cs typeface="+mn-lt"/>
                <a:hlinkClick r:id="rId43"/>
              </a:rPr>
              <a:t>Indra</a:t>
            </a:r>
            <a:r>
              <a:rPr lang="en-US" sz="1200">
                <a:solidFill>
                  <a:srgbClr val="202122"/>
                </a:solidFill>
                <a:ea typeface="+mn-lt"/>
                <a:cs typeface="+mn-lt"/>
              </a:rPr>
              <a:t>, released in 2002, which broke all his previous box office records of </a:t>
            </a:r>
            <a:r>
              <a:rPr lang="en-US" sz="1200">
                <a:solidFill>
                  <a:srgbClr val="3366CC"/>
                </a:solidFill>
                <a:ea typeface="+mn-lt"/>
                <a:cs typeface="+mn-lt"/>
                <a:hlinkClick r:id="rId2"/>
              </a:rPr>
              <a:t>Tollywood</a:t>
            </a:r>
            <a:r>
              <a:rPr lang="en-US" sz="1200">
                <a:solidFill>
                  <a:srgbClr val="202122"/>
                </a:solidFill>
                <a:ea typeface="+mn-lt"/>
                <a:cs typeface="+mn-lt"/>
              </a:rPr>
              <a:t> and won him his third </a:t>
            </a:r>
            <a:r>
              <a:rPr lang="en-US" sz="1200">
                <a:solidFill>
                  <a:srgbClr val="3366CC"/>
                </a:solidFill>
                <a:ea typeface="+mn-lt"/>
                <a:cs typeface="+mn-lt"/>
                <a:hlinkClick r:id="rId160"/>
              </a:rPr>
              <a:t>Nandi Award for Best Actor</a:t>
            </a:r>
            <a:r>
              <a:rPr lang="en-US" sz="1200">
                <a:solidFill>
                  <a:srgbClr val="202122"/>
                </a:solidFill>
                <a:ea typeface="+mn-lt"/>
                <a:cs typeface="+mn-lt"/>
              </a:rPr>
              <a:t> and sixth Filmfare Award for Best Actor – Telugu. After that, he appeared in films with an underlying message and a social cause, including </a:t>
            </a:r>
            <a:r>
              <a:rPr lang="en-US" sz="1200" i="1">
                <a:solidFill>
                  <a:srgbClr val="3366CC"/>
                </a:solidFill>
                <a:ea typeface="+mn-lt"/>
                <a:cs typeface="+mn-lt"/>
                <a:hlinkClick r:id="rId44"/>
              </a:rPr>
              <a:t>Tagore</a:t>
            </a:r>
            <a:r>
              <a:rPr lang="en-US" sz="1200" i="1">
                <a:solidFill>
                  <a:srgbClr val="202122"/>
                </a:solidFill>
                <a:ea typeface="+mn-lt"/>
                <a:cs typeface="+mn-lt"/>
              </a:rPr>
              <a:t>;</a:t>
            </a:r>
            <a:r>
              <a:rPr lang="en-US" sz="1200">
                <a:solidFill>
                  <a:srgbClr val="202122"/>
                </a:solidFill>
                <a:ea typeface="+mn-lt"/>
                <a:cs typeface="+mn-lt"/>
              </a:rPr>
              <a:t> </a:t>
            </a:r>
            <a:r>
              <a:rPr lang="en-US" sz="1200" i="1">
                <a:solidFill>
                  <a:srgbClr val="3366CC"/>
                </a:solidFill>
                <a:ea typeface="+mn-lt"/>
                <a:cs typeface="+mn-lt"/>
                <a:hlinkClick r:id="rId45"/>
              </a:rPr>
              <a:t>Shankar Dada M.B.B.S.</a:t>
            </a:r>
            <a:r>
              <a:rPr lang="en-US" sz="1200">
                <a:solidFill>
                  <a:srgbClr val="202122"/>
                </a:solidFill>
                <a:ea typeface="+mn-lt"/>
                <a:cs typeface="+mn-lt"/>
              </a:rPr>
              <a:t>, for which he won his seventh and latest Filmfare Award for Best Actor – Telugu; and </a:t>
            </a:r>
            <a:r>
              <a:rPr lang="en-US" sz="1200" i="1">
                <a:solidFill>
                  <a:srgbClr val="3366CC"/>
                </a:solidFill>
                <a:ea typeface="+mn-lt"/>
                <a:cs typeface="+mn-lt"/>
                <a:hlinkClick r:id="rId201"/>
              </a:rPr>
              <a:t>Stalin</a:t>
            </a:r>
            <a:r>
              <a:rPr lang="en-US" sz="1200">
                <a:solidFill>
                  <a:srgbClr val="202122"/>
                </a:solidFill>
                <a:ea typeface="+mn-lt"/>
                <a:cs typeface="+mn-lt"/>
              </a:rPr>
              <a:t>. He was awarded the </a:t>
            </a:r>
            <a:r>
              <a:rPr lang="en-US" sz="1200">
                <a:solidFill>
                  <a:srgbClr val="3366CC"/>
                </a:solidFill>
                <a:ea typeface="+mn-lt"/>
                <a:cs typeface="+mn-lt"/>
                <a:hlinkClick r:id="rId16"/>
              </a:rPr>
              <a:t>Filmfare Special Award – South</a:t>
            </a:r>
            <a:r>
              <a:rPr lang="en-US" sz="1200">
                <a:solidFill>
                  <a:srgbClr val="202122"/>
                </a:solidFill>
                <a:ea typeface="+mn-lt"/>
                <a:cs typeface="+mn-lt"/>
              </a:rPr>
              <a:t> in 2006 and the </a:t>
            </a:r>
            <a:r>
              <a:rPr lang="en-US" sz="1200">
                <a:solidFill>
                  <a:srgbClr val="3366CC"/>
                </a:solidFill>
                <a:ea typeface="+mn-lt"/>
                <a:cs typeface="+mn-lt"/>
                <a:hlinkClick r:id="rId15"/>
              </a:rPr>
              <a:t>Filmfare Lifetime Achievement Award – South</a:t>
            </a:r>
            <a:r>
              <a:rPr lang="en-US" sz="1200">
                <a:solidFill>
                  <a:srgbClr val="202122"/>
                </a:solidFill>
                <a:ea typeface="+mn-lt"/>
                <a:cs typeface="+mn-lt"/>
              </a:rPr>
              <a:t> at the </a:t>
            </a:r>
            <a:r>
              <a:rPr lang="en-US" sz="1200">
                <a:solidFill>
                  <a:srgbClr val="3366CC"/>
                </a:solidFill>
                <a:ea typeface="+mn-lt"/>
                <a:cs typeface="+mn-lt"/>
                <a:hlinkClick r:id="rId202"/>
              </a:rPr>
              <a:t>58th Filmfare Awards South</a:t>
            </a:r>
            <a:r>
              <a:rPr lang="en-US" sz="1200">
                <a:solidFill>
                  <a:srgbClr val="202122"/>
                </a:solidFill>
                <a:ea typeface="+mn-lt"/>
                <a:cs typeface="+mn-lt"/>
              </a:rPr>
              <a:t> in 2011 for his contributions to the film industry.</a:t>
            </a:r>
            <a:r>
              <a:rPr lang="en-US" sz="1000" baseline="30000" dirty="0">
                <a:solidFill>
                  <a:srgbClr val="3366CC"/>
                </a:solidFill>
                <a:ea typeface="+mn-lt"/>
                <a:cs typeface="+mn-lt"/>
                <a:hlinkClick r:id="rId203"/>
              </a:rPr>
              <a:t>[47]</a:t>
            </a:r>
            <a:endParaRPr lang="en-US"/>
          </a:p>
          <a:p>
            <a:r>
              <a:rPr lang="en-US" b="1"/>
              <a:t>2008–2016: Hiatus in film career</a:t>
            </a:r>
            <a:endParaRPr lang="en-US"/>
          </a:p>
          <a:p>
            <a:r>
              <a:rPr lang="en-US" sz="1100">
                <a:solidFill>
                  <a:srgbClr val="202122"/>
                </a:solidFill>
                <a:ea typeface="+mn-lt"/>
                <a:cs typeface="+mn-lt"/>
              </a:rPr>
              <a:t>Chiranjeevi, </a:t>
            </a:r>
            <a:r>
              <a:rPr lang="en-US" sz="1100">
                <a:solidFill>
                  <a:srgbClr val="3366CC"/>
                </a:solidFill>
                <a:ea typeface="+mn-lt"/>
                <a:cs typeface="+mn-lt"/>
                <a:hlinkClick r:id="rId204"/>
              </a:rPr>
              <a:t>Vidya Balan</a:t>
            </a:r>
            <a:r>
              <a:rPr lang="en-US" sz="1100">
                <a:solidFill>
                  <a:srgbClr val="202122"/>
                </a:solidFill>
                <a:ea typeface="+mn-lt"/>
                <a:cs typeface="+mn-lt"/>
              </a:rPr>
              <a:t>, and </a:t>
            </a:r>
            <a:r>
              <a:rPr lang="en-US" sz="1100">
                <a:solidFill>
                  <a:srgbClr val="3366CC"/>
                </a:solidFill>
                <a:ea typeface="+mn-lt"/>
                <a:cs typeface="+mn-lt"/>
                <a:hlinkClick r:id="rId89"/>
              </a:rPr>
              <a:t>Ram Charan</a:t>
            </a:r>
            <a:r>
              <a:rPr lang="en-US" sz="1100">
                <a:solidFill>
                  <a:srgbClr val="202122"/>
                </a:solidFill>
                <a:ea typeface="+mn-lt"/>
                <a:cs typeface="+mn-lt"/>
              </a:rPr>
              <a:t> at "Incredible India" event in the </a:t>
            </a:r>
            <a:r>
              <a:rPr lang="en-US" sz="1100" dirty="0">
                <a:solidFill>
                  <a:srgbClr val="3366CC"/>
                </a:solidFill>
                <a:ea typeface="+mn-lt"/>
                <a:cs typeface="+mn-lt"/>
                <a:hlinkClick r:id="rId205"/>
              </a:rPr>
              <a:t>2013 Cannes Film Festival</a:t>
            </a:r>
            <a:endParaRPr lang="en-US"/>
          </a:p>
          <a:p>
            <a:r>
              <a:rPr lang="en-US" sz="1200">
                <a:solidFill>
                  <a:srgbClr val="202122"/>
                </a:solidFill>
                <a:ea typeface="+mn-lt"/>
                <a:cs typeface="+mn-lt"/>
              </a:rPr>
              <a:t>Following his last film in the lead role, 2007's </a:t>
            </a:r>
            <a:r>
              <a:rPr lang="en-US" sz="1200" i="1">
                <a:solidFill>
                  <a:srgbClr val="3366CC"/>
                </a:solidFill>
                <a:ea typeface="+mn-lt"/>
                <a:cs typeface="+mn-lt"/>
                <a:hlinkClick r:id="rId206"/>
              </a:rPr>
              <a:t>Shankar Dada Zindabad</a:t>
            </a:r>
            <a:r>
              <a:rPr lang="en-US" sz="1200">
                <a:solidFill>
                  <a:srgbClr val="202122"/>
                </a:solidFill>
                <a:ea typeface="+mn-lt"/>
                <a:cs typeface="+mn-lt"/>
              </a:rPr>
              <a:t>, Chiranjeevi did not star in any film for approximately 10 years, during which he embarked on his political career. During these 10 years, his appearances in films were limited to </a:t>
            </a:r>
            <a:r>
              <a:rPr lang="en-US" sz="1200">
                <a:solidFill>
                  <a:srgbClr val="3366CC"/>
                </a:solidFill>
                <a:ea typeface="+mn-lt"/>
                <a:cs typeface="+mn-lt"/>
                <a:hlinkClick r:id="rId207"/>
              </a:rPr>
              <a:t>cameo</a:t>
            </a:r>
            <a:r>
              <a:rPr lang="en-US" sz="1200">
                <a:solidFill>
                  <a:srgbClr val="202122"/>
                </a:solidFill>
                <a:ea typeface="+mn-lt"/>
                <a:cs typeface="+mn-lt"/>
              </a:rPr>
              <a:t> roles. He appeared as himself in two films, starring his son </a:t>
            </a:r>
            <a:r>
              <a:rPr lang="en-US" sz="1200">
                <a:solidFill>
                  <a:srgbClr val="3366CC"/>
                </a:solidFill>
                <a:ea typeface="+mn-lt"/>
                <a:cs typeface="+mn-lt"/>
                <a:hlinkClick r:id="rId89"/>
              </a:rPr>
              <a:t>Ram Charan</a:t>
            </a:r>
            <a:r>
              <a:rPr lang="en-US" sz="1200">
                <a:solidFill>
                  <a:srgbClr val="202122"/>
                </a:solidFill>
                <a:ea typeface="+mn-lt"/>
                <a:cs typeface="+mn-lt"/>
              </a:rPr>
              <a:t>, namely </a:t>
            </a:r>
            <a:r>
              <a:rPr lang="en-US" sz="1200" i="1">
                <a:solidFill>
                  <a:srgbClr val="3366CC"/>
                </a:solidFill>
                <a:ea typeface="+mn-lt"/>
                <a:cs typeface="+mn-lt"/>
                <a:hlinkClick r:id="rId208"/>
              </a:rPr>
              <a:t>Magadheera</a:t>
            </a:r>
            <a:r>
              <a:rPr lang="en-US" sz="1200">
                <a:solidFill>
                  <a:srgbClr val="202122"/>
                </a:solidFill>
                <a:ea typeface="+mn-lt"/>
                <a:cs typeface="+mn-lt"/>
              </a:rPr>
              <a:t> (2009) and </a:t>
            </a:r>
            <a:r>
              <a:rPr lang="en-US" sz="1200" i="1">
                <a:solidFill>
                  <a:srgbClr val="3366CC"/>
                </a:solidFill>
                <a:ea typeface="+mn-lt"/>
                <a:cs typeface="+mn-lt"/>
                <a:hlinkClick r:id="rId209"/>
              </a:rPr>
              <a:t>Bruce Lee: The Fighter</a:t>
            </a:r>
            <a:r>
              <a:rPr lang="en-US" sz="1200">
                <a:solidFill>
                  <a:srgbClr val="202122"/>
                </a:solidFill>
                <a:ea typeface="+mn-lt"/>
                <a:cs typeface="+mn-lt"/>
              </a:rPr>
              <a:t> (2015). He also narrated </a:t>
            </a:r>
            <a:r>
              <a:rPr lang="en-US" sz="1200" i="1">
                <a:solidFill>
                  <a:srgbClr val="3366CC"/>
                </a:solidFill>
                <a:ea typeface="+mn-lt"/>
                <a:cs typeface="+mn-lt"/>
                <a:hlinkClick r:id="rId210"/>
              </a:rPr>
              <a:t>Varudu</a:t>
            </a:r>
            <a:r>
              <a:rPr lang="en-US" sz="1200">
                <a:solidFill>
                  <a:srgbClr val="202122"/>
                </a:solidFill>
                <a:ea typeface="+mn-lt"/>
                <a:cs typeface="+mn-lt"/>
              </a:rPr>
              <a:t> (2010) and </a:t>
            </a:r>
            <a:r>
              <a:rPr lang="en-US" sz="1200" i="1">
                <a:solidFill>
                  <a:srgbClr val="3366CC"/>
                </a:solidFill>
                <a:ea typeface="+mn-lt"/>
                <a:cs typeface="+mn-lt"/>
                <a:hlinkClick r:id="rId211"/>
              </a:rPr>
              <a:t>Rudhramadevi</a:t>
            </a:r>
            <a:r>
              <a:rPr lang="en-US" sz="1200">
                <a:solidFill>
                  <a:srgbClr val="202122"/>
                </a:solidFill>
                <a:ea typeface="+mn-lt"/>
                <a:cs typeface="+mn-lt"/>
              </a:rPr>
              <a:t> (2015).</a:t>
            </a:r>
            <a:endParaRPr lang="en-US"/>
          </a:p>
          <a:p>
            <a:r>
              <a:rPr lang="en-US" b="1"/>
              <a:t>2017–present: Comeback</a:t>
            </a:r>
            <a:endParaRPr lang="en-US"/>
          </a:p>
          <a:p>
            <a:r>
              <a:rPr lang="en-US" sz="1200">
                <a:solidFill>
                  <a:srgbClr val="202122"/>
                </a:solidFill>
                <a:ea typeface="+mn-lt"/>
                <a:cs typeface="+mn-lt"/>
              </a:rPr>
              <a:t>From 2013 onwards, he was on the lookout for the right script to mark his comeback into cinema, in what would coincidentally happen to be his 150th film as an actor. A year following the release of the highly successful 2014 Tamil film </a:t>
            </a:r>
            <a:r>
              <a:rPr lang="en-US" sz="1200" i="1">
                <a:solidFill>
                  <a:srgbClr val="3366CC"/>
                </a:solidFill>
                <a:ea typeface="+mn-lt"/>
                <a:cs typeface="+mn-lt"/>
                <a:hlinkClick r:id="rId212"/>
              </a:rPr>
              <a:t>Kaththi</a:t>
            </a:r>
            <a:r>
              <a:rPr lang="en-US" sz="1200">
                <a:solidFill>
                  <a:srgbClr val="202122"/>
                </a:solidFill>
                <a:ea typeface="+mn-lt"/>
                <a:cs typeface="+mn-lt"/>
              </a:rPr>
              <a:t>, Chiranjeevi chose to remake that film in Telugu as his comeback film. The remake, titled </a:t>
            </a:r>
            <a:r>
              <a:rPr lang="en-US" sz="1200" i="1">
                <a:solidFill>
                  <a:srgbClr val="3366CC"/>
                </a:solidFill>
                <a:ea typeface="+mn-lt"/>
                <a:cs typeface="+mn-lt"/>
                <a:hlinkClick r:id="rId61"/>
              </a:rPr>
              <a:t>Khaidi No. 150</a:t>
            </a:r>
            <a:r>
              <a:rPr lang="en-US" sz="1200">
                <a:solidFill>
                  <a:srgbClr val="202122"/>
                </a:solidFill>
                <a:ea typeface="+mn-lt"/>
                <a:cs typeface="+mn-lt"/>
              </a:rPr>
              <a:t>, directed by </a:t>
            </a:r>
            <a:r>
              <a:rPr lang="en-US" sz="1200">
                <a:solidFill>
                  <a:srgbClr val="3366CC"/>
                </a:solidFill>
                <a:ea typeface="+mn-lt"/>
                <a:cs typeface="+mn-lt"/>
                <a:hlinkClick r:id="rId213"/>
              </a:rPr>
              <a:t>V. V. Vinayak</a:t>
            </a:r>
            <a:r>
              <a:rPr lang="en-US" sz="1200">
                <a:solidFill>
                  <a:srgbClr val="202122"/>
                </a:solidFill>
                <a:ea typeface="+mn-lt"/>
                <a:cs typeface="+mn-lt"/>
              </a:rPr>
              <a:t>, was released during the </a:t>
            </a:r>
            <a:r>
              <a:rPr lang="en-US" sz="1200">
                <a:solidFill>
                  <a:srgbClr val="3366CC"/>
                </a:solidFill>
                <a:ea typeface="+mn-lt"/>
                <a:cs typeface="+mn-lt"/>
                <a:hlinkClick r:id="rId214"/>
              </a:rPr>
              <a:t>Sankranti</a:t>
            </a:r>
            <a:r>
              <a:rPr lang="en-US" sz="1200">
                <a:solidFill>
                  <a:srgbClr val="202122"/>
                </a:solidFill>
                <a:ea typeface="+mn-lt"/>
                <a:cs typeface="+mn-lt"/>
              </a:rPr>
              <a:t> holiday in 2017, about six months short of a decade following </a:t>
            </a:r>
            <a:r>
              <a:rPr lang="en-US" sz="1200" i="1">
                <a:solidFill>
                  <a:srgbClr val="202122"/>
                </a:solidFill>
                <a:ea typeface="+mn-lt"/>
                <a:cs typeface="+mn-lt"/>
              </a:rPr>
              <a:t>Shankar Dada Zindabad</a:t>
            </a:r>
            <a:r>
              <a:rPr lang="en-US" sz="1200">
                <a:solidFill>
                  <a:srgbClr val="202122"/>
                </a:solidFill>
                <a:ea typeface="+mn-lt"/>
                <a:cs typeface="+mn-lt"/>
              </a:rPr>
              <a:t>, to positive reviews. Critics have singled out Chiranjeevi in particular, praising him for both his performance and appearance, especially following a decade of absence from cinema.</a:t>
            </a:r>
            <a:r>
              <a:rPr lang="en-US" sz="1000" baseline="30000">
                <a:solidFill>
                  <a:srgbClr val="3366CC"/>
                </a:solidFill>
                <a:ea typeface="+mn-lt"/>
                <a:cs typeface="+mn-lt"/>
                <a:hlinkClick r:id="rId215"/>
              </a:rPr>
              <a:t>[48]</a:t>
            </a:r>
            <a:r>
              <a:rPr lang="en-US" sz="1000" baseline="30000">
                <a:solidFill>
                  <a:srgbClr val="3366CC"/>
                </a:solidFill>
                <a:ea typeface="+mn-lt"/>
                <a:cs typeface="+mn-lt"/>
                <a:hlinkClick r:id="rId216"/>
              </a:rPr>
              <a:t>[49]</a:t>
            </a:r>
            <a:r>
              <a:rPr lang="en-US" sz="1200">
                <a:solidFill>
                  <a:srgbClr val="202122"/>
                </a:solidFill>
                <a:ea typeface="+mn-lt"/>
                <a:cs typeface="+mn-lt"/>
              </a:rPr>
              <a:t> The movie collected ₹41.75 </a:t>
            </a:r>
            <a:r>
              <a:rPr lang="en-US" sz="1200">
                <a:solidFill>
                  <a:srgbClr val="3366CC"/>
                </a:solidFill>
                <a:ea typeface="+mn-lt"/>
                <a:cs typeface="+mn-lt"/>
                <a:hlinkClick r:id="rId29"/>
              </a:rPr>
              <a:t>crore</a:t>
            </a:r>
            <a:r>
              <a:rPr lang="en-US" sz="1200">
                <a:solidFill>
                  <a:srgbClr val="202122"/>
                </a:solidFill>
                <a:ea typeface="+mn-lt"/>
                <a:cs typeface="+mn-lt"/>
              </a:rPr>
              <a:t> on its opening day</a:t>
            </a:r>
            <a:r>
              <a:rPr lang="en-US" sz="1000" baseline="30000">
                <a:solidFill>
                  <a:srgbClr val="3366CC"/>
                </a:solidFill>
                <a:ea typeface="+mn-lt"/>
                <a:cs typeface="+mn-lt"/>
                <a:hlinkClick r:id="rId217"/>
              </a:rPr>
              <a:t>[50]</a:t>
            </a:r>
            <a:r>
              <a:rPr lang="en-US" sz="1200">
                <a:solidFill>
                  <a:srgbClr val="202122"/>
                </a:solidFill>
                <a:ea typeface="+mn-lt"/>
                <a:cs typeface="+mn-lt"/>
              </a:rPr>
              <a:t> and grossed ₹164 crore in its lifetime.</a:t>
            </a:r>
            <a:r>
              <a:rPr lang="en-US" sz="1000" baseline="30000">
                <a:solidFill>
                  <a:srgbClr val="3366CC"/>
                </a:solidFill>
                <a:ea typeface="+mn-lt"/>
                <a:cs typeface="+mn-lt"/>
                <a:hlinkClick r:id="rId218"/>
              </a:rPr>
              <a:t>[51]</a:t>
            </a:r>
            <a:r>
              <a:rPr lang="en-US" sz="1200">
                <a:solidFill>
                  <a:srgbClr val="202122"/>
                </a:solidFill>
                <a:ea typeface="+mn-lt"/>
                <a:cs typeface="+mn-lt"/>
              </a:rPr>
              <a:t> In 2019, he starred in his first </a:t>
            </a:r>
            <a:r>
              <a:rPr lang="en-US" sz="1200">
                <a:solidFill>
                  <a:srgbClr val="3366CC"/>
                </a:solidFill>
                <a:ea typeface="+mn-lt"/>
                <a:cs typeface="+mn-lt"/>
                <a:hlinkClick r:id="rId219"/>
              </a:rPr>
              <a:t>period film</a:t>
            </a:r>
            <a:r>
              <a:rPr lang="en-US" sz="1200">
                <a:solidFill>
                  <a:srgbClr val="202122"/>
                </a:solidFill>
                <a:ea typeface="+mn-lt"/>
                <a:cs typeface="+mn-lt"/>
              </a:rPr>
              <a:t> </a:t>
            </a:r>
            <a:r>
              <a:rPr lang="en-US" sz="1200" i="1">
                <a:solidFill>
                  <a:srgbClr val="3366CC"/>
                </a:solidFill>
                <a:ea typeface="+mn-lt"/>
                <a:cs typeface="+mn-lt"/>
                <a:hlinkClick r:id="rId62"/>
              </a:rPr>
              <a:t>Sye Raa Narasimha Reddy</a:t>
            </a:r>
            <a:r>
              <a:rPr lang="en-US" sz="1200">
                <a:solidFill>
                  <a:srgbClr val="202122"/>
                </a:solidFill>
                <a:ea typeface="+mn-lt"/>
                <a:cs typeface="+mn-lt"/>
              </a:rPr>
              <a:t> based on the life of </a:t>
            </a:r>
            <a:r>
              <a:rPr lang="en-US" sz="1200">
                <a:solidFill>
                  <a:srgbClr val="3366CC"/>
                </a:solidFill>
                <a:ea typeface="+mn-lt"/>
                <a:cs typeface="+mn-lt"/>
                <a:hlinkClick r:id="rId220"/>
              </a:rPr>
              <a:t>Uyyalawada Narasimha Reddy</a:t>
            </a:r>
            <a:r>
              <a:rPr lang="en-US" sz="1200">
                <a:solidFill>
                  <a:srgbClr val="202122"/>
                </a:solidFill>
                <a:ea typeface="+mn-lt"/>
                <a:cs typeface="+mn-lt"/>
              </a:rPr>
              <a:t>; it was directed by </a:t>
            </a:r>
            <a:r>
              <a:rPr lang="en-US" sz="1200">
                <a:solidFill>
                  <a:srgbClr val="3366CC"/>
                </a:solidFill>
                <a:ea typeface="+mn-lt"/>
                <a:cs typeface="+mn-lt"/>
                <a:hlinkClick r:id="rId221"/>
              </a:rPr>
              <a:t>Surender Reddy</a:t>
            </a:r>
            <a:r>
              <a:rPr lang="en-US" sz="1200">
                <a:solidFill>
                  <a:srgbClr val="202122"/>
                </a:solidFill>
                <a:ea typeface="+mn-lt"/>
                <a:cs typeface="+mn-lt"/>
              </a:rPr>
              <a:t>. The movie made on a budget more than ₹200–270 crore,</a:t>
            </a:r>
            <a:r>
              <a:rPr lang="en-US" sz="1000" baseline="30000">
                <a:solidFill>
                  <a:srgbClr val="3366CC"/>
                </a:solidFill>
                <a:ea typeface="+mn-lt"/>
                <a:cs typeface="+mn-lt"/>
                <a:hlinkClick r:id="rId222"/>
              </a:rPr>
              <a:t>[52]</a:t>
            </a:r>
            <a:r>
              <a:rPr lang="en-US" sz="1200">
                <a:solidFill>
                  <a:srgbClr val="202122"/>
                </a:solidFill>
                <a:ea typeface="+mn-lt"/>
                <a:cs typeface="+mn-lt"/>
              </a:rPr>
              <a:t> grossed more than ₹240 crore (equivalent to ₹337 crore or US$40 million in 2023) in its theatrical run.</a:t>
            </a:r>
            <a:r>
              <a:rPr lang="en-US" sz="1000" baseline="30000" dirty="0">
                <a:solidFill>
                  <a:srgbClr val="3366CC"/>
                </a:solidFill>
                <a:ea typeface="+mn-lt"/>
                <a:cs typeface="+mn-lt"/>
                <a:hlinkClick r:id="rId223"/>
              </a:rPr>
              <a:t>[53]</a:t>
            </a:r>
            <a:endParaRPr lang="en-US"/>
          </a:p>
          <a:p>
            <a:r>
              <a:rPr lang="en-US" sz="1200">
                <a:solidFill>
                  <a:srgbClr val="202122"/>
                </a:solidFill>
                <a:ea typeface="+mn-lt"/>
                <a:cs typeface="+mn-lt"/>
              </a:rPr>
              <a:t>Chiranjeevi had two releases in 2022. His first film was </a:t>
            </a:r>
            <a:r>
              <a:rPr lang="en-US" sz="1200" i="1">
                <a:solidFill>
                  <a:srgbClr val="3366CC"/>
                </a:solidFill>
                <a:ea typeface="+mn-lt"/>
                <a:cs typeface="+mn-lt"/>
                <a:hlinkClick r:id="rId224"/>
              </a:rPr>
              <a:t>Acharya</a:t>
            </a:r>
            <a:r>
              <a:rPr lang="en-US" sz="1200">
                <a:solidFill>
                  <a:srgbClr val="202122"/>
                </a:solidFill>
                <a:ea typeface="+mn-lt"/>
                <a:cs typeface="+mn-lt"/>
              </a:rPr>
              <a:t> directed by </a:t>
            </a:r>
            <a:r>
              <a:rPr lang="en-US" sz="1200">
                <a:solidFill>
                  <a:srgbClr val="3366CC"/>
                </a:solidFill>
                <a:ea typeface="+mn-lt"/>
                <a:cs typeface="+mn-lt"/>
                <a:hlinkClick r:id="rId225"/>
              </a:rPr>
              <a:t>Koratala Siva</a:t>
            </a:r>
            <a:r>
              <a:rPr lang="en-US" sz="1200">
                <a:solidFill>
                  <a:srgbClr val="202122"/>
                </a:solidFill>
                <a:ea typeface="+mn-lt"/>
                <a:cs typeface="+mn-lt"/>
              </a:rPr>
              <a:t> co-starring Chiranjeevi's son </a:t>
            </a:r>
            <a:r>
              <a:rPr lang="en-US" sz="1200">
                <a:solidFill>
                  <a:srgbClr val="3366CC"/>
                </a:solidFill>
                <a:ea typeface="+mn-lt"/>
                <a:cs typeface="+mn-lt"/>
                <a:hlinkClick r:id="rId89"/>
              </a:rPr>
              <a:t>Ram Charan</a:t>
            </a:r>
            <a:r>
              <a:rPr lang="en-US" sz="1200">
                <a:solidFill>
                  <a:srgbClr val="202122"/>
                </a:solidFill>
                <a:ea typeface="+mn-lt"/>
                <a:cs typeface="+mn-lt"/>
              </a:rPr>
              <a:t>. His second release was </a:t>
            </a:r>
            <a:r>
              <a:rPr lang="en-US" sz="1200" i="1">
                <a:solidFill>
                  <a:srgbClr val="3366CC"/>
                </a:solidFill>
                <a:ea typeface="+mn-lt"/>
                <a:cs typeface="+mn-lt"/>
                <a:hlinkClick r:id="rId226"/>
              </a:rPr>
              <a:t>GodFather</a:t>
            </a:r>
            <a:r>
              <a:rPr lang="en-US" sz="1200">
                <a:solidFill>
                  <a:srgbClr val="202122"/>
                </a:solidFill>
                <a:ea typeface="+mn-lt"/>
                <a:cs typeface="+mn-lt"/>
              </a:rPr>
              <a:t> directed by </a:t>
            </a:r>
            <a:r>
              <a:rPr lang="en-US" sz="1200">
                <a:solidFill>
                  <a:srgbClr val="3366CC"/>
                </a:solidFill>
                <a:ea typeface="+mn-lt"/>
                <a:cs typeface="+mn-lt"/>
                <a:hlinkClick r:id="rId227"/>
              </a:rPr>
              <a:t>Mohan Raja</a:t>
            </a:r>
            <a:r>
              <a:rPr lang="en-US" sz="1200">
                <a:solidFill>
                  <a:srgbClr val="202122"/>
                </a:solidFill>
                <a:ea typeface="+mn-lt"/>
                <a:cs typeface="+mn-lt"/>
              </a:rPr>
              <a:t>. The film had </a:t>
            </a:r>
            <a:r>
              <a:rPr lang="en-US" sz="1200">
                <a:solidFill>
                  <a:srgbClr val="3366CC"/>
                </a:solidFill>
                <a:ea typeface="+mn-lt"/>
                <a:cs typeface="+mn-lt"/>
                <a:hlinkClick r:id="rId228"/>
              </a:rPr>
              <a:t>Salman Khan</a:t>
            </a:r>
            <a:r>
              <a:rPr lang="en-US" sz="1200">
                <a:solidFill>
                  <a:srgbClr val="202122"/>
                </a:solidFill>
                <a:ea typeface="+mn-lt"/>
                <a:cs typeface="+mn-lt"/>
              </a:rPr>
              <a:t> in an extended cameo role and was largely successful. </a:t>
            </a:r>
            <a:r>
              <a:rPr lang="en-US" sz="1200" i="1">
                <a:solidFill>
                  <a:srgbClr val="202122"/>
                </a:solidFill>
                <a:ea typeface="+mn-lt"/>
                <a:cs typeface="+mn-lt"/>
              </a:rPr>
              <a:t>GodFather</a:t>
            </a:r>
            <a:r>
              <a:rPr lang="en-US" sz="1200">
                <a:solidFill>
                  <a:srgbClr val="202122"/>
                </a:solidFill>
                <a:ea typeface="+mn-lt"/>
                <a:cs typeface="+mn-lt"/>
              </a:rPr>
              <a:t> subsequently released on </a:t>
            </a:r>
            <a:r>
              <a:rPr lang="en-US" sz="1200">
                <a:solidFill>
                  <a:srgbClr val="3366CC"/>
                </a:solidFill>
                <a:ea typeface="+mn-lt"/>
                <a:cs typeface="+mn-lt"/>
                <a:hlinkClick r:id="rId229"/>
              </a:rPr>
              <a:t>Netflix</a:t>
            </a:r>
            <a:r>
              <a:rPr lang="en-US" sz="1200">
                <a:solidFill>
                  <a:srgbClr val="202122"/>
                </a:solidFill>
                <a:ea typeface="+mn-lt"/>
                <a:cs typeface="+mn-lt"/>
              </a:rPr>
              <a:t>.</a:t>
            </a:r>
            <a:r>
              <a:rPr lang="en-US" sz="1000" baseline="30000" dirty="0">
                <a:solidFill>
                  <a:srgbClr val="3366CC"/>
                </a:solidFill>
                <a:ea typeface="+mn-lt"/>
                <a:cs typeface="+mn-lt"/>
                <a:hlinkClick r:id="rId230"/>
              </a:rPr>
              <a:t>[54]</a:t>
            </a:r>
            <a:endParaRPr lang="en-US"/>
          </a:p>
          <a:p>
            <a:r>
              <a:rPr lang="en-US" sz="1200">
                <a:solidFill>
                  <a:srgbClr val="202122"/>
                </a:solidFill>
                <a:ea typeface="+mn-lt"/>
                <a:cs typeface="+mn-lt"/>
              </a:rPr>
              <a:t>Also in 2022, Chiranjeevi's performance as </a:t>
            </a:r>
            <a:r>
              <a:rPr lang="en-US" sz="1200">
                <a:solidFill>
                  <a:srgbClr val="3366CC"/>
                </a:solidFill>
                <a:ea typeface="+mn-lt"/>
                <a:cs typeface="+mn-lt"/>
                <a:hlinkClick r:id="rId231"/>
              </a:rPr>
              <a:t>Batman</a:t>
            </a:r>
            <a:r>
              <a:rPr lang="en-US" sz="1200">
                <a:solidFill>
                  <a:srgbClr val="202122"/>
                </a:solidFill>
                <a:ea typeface="+mn-lt"/>
                <a:cs typeface="+mn-lt"/>
              </a:rPr>
              <a:t> in the song "Vana Gadiyaramlo" from </a:t>
            </a:r>
            <a:r>
              <a:rPr lang="en-US" sz="1200" i="1">
                <a:solidFill>
                  <a:srgbClr val="3366CC"/>
                </a:solidFill>
                <a:ea typeface="+mn-lt"/>
                <a:cs typeface="+mn-lt"/>
                <a:hlinkClick r:id="rId190"/>
              </a:rPr>
              <a:t>Muta Mestri</a:t>
            </a:r>
            <a:r>
              <a:rPr lang="en-US" sz="1200">
                <a:solidFill>
                  <a:srgbClr val="202122"/>
                </a:solidFill>
                <a:ea typeface="+mn-lt"/>
                <a:cs typeface="+mn-lt"/>
              </a:rPr>
              <a:t> went vial, boosting global interest Chiranjeevi and in the performance.</a:t>
            </a:r>
            <a:r>
              <a:rPr lang="en-US" sz="1000" baseline="30000" dirty="0">
                <a:solidFill>
                  <a:srgbClr val="3366CC"/>
                </a:solidFill>
                <a:ea typeface="+mn-lt"/>
                <a:cs typeface="+mn-lt"/>
                <a:hlinkClick r:id="rId232"/>
              </a:rPr>
              <a:t>[55]</a:t>
            </a:r>
            <a:endParaRPr lang="en-US"/>
          </a:p>
          <a:p>
            <a:r>
              <a:rPr lang="en-US" sz="1200">
                <a:solidFill>
                  <a:srgbClr val="202122"/>
                </a:solidFill>
                <a:ea typeface="+mn-lt"/>
                <a:cs typeface="+mn-lt"/>
              </a:rPr>
              <a:t>Chiranjeevi then starred in the 2023 film </a:t>
            </a:r>
            <a:r>
              <a:rPr lang="en-US" sz="1200" i="1">
                <a:solidFill>
                  <a:srgbClr val="3366CC"/>
                </a:solidFill>
                <a:ea typeface="+mn-lt"/>
                <a:cs typeface="+mn-lt"/>
                <a:hlinkClick r:id="rId63"/>
              </a:rPr>
              <a:t>Waltair Veerayya</a:t>
            </a:r>
            <a:r>
              <a:rPr lang="en-US" sz="1200">
                <a:solidFill>
                  <a:srgbClr val="202122"/>
                </a:solidFill>
                <a:ea typeface="+mn-lt"/>
                <a:cs typeface="+mn-lt"/>
              </a:rPr>
              <a:t> directed by </a:t>
            </a:r>
            <a:r>
              <a:rPr lang="en-US" sz="1200">
                <a:solidFill>
                  <a:srgbClr val="3366CC"/>
                </a:solidFill>
                <a:ea typeface="+mn-lt"/>
                <a:cs typeface="+mn-lt"/>
                <a:hlinkClick r:id="rId233"/>
              </a:rPr>
              <a:t>Bobby Kolli</a:t>
            </a:r>
            <a:r>
              <a:rPr lang="en-US" sz="1200">
                <a:solidFill>
                  <a:srgbClr val="202122"/>
                </a:solidFill>
                <a:ea typeface="+mn-lt"/>
                <a:cs typeface="+mn-lt"/>
              </a:rPr>
              <a:t> which released during the </a:t>
            </a:r>
            <a:r>
              <a:rPr lang="en-US" sz="1200">
                <a:solidFill>
                  <a:srgbClr val="3366CC"/>
                </a:solidFill>
                <a:ea typeface="+mn-lt"/>
                <a:cs typeface="+mn-lt"/>
                <a:hlinkClick r:id="rId234"/>
              </a:rPr>
              <a:t>Sankranti</a:t>
            </a:r>
            <a:r>
              <a:rPr lang="en-US" sz="1200">
                <a:solidFill>
                  <a:srgbClr val="202122"/>
                </a:solidFill>
                <a:ea typeface="+mn-lt"/>
                <a:cs typeface="+mn-lt"/>
              </a:rPr>
              <a:t> festival. The film also starred </a:t>
            </a:r>
            <a:r>
              <a:rPr lang="en-US" sz="1200">
                <a:solidFill>
                  <a:srgbClr val="3366CC"/>
                </a:solidFill>
                <a:ea typeface="+mn-lt"/>
                <a:cs typeface="+mn-lt"/>
                <a:hlinkClick r:id="rId235"/>
              </a:rPr>
              <a:t>Ravi Teja</a:t>
            </a:r>
            <a:r>
              <a:rPr lang="en-US" sz="1200">
                <a:solidFill>
                  <a:srgbClr val="202122"/>
                </a:solidFill>
                <a:ea typeface="+mn-lt"/>
                <a:cs typeface="+mn-lt"/>
              </a:rPr>
              <a:t> in an important role, reuniting them on screen after 23 years since the 2000 film </a:t>
            </a:r>
            <a:r>
              <a:rPr lang="en-US" sz="1200" i="1">
                <a:solidFill>
                  <a:srgbClr val="3366CC"/>
                </a:solidFill>
                <a:ea typeface="+mn-lt"/>
                <a:cs typeface="+mn-lt"/>
                <a:hlinkClick r:id="rId200"/>
              </a:rPr>
              <a:t>Annayya</a:t>
            </a:r>
            <a:r>
              <a:rPr lang="en-US" sz="1200">
                <a:solidFill>
                  <a:srgbClr val="202122"/>
                </a:solidFill>
                <a:ea typeface="+mn-lt"/>
                <a:cs typeface="+mn-lt"/>
              </a:rPr>
              <a:t>. The film met huge commercial success. </a:t>
            </a:r>
            <a:r>
              <a:rPr lang="en-US" sz="1200" i="1">
                <a:solidFill>
                  <a:srgbClr val="202122"/>
                </a:solidFill>
                <a:ea typeface="+mn-lt"/>
                <a:cs typeface="+mn-lt"/>
              </a:rPr>
              <a:t>Waltair Veerayya</a:t>
            </a:r>
            <a:r>
              <a:rPr lang="en-US" sz="1200">
                <a:solidFill>
                  <a:srgbClr val="202122"/>
                </a:solidFill>
                <a:ea typeface="+mn-lt"/>
                <a:cs typeface="+mn-lt"/>
              </a:rPr>
              <a:t> later released on Netflix for streaming.</a:t>
            </a:r>
            <a:r>
              <a:rPr lang="en-US" sz="1000" baseline="30000">
                <a:solidFill>
                  <a:srgbClr val="3366CC"/>
                </a:solidFill>
                <a:ea typeface="+mn-lt"/>
                <a:cs typeface="+mn-lt"/>
                <a:hlinkClick r:id="rId236"/>
              </a:rPr>
              <a:t>[56]</a:t>
            </a:r>
            <a:r>
              <a:rPr lang="en-US" sz="1200">
                <a:solidFill>
                  <a:srgbClr val="202122"/>
                </a:solidFill>
                <a:ea typeface="+mn-lt"/>
                <a:cs typeface="+mn-lt"/>
              </a:rPr>
              <a:t> In the same year, he also appeared in </a:t>
            </a:r>
            <a:r>
              <a:rPr lang="en-US" sz="1200" i="1">
                <a:solidFill>
                  <a:srgbClr val="3366CC"/>
                </a:solidFill>
                <a:ea typeface="+mn-lt"/>
                <a:cs typeface="+mn-lt"/>
                <a:hlinkClick r:id="rId237"/>
              </a:rPr>
              <a:t>Bhola Shankar</a:t>
            </a:r>
            <a:r>
              <a:rPr lang="en-US" sz="1200">
                <a:solidFill>
                  <a:srgbClr val="202122"/>
                </a:solidFill>
                <a:ea typeface="+mn-lt"/>
                <a:cs typeface="+mn-lt"/>
              </a:rPr>
              <a:t>, a remake of the 2015 Tamil blockbuster, </a:t>
            </a:r>
            <a:r>
              <a:rPr lang="en-US" sz="1200" i="1">
                <a:solidFill>
                  <a:srgbClr val="3366CC"/>
                </a:solidFill>
                <a:ea typeface="+mn-lt"/>
                <a:cs typeface="+mn-lt"/>
                <a:hlinkClick r:id="rId238"/>
              </a:rPr>
              <a:t>Vedalam</a:t>
            </a:r>
            <a:r>
              <a:rPr lang="en-US" sz="1200">
                <a:solidFill>
                  <a:srgbClr val="202122"/>
                </a:solidFill>
                <a:ea typeface="+mn-lt"/>
                <a:cs typeface="+mn-lt"/>
              </a:rPr>
              <a:t>. However, it opened to unanimously negative reviews and was a huge disaster at the box-office.</a:t>
            </a:r>
            <a:r>
              <a:rPr lang="en-US" sz="1000" baseline="30000" dirty="0">
                <a:solidFill>
                  <a:srgbClr val="3366CC"/>
                </a:solidFill>
                <a:ea typeface="+mn-lt"/>
                <a:cs typeface="+mn-lt"/>
                <a:hlinkClick r:id="rId239"/>
              </a:rPr>
              <a:t>[57]</a:t>
            </a:r>
            <a:endParaRPr lang="en-US"/>
          </a:p>
          <a:p>
            <a:r>
              <a:rPr lang="en-US" sz="1200">
                <a:solidFill>
                  <a:srgbClr val="202122"/>
                </a:solidFill>
                <a:ea typeface="+mn-lt"/>
                <a:cs typeface="+mn-lt"/>
              </a:rPr>
              <a:t>He announced his next film, </a:t>
            </a:r>
            <a:r>
              <a:rPr lang="en-US" sz="1200" i="1">
                <a:solidFill>
                  <a:srgbClr val="3366CC"/>
                </a:solidFill>
                <a:ea typeface="+mn-lt"/>
                <a:cs typeface="+mn-lt"/>
                <a:hlinkClick r:id="rId240"/>
              </a:rPr>
              <a:t>Vishwambhara</a:t>
            </a:r>
            <a:r>
              <a:rPr lang="en-US" sz="1200">
                <a:solidFill>
                  <a:srgbClr val="202122"/>
                </a:solidFill>
                <a:ea typeface="+mn-lt"/>
                <a:cs typeface="+mn-lt"/>
              </a:rPr>
              <a:t> (2025), with </a:t>
            </a:r>
            <a:r>
              <a:rPr lang="en-US" sz="1200">
                <a:solidFill>
                  <a:srgbClr val="3366CC"/>
                </a:solidFill>
                <a:ea typeface="+mn-lt"/>
                <a:cs typeface="+mn-lt"/>
                <a:hlinkClick r:id="rId241"/>
              </a:rPr>
              <a:t>Mallidi Vassishta</a:t>
            </a:r>
            <a:r>
              <a:rPr lang="en-US" sz="1200">
                <a:solidFill>
                  <a:srgbClr val="202122"/>
                </a:solidFill>
                <a:ea typeface="+mn-lt"/>
                <a:cs typeface="+mn-lt"/>
              </a:rPr>
              <a:t> of </a:t>
            </a:r>
            <a:r>
              <a:rPr lang="en-US" sz="1200" i="1">
                <a:solidFill>
                  <a:srgbClr val="3366CC"/>
                </a:solidFill>
                <a:ea typeface="+mn-lt"/>
                <a:cs typeface="+mn-lt"/>
                <a:hlinkClick r:id="rId242"/>
              </a:rPr>
              <a:t>Bimbisara</a:t>
            </a:r>
            <a:r>
              <a:rPr lang="en-US" sz="1200">
                <a:solidFill>
                  <a:srgbClr val="202122"/>
                </a:solidFill>
                <a:ea typeface="+mn-lt"/>
                <a:cs typeface="+mn-lt"/>
              </a:rPr>
              <a:t> (2022) fame.</a:t>
            </a:r>
            <a:endParaRPr lang="en-US"/>
          </a:p>
          <a:p>
            <a:r>
              <a:rPr lang="en-US"/>
              <a:t>Other work</a:t>
            </a:r>
          </a:p>
          <a:p>
            <a:r>
              <a:rPr lang="en-US" sz="1200">
                <a:solidFill>
                  <a:srgbClr val="202122"/>
                </a:solidFill>
                <a:ea typeface="+mn-lt"/>
                <a:cs typeface="+mn-lt"/>
              </a:rPr>
              <a:t>Chiranjeevi is one of the co-owners of the </a:t>
            </a:r>
            <a:r>
              <a:rPr lang="en-US" sz="1200">
                <a:solidFill>
                  <a:srgbClr val="3366CC"/>
                </a:solidFill>
                <a:ea typeface="+mn-lt"/>
                <a:cs typeface="+mn-lt"/>
                <a:hlinkClick r:id="rId243"/>
              </a:rPr>
              <a:t>Indian Super League</a:t>
            </a:r>
            <a:r>
              <a:rPr lang="en-US" sz="1200">
                <a:solidFill>
                  <a:srgbClr val="202122"/>
                </a:solidFill>
                <a:ea typeface="+mn-lt"/>
                <a:cs typeface="+mn-lt"/>
              </a:rPr>
              <a:t> club </a:t>
            </a:r>
            <a:r>
              <a:rPr lang="en-US" sz="1200">
                <a:solidFill>
                  <a:srgbClr val="3366CC"/>
                </a:solidFill>
                <a:ea typeface="+mn-lt"/>
                <a:cs typeface="+mn-lt"/>
                <a:hlinkClick r:id="rId244"/>
              </a:rPr>
              <a:t>Kerala Blasters FC</a:t>
            </a:r>
            <a:r>
              <a:rPr lang="en-US" sz="1200">
                <a:solidFill>
                  <a:srgbClr val="202122"/>
                </a:solidFill>
                <a:ea typeface="+mn-lt"/>
                <a:cs typeface="+mn-lt"/>
              </a:rPr>
              <a:t>.</a:t>
            </a:r>
            <a:r>
              <a:rPr lang="en-US" sz="1000" baseline="30000" dirty="0">
                <a:solidFill>
                  <a:srgbClr val="3366CC"/>
                </a:solidFill>
                <a:ea typeface="+mn-lt"/>
                <a:cs typeface="+mn-lt"/>
                <a:hlinkClick r:id="rId245"/>
              </a:rPr>
              <a:t>[58]</a:t>
            </a:r>
            <a:endParaRPr lang="en-US"/>
          </a:p>
          <a:p>
            <a:r>
              <a:rPr lang="en-US" b="1"/>
              <a:t>Television career</a:t>
            </a:r>
            <a:endParaRPr lang="en-US"/>
          </a:p>
          <a:p>
            <a:r>
              <a:rPr lang="en-US" sz="1200">
                <a:solidFill>
                  <a:srgbClr val="202122"/>
                </a:solidFill>
                <a:ea typeface="+mn-lt"/>
                <a:cs typeface="+mn-lt"/>
              </a:rPr>
              <a:t>Chiranjeevi made his debut as a Television host with the fourth season of </a:t>
            </a:r>
            <a:r>
              <a:rPr lang="en-US" sz="1200" i="1">
                <a:solidFill>
                  <a:srgbClr val="3366CC"/>
                </a:solidFill>
                <a:ea typeface="+mn-lt"/>
                <a:cs typeface="+mn-lt"/>
                <a:hlinkClick r:id="rId246"/>
              </a:rPr>
              <a:t>Meelo Evaru Koteeswarudu</a:t>
            </a:r>
            <a:r>
              <a:rPr lang="en-US" sz="1200">
                <a:solidFill>
                  <a:srgbClr val="202122"/>
                </a:solidFill>
                <a:ea typeface="+mn-lt"/>
                <a:cs typeface="+mn-lt"/>
              </a:rPr>
              <a:t>. The first episode of the fourth season was aired on 13 February 2017 on </a:t>
            </a:r>
            <a:r>
              <a:rPr lang="en-US" sz="1200">
                <a:solidFill>
                  <a:srgbClr val="3366CC"/>
                </a:solidFill>
                <a:ea typeface="+mn-lt"/>
                <a:cs typeface="+mn-lt"/>
                <a:hlinkClick r:id="rId247"/>
              </a:rPr>
              <a:t>Star Maa</a:t>
            </a:r>
            <a:r>
              <a:rPr lang="en-US" sz="1200">
                <a:solidFill>
                  <a:srgbClr val="202122"/>
                </a:solidFill>
                <a:ea typeface="+mn-lt"/>
                <a:cs typeface="+mn-lt"/>
              </a:rPr>
              <a:t>. The game show is a Telugu-language adaptation of </a:t>
            </a:r>
            <a:r>
              <a:rPr lang="en-US" sz="1200" i="1">
                <a:solidFill>
                  <a:srgbClr val="3366CC"/>
                </a:solidFill>
                <a:ea typeface="+mn-lt"/>
                <a:cs typeface="+mn-lt"/>
                <a:hlinkClick r:id="rId248"/>
              </a:rPr>
              <a:t>Who Wants to Be a Millionaire?</a:t>
            </a:r>
            <a:r>
              <a:rPr lang="en-US" sz="1200">
                <a:solidFill>
                  <a:srgbClr val="202122"/>
                </a:solidFill>
                <a:ea typeface="+mn-lt"/>
                <a:cs typeface="+mn-lt"/>
              </a:rPr>
              <a:t>.</a:t>
            </a:r>
            <a:r>
              <a:rPr lang="en-US" sz="1000" baseline="30000" dirty="0">
                <a:solidFill>
                  <a:srgbClr val="3366CC"/>
                </a:solidFill>
                <a:ea typeface="+mn-lt"/>
                <a:cs typeface="+mn-lt"/>
                <a:hlinkClick r:id="rId249"/>
              </a:rPr>
              <a:t>[59]</a:t>
            </a:r>
            <a:endParaRPr lang="en-US"/>
          </a:p>
          <a:p>
            <a:r>
              <a:rPr lang="en-US"/>
              <a:t>Political career</a:t>
            </a:r>
          </a:p>
          <a:p>
            <a:r>
              <a:rPr lang="en-US" sz="1200">
                <a:solidFill>
                  <a:srgbClr val="202122"/>
                </a:solidFill>
                <a:ea typeface="+mn-lt"/>
                <a:cs typeface="+mn-lt"/>
              </a:rPr>
              <a:t>In August 2008, Chiranjeevi launched his </a:t>
            </a:r>
            <a:r>
              <a:rPr lang="en-US" sz="1200">
                <a:solidFill>
                  <a:srgbClr val="3366CC"/>
                </a:solidFill>
                <a:ea typeface="+mn-lt"/>
                <a:cs typeface="+mn-lt"/>
                <a:hlinkClick r:id="rId250"/>
              </a:rPr>
              <a:t>political party</a:t>
            </a:r>
            <a:r>
              <a:rPr lang="en-US" sz="1200">
                <a:solidFill>
                  <a:srgbClr val="202122"/>
                </a:solidFill>
                <a:ea typeface="+mn-lt"/>
                <a:cs typeface="+mn-lt"/>
              </a:rPr>
              <a:t>, </a:t>
            </a:r>
            <a:r>
              <a:rPr lang="en-US" sz="1200">
                <a:solidFill>
                  <a:srgbClr val="3366CC"/>
                </a:solidFill>
                <a:ea typeface="+mn-lt"/>
                <a:cs typeface="+mn-lt"/>
                <a:hlinkClick r:id="rId55"/>
              </a:rPr>
              <a:t>Praja Rajyam Party</a:t>
            </a:r>
            <a:r>
              <a:rPr lang="en-US" sz="1200">
                <a:solidFill>
                  <a:srgbClr val="202122"/>
                </a:solidFill>
                <a:ea typeface="+mn-lt"/>
                <a:cs typeface="+mn-lt"/>
              </a:rPr>
              <a:t>, in </a:t>
            </a:r>
            <a:r>
              <a:rPr lang="en-US" sz="1200">
                <a:solidFill>
                  <a:srgbClr val="3366CC"/>
                </a:solidFill>
                <a:ea typeface="+mn-lt"/>
                <a:cs typeface="+mn-lt"/>
                <a:hlinkClick r:id="rId251"/>
              </a:rPr>
              <a:t>Tirupati, Andhra Pradesh</a:t>
            </a:r>
            <a:r>
              <a:rPr lang="en-US" sz="1200">
                <a:solidFill>
                  <a:srgbClr val="202122"/>
                </a:solidFill>
                <a:ea typeface="+mn-lt"/>
                <a:cs typeface="+mn-lt"/>
              </a:rPr>
              <a:t>.</a:t>
            </a:r>
            <a:r>
              <a:rPr lang="en-US" sz="1000" baseline="30000">
                <a:solidFill>
                  <a:srgbClr val="3366CC"/>
                </a:solidFill>
                <a:ea typeface="+mn-lt"/>
                <a:cs typeface="+mn-lt"/>
                <a:hlinkClick r:id="rId252"/>
              </a:rPr>
              <a:t>[60]</a:t>
            </a:r>
            <a:r>
              <a:rPr lang="en-US" sz="1200">
                <a:solidFill>
                  <a:srgbClr val="202122"/>
                </a:solidFill>
                <a:ea typeface="+mn-lt"/>
                <a:cs typeface="+mn-lt"/>
              </a:rPr>
              <a:t> At the launch, he stated that social justice was the main agenda of his party.</a:t>
            </a:r>
            <a:r>
              <a:rPr lang="en-US" sz="1000" baseline="30000">
                <a:solidFill>
                  <a:srgbClr val="3366CC"/>
                </a:solidFill>
                <a:ea typeface="+mn-lt"/>
                <a:cs typeface="+mn-lt"/>
                <a:hlinkClick r:id="rId253"/>
              </a:rPr>
              <a:t>[61]</a:t>
            </a:r>
            <a:r>
              <a:rPr lang="en-US" sz="1200">
                <a:solidFill>
                  <a:srgbClr val="202122"/>
                </a:solidFill>
                <a:ea typeface="+mn-lt"/>
                <a:cs typeface="+mn-lt"/>
              </a:rPr>
              <a:t> In the </a:t>
            </a:r>
            <a:r>
              <a:rPr lang="en-US" sz="1200">
                <a:solidFill>
                  <a:srgbClr val="3366CC"/>
                </a:solidFill>
                <a:ea typeface="+mn-lt"/>
                <a:cs typeface="+mn-lt"/>
                <a:hlinkClick r:id="rId56"/>
              </a:rPr>
              <a:t>2009 Andhra Pradesh Legislative Assembly elections</a:t>
            </a:r>
            <a:r>
              <a:rPr lang="en-US" sz="1200">
                <a:solidFill>
                  <a:srgbClr val="202122"/>
                </a:solidFill>
                <a:ea typeface="+mn-lt"/>
                <a:cs typeface="+mn-lt"/>
              </a:rPr>
              <a:t>, the party won 18 of the 294 seats and secured a vote share of over 16%.</a:t>
            </a:r>
            <a:r>
              <a:rPr lang="en-US" sz="1000" baseline="30000">
                <a:solidFill>
                  <a:srgbClr val="3366CC"/>
                </a:solidFill>
                <a:ea typeface="+mn-lt"/>
                <a:cs typeface="+mn-lt"/>
                <a:hlinkClick r:id="rId254"/>
              </a:rPr>
              <a:t>[62]</a:t>
            </a:r>
            <a:r>
              <a:rPr lang="en-US" sz="1000" baseline="30000">
                <a:solidFill>
                  <a:srgbClr val="3366CC"/>
                </a:solidFill>
                <a:ea typeface="+mn-lt"/>
                <a:cs typeface="+mn-lt"/>
                <a:hlinkClick r:id="rId255"/>
              </a:rPr>
              <a:t>[63]</a:t>
            </a:r>
            <a:r>
              <a:rPr lang="en-US" sz="1200">
                <a:solidFill>
                  <a:srgbClr val="202122"/>
                </a:solidFill>
                <a:ea typeface="+mn-lt"/>
                <a:cs typeface="+mn-lt"/>
              </a:rPr>
              <a:t> He contested from </a:t>
            </a:r>
            <a:r>
              <a:rPr lang="en-US" sz="1200">
                <a:solidFill>
                  <a:srgbClr val="3366CC"/>
                </a:solidFill>
                <a:ea typeface="+mn-lt"/>
                <a:cs typeface="+mn-lt"/>
                <a:hlinkClick r:id="rId256"/>
              </a:rPr>
              <a:t>Tirupati</a:t>
            </a:r>
            <a:r>
              <a:rPr lang="en-US" sz="1200">
                <a:solidFill>
                  <a:srgbClr val="202122"/>
                </a:solidFill>
                <a:ea typeface="+mn-lt"/>
                <a:cs typeface="+mn-lt"/>
              </a:rPr>
              <a:t> and </a:t>
            </a:r>
            <a:r>
              <a:rPr lang="en-US" sz="1200">
                <a:solidFill>
                  <a:srgbClr val="3366CC"/>
                </a:solidFill>
                <a:ea typeface="+mn-lt"/>
                <a:cs typeface="+mn-lt"/>
                <a:hlinkClick r:id="rId257"/>
              </a:rPr>
              <a:t>Palakollu</a:t>
            </a:r>
            <a:r>
              <a:rPr lang="en-US" sz="1200">
                <a:solidFill>
                  <a:srgbClr val="202122"/>
                </a:solidFill>
                <a:ea typeface="+mn-lt"/>
                <a:cs typeface="+mn-lt"/>
              </a:rPr>
              <a:t> constituencies winning in Tirupati but losing out in Palakollu, in West Godavari district.</a:t>
            </a:r>
            <a:r>
              <a:rPr lang="en-US" sz="1000" baseline="30000" dirty="0">
                <a:solidFill>
                  <a:srgbClr val="3366CC"/>
                </a:solidFill>
                <a:ea typeface="+mn-lt"/>
                <a:cs typeface="+mn-lt"/>
                <a:hlinkClick r:id="rId258"/>
              </a:rPr>
              <a:t>[64]</a:t>
            </a:r>
            <a:endParaRPr lang="en-US"/>
          </a:p>
          <a:p>
            <a:r>
              <a:rPr lang="en-US" sz="1100">
                <a:solidFill>
                  <a:srgbClr val="202122"/>
                </a:solidFill>
                <a:ea typeface="+mn-lt"/>
                <a:cs typeface="+mn-lt"/>
              </a:rPr>
              <a:t>Chiranjeevi taking charge as the Minister of State (Independent Charge) for Tourism, in </a:t>
            </a:r>
            <a:r>
              <a:rPr lang="en-US" sz="1100">
                <a:solidFill>
                  <a:srgbClr val="3366CC"/>
                </a:solidFill>
                <a:ea typeface="+mn-lt"/>
                <a:cs typeface="+mn-lt"/>
                <a:hlinkClick r:id="rId259"/>
              </a:rPr>
              <a:t>New Delhi</a:t>
            </a:r>
            <a:r>
              <a:rPr lang="en-US" sz="1100">
                <a:solidFill>
                  <a:srgbClr val="202122"/>
                </a:solidFill>
                <a:ea typeface="+mn-lt"/>
                <a:cs typeface="+mn-lt"/>
              </a:rPr>
              <a:t> in 2012</a:t>
            </a:r>
            <a:endParaRPr lang="en-US"/>
          </a:p>
          <a:p>
            <a:r>
              <a:rPr lang="en-US" sz="1200">
                <a:solidFill>
                  <a:srgbClr val="202122"/>
                </a:solidFill>
                <a:ea typeface="+mn-lt"/>
                <a:cs typeface="+mn-lt"/>
              </a:rPr>
              <a:t>On 6 February 2011, the Praja Rajyam Party merged with the </a:t>
            </a:r>
            <a:r>
              <a:rPr lang="en-US" sz="1200">
                <a:solidFill>
                  <a:srgbClr val="3366CC"/>
                </a:solidFill>
                <a:ea typeface="+mn-lt"/>
                <a:cs typeface="+mn-lt"/>
                <a:hlinkClick r:id="rId57"/>
              </a:rPr>
              <a:t>Indian National Congress</a:t>
            </a:r>
            <a:r>
              <a:rPr lang="en-US" sz="1200">
                <a:solidFill>
                  <a:srgbClr val="202122"/>
                </a:solidFill>
                <a:ea typeface="+mn-lt"/>
                <a:cs typeface="+mn-lt"/>
              </a:rPr>
              <a:t> after two weeks of talks with Congress President </a:t>
            </a:r>
            <a:r>
              <a:rPr lang="en-US" sz="1200">
                <a:solidFill>
                  <a:srgbClr val="3366CC"/>
                </a:solidFill>
                <a:ea typeface="+mn-lt"/>
                <a:cs typeface="+mn-lt"/>
                <a:hlinkClick r:id="rId260"/>
              </a:rPr>
              <a:t>Sonia Gandhi</a:t>
            </a:r>
            <a:r>
              <a:rPr lang="en-US" sz="1200">
                <a:solidFill>
                  <a:srgbClr val="202122"/>
                </a:solidFill>
                <a:ea typeface="+mn-lt"/>
                <a:cs typeface="+mn-lt"/>
              </a:rPr>
              <a:t>.</a:t>
            </a:r>
            <a:r>
              <a:rPr lang="en-US" sz="1000" baseline="30000">
                <a:solidFill>
                  <a:srgbClr val="3366CC"/>
                </a:solidFill>
                <a:ea typeface="+mn-lt"/>
                <a:cs typeface="+mn-lt"/>
                <a:hlinkClick r:id="rId255"/>
              </a:rPr>
              <a:t>[63]</a:t>
            </a:r>
            <a:r>
              <a:rPr lang="en-US" sz="1000" baseline="30000">
                <a:solidFill>
                  <a:srgbClr val="3366CC"/>
                </a:solidFill>
                <a:ea typeface="+mn-lt"/>
                <a:cs typeface="+mn-lt"/>
                <a:hlinkClick r:id="rId261"/>
              </a:rPr>
              <a:t>[65]</a:t>
            </a:r>
            <a:r>
              <a:rPr lang="en-US" sz="1200">
                <a:solidFill>
                  <a:srgbClr val="202122"/>
                </a:solidFill>
                <a:ea typeface="+mn-lt"/>
                <a:cs typeface="+mn-lt"/>
              </a:rPr>
              <a:t> The merger was influenced by the Congress party's concerns over a </a:t>
            </a:r>
            <a:r>
              <a:rPr lang="en-US" sz="1200">
                <a:solidFill>
                  <a:srgbClr val="3366CC"/>
                </a:solidFill>
                <a:ea typeface="+mn-lt"/>
                <a:cs typeface="+mn-lt"/>
                <a:hlinkClick r:id="rId262"/>
              </a:rPr>
              <a:t>no-confidence motion</a:t>
            </a:r>
            <a:r>
              <a:rPr lang="en-US" sz="1200">
                <a:solidFill>
                  <a:srgbClr val="202122"/>
                </a:solidFill>
                <a:ea typeface="+mn-lt"/>
                <a:cs typeface="+mn-lt"/>
              </a:rPr>
              <a:t> in the Andhra Pradesh state assembly, spurred by the rise of </a:t>
            </a:r>
            <a:r>
              <a:rPr lang="en-US" sz="1200">
                <a:solidFill>
                  <a:srgbClr val="3366CC"/>
                </a:solidFill>
                <a:ea typeface="+mn-lt"/>
                <a:cs typeface="+mn-lt"/>
                <a:hlinkClick r:id="rId263"/>
              </a:rPr>
              <a:t>Y. S. Jagan Mohan Reddy</a:t>
            </a:r>
            <a:r>
              <a:rPr lang="en-US" sz="1200">
                <a:solidFill>
                  <a:srgbClr val="202122"/>
                </a:solidFill>
                <a:ea typeface="+mn-lt"/>
                <a:cs typeface="+mn-lt"/>
              </a:rPr>
              <a:t>'s </a:t>
            </a:r>
            <a:r>
              <a:rPr lang="en-US" sz="1200">
                <a:solidFill>
                  <a:srgbClr val="3366CC"/>
                </a:solidFill>
                <a:ea typeface="+mn-lt"/>
                <a:cs typeface="+mn-lt"/>
                <a:hlinkClick r:id="rId264"/>
              </a:rPr>
              <a:t>YSR Congress Party</a:t>
            </a:r>
            <a:r>
              <a:rPr lang="en-US" sz="1200">
                <a:solidFill>
                  <a:srgbClr val="202122"/>
                </a:solidFill>
                <a:ea typeface="+mn-lt"/>
                <a:cs typeface="+mn-lt"/>
              </a:rPr>
              <a:t> and the ongoing </a:t>
            </a:r>
            <a:r>
              <a:rPr lang="en-US" sz="1200">
                <a:solidFill>
                  <a:srgbClr val="3366CC"/>
                </a:solidFill>
                <a:ea typeface="+mn-lt"/>
                <a:cs typeface="+mn-lt"/>
                <a:hlinkClick r:id="rId265"/>
              </a:rPr>
              <a:t>Telangana agitation</a:t>
            </a:r>
            <a:r>
              <a:rPr lang="en-US" sz="1200">
                <a:solidFill>
                  <a:srgbClr val="202122"/>
                </a:solidFill>
                <a:ea typeface="+mn-lt"/>
                <a:cs typeface="+mn-lt"/>
              </a:rPr>
              <a:t>. On 29 March 2012, Chiranjeevi was nominated to the </a:t>
            </a:r>
            <a:r>
              <a:rPr lang="en-US" sz="1200">
                <a:solidFill>
                  <a:srgbClr val="3366CC"/>
                </a:solidFill>
                <a:ea typeface="+mn-lt"/>
                <a:cs typeface="+mn-lt"/>
                <a:hlinkClick r:id="rId266"/>
              </a:rPr>
              <a:t>Rajya Sabha</a:t>
            </a:r>
            <a:r>
              <a:rPr lang="en-US" sz="1200">
                <a:solidFill>
                  <a:srgbClr val="202122"/>
                </a:solidFill>
                <a:ea typeface="+mn-lt"/>
                <a:cs typeface="+mn-lt"/>
              </a:rPr>
              <a:t>, where he was elected and took his oath as a member on 3 April. Later that year, on 28 October, he was sworn in as the Union </a:t>
            </a:r>
            <a:r>
              <a:rPr lang="en-US" sz="1200">
                <a:solidFill>
                  <a:srgbClr val="3366CC"/>
                </a:solidFill>
                <a:ea typeface="+mn-lt"/>
                <a:cs typeface="+mn-lt"/>
                <a:hlinkClick r:id="rId59"/>
              </a:rPr>
              <a:t>Minister of State (Independent Charge) for Tourism</a:t>
            </a:r>
            <a:r>
              <a:rPr lang="en-US" sz="1200">
                <a:solidFill>
                  <a:srgbClr val="202122"/>
                </a:solidFill>
                <a:ea typeface="+mn-lt"/>
                <a:cs typeface="+mn-lt"/>
              </a:rPr>
              <a:t>.</a:t>
            </a:r>
            <a:r>
              <a:rPr lang="en-US" sz="1000" baseline="30000">
                <a:solidFill>
                  <a:srgbClr val="3366CC"/>
                </a:solidFill>
                <a:ea typeface="+mn-lt"/>
                <a:cs typeface="+mn-lt"/>
                <a:hlinkClick r:id="rId267"/>
              </a:rPr>
              <a:t>[66]</a:t>
            </a:r>
            <a:r>
              <a:rPr lang="en-US" sz="1200">
                <a:solidFill>
                  <a:srgbClr val="202122"/>
                </a:solidFill>
                <a:ea typeface="+mn-lt"/>
                <a:cs typeface="+mn-lt"/>
              </a:rPr>
              <a:t> In 2013, Chiranjeevi inaugurated the </a:t>
            </a:r>
            <a:r>
              <a:rPr lang="en-US" sz="1200">
                <a:solidFill>
                  <a:srgbClr val="3366CC"/>
                </a:solidFill>
                <a:ea typeface="+mn-lt"/>
                <a:cs typeface="+mn-lt"/>
                <a:hlinkClick r:id="rId268"/>
              </a:rPr>
              <a:t>Incredible India</a:t>
            </a:r>
            <a:r>
              <a:rPr lang="en-US" sz="1200">
                <a:solidFill>
                  <a:srgbClr val="202122"/>
                </a:solidFill>
                <a:ea typeface="+mn-lt"/>
                <a:cs typeface="+mn-lt"/>
              </a:rPr>
              <a:t> Exhibition, a collaboration between the Ministry of Tourism and the </a:t>
            </a:r>
            <a:r>
              <a:rPr lang="en-US" sz="1200">
                <a:solidFill>
                  <a:srgbClr val="3366CC"/>
                </a:solidFill>
                <a:ea typeface="+mn-lt"/>
                <a:cs typeface="+mn-lt"/>
                <a:hlinkClick r:id="rId269"/>
              </a:rPr>
              <a:t>Ministry of Information and Broadcasting</a:t>
            </a:r>
            <a:r>
              <a:rPr lang="en-US" sz="1200">
                <a:solidFill>
                  <a:srgbClr val="202122"/>
                </a:solidFill>
                <a:ea typeface="+mn-lt"/>
                <a:cs typeface="+mn-lt"/>
              </a:rPr>
              <a:t>, at the </a:t>
            </a:r>
            <a:r>
              <a:rPr lang="en-US" sz="1200">
                <a:solidFill>
                  <a:srgbClr val="3366CC"/>
                </a:solidFill>
                <a:ea typeface="+mn-lt"/>
                <a:cs typeface="+mn-lt"/>
                <a:hlinkClick r:id="rId205"/>
              </a:rPr>
              <a:t>66th Cannes Film Festival</a:t>
            </a:r>
            <a:r>
              <a:rPr lang="en-US" sz="1200">
                <a:solidFill>
                  <a:srgbClr val="202122"/>
                </a:solidFill>
                <a:ea typeface="+mn-lt"/>
                <a:cs typeface="+mn-lt"/>
              </a:rPr>
              <a:t>.</a:t>
            </a:r>
            <a:r>
              <a:rPr lang="en-US" sz="1000" baseline="30000">
                <a:solidFill>
                  <a:srgbClr val="3366CC"/>
                </a:solidFill>
                <a:ea typeface="+mn-lt"/>
                <a:cs typeface="+mn-lt"/>
                <a:hlinkClick r:id="rId270"/>
              </a:rPr>
              <a:t>[67]</a:t>
            </a:r>
            <a:r>
              <a:rPr lang="en-US" sz="1000" baseline="30000">
                <a:solidFill>
                  <a:srgbClr val="3366CC"/>
                </a:solidFill>
                <a:ea typeface="+mn-lt"/>
                <a:cs typeface="+mn-lt"/>
                <a:hlinkClick r:id="rId271"/>
              </a:rPr>
              <a:t>[68]</a:t>
            </a:r>
            <a:r>
              <a:rPr lang="en-US" sz="1200">
                <a:solidFill>
                  <a:srgbClr val="202122"/>
                </a:solidFill>
                <a:ea typeface="+mn-lt"/>
                <a:cs typeface="+mn-lt"/>
              </a:rPr>
              <a:t> He also represented Incredible India at the </a:t>
            </a:r>
            <a:r>
              <a:rPr lang="en-US" sz="1200">
                <a:solidFill>
                  <a:srgbClr val="3366CC"/>
                </a:solidFill>
                <a:ea typeface="+mn-lt"/>
                <a:cs typeface="+mn-lt"/>
                <a:hlinkClick r:id="rId272"/>
              </a:rPr>
              <a:t>14th IIFA Awards ceremony</a:t>
            </a:r>
            <a:r>
              <a:rPr lang="en-US" sz="1200">
                <a:solidFill>
                  <a:srgbClr val="202122"/>
                </a:solidFill>
                <a:ea typeface="+mn-lt"/>
                <a:cs typeface="+mn-lt"/>
              </a:rPr>
              <a:t> held in </a:t>
            </a:r>
            <a:r>
              <a:rPr lang="en-US" sz="1200">
                <a:solidFill>
                  <a:srgbClr val="3366CC"/>
                </a:solidFill>
                <a:ea typeface="+mn-lt"/>
                <a:cs typeface="+mn-lt"/>
                <a:hlinkClick r:id="rId273"/>
              </a:rPr>
              <a:t>Macau</a:t>
            </a:r>
            <a:r>
              <a:rPr lang="en-US" sz="1200">
                <a:solidFill>
                  <a:srgbClr val="202122"/>
                </a:solidFill>
                <a:ea typeface="+mn-lt"/>
                <a:cs typeface="+mn-lt"/>
              </a:rPr>
              <a:t> that same year.</a:t>
            </a:r>
            <a:r>
              <a:rPr lang="en-US" sz="1000" baseline="30000" dirty="0">
                <a:solidFill>
                  <a:srgbClr val="3366CC"/>
                </a:solidFill>
                <a:ea typeface="+mn-lt"/>
                <a:cs typeface="+mn-lt"/>
                <a:hlinkClick r:id="rId274"/>
              </a:rPr>
              <a:t>[69]</a:t>
            </a:r>
            <a:endParaRPr lang="en-US"/>
          </a:p>
          <a:p>
            <a:r>
              <a:rPr lang="en-US" sz="1200">
                <a:solidFill>
                  <a:srgbClr val="202122"/>
                </a:solidFill>
                <a:ea typeface="+mn-lt"/>
                <a:cs typeface="+mn-lt"/>
              </a:rPr>
              <a:t>After the </a:t>
            </a:r>
            <a:r>
              <a:rPr lang="en-US" sz="1200">
                <a:solidFill>
                  <a:srgbClr val="3366CC"/>
                </a:solidFill>
                <a:ea typeface="+mn-lt"/>
                <a:cs typeface="+mn-lt"/>
                <a:hlinkClick r:id="rId275"/>
              </a:rPr>
              <a:t>split of the state of Andhra Pradesh</a:t>
            </a:r>
            <a:r>
              <a:rPr lang="en-US" sz="1200">
                <a:solidFill>
                  <a:srgbClr val="202122"/>
                </a:solidFill>
                <a:ea typeface="+mn-lt"/>
                <a:cs typeface="+mn-lt"/>
              </a:rPr>
              <a:t> leaving the residuary state with huge debt and little revenue in June 2014, most members of the Andhra Pradesh wing of Congress party left in protest.</a:t>
            </a:r>
            <a:r>
              <a:rPr lang="en-US" sz="1000" baseline="30000">
                <a:solidFill>
                  <a:srgbClr val="3366CC"/>
                </a:solidFill>
                <a:ea typeface="+mn-lt"/>
                <a:cs typeface="+mn-lt"/>
                <a:hlinkClick r:id="rId276"/>
              </a:rPr>
              <a:t>[70]</a:t>
            </a:r>
            <a:r>
              <a:rPr lang="en-US" sz="1200">
                <a:solidFill>
                  <a:srgbClr val="202122"/>
                </a:solidFill>
                <a:ea typeface="+mn-lt"/>
                <a:cs typeface="+mn-lt"/>
              </a:rPr>
              <a:t> Chiranjeevi, however, remained with Congress and campaigned for it as chairman of Election Campaign Committee for 2014 </a:t>
            </a:r>
            <a:r>
              <a:rPr lang="en-US" sz="1200">
                <a:solidFill>
                  <a:srgbClr val="3366CC"/>
                </a:solidFill>
                <a:ea typeface="+mn-lt"/>
                <a:cs typeface="+mn-lt"/>
                <a:hlinkClick r:id="rId277"/>
              </a:rPr>
              <a:t>parliamentary</a:t>
            </a:r>
            <a:r>
              <a:rPr lang="en-US" sz="1200">
                <a:solidFill>
                  <a:srgbClr val="202122"/>
                </a:solidFill>
                <a:ea typeface="+mn-lt"/>
                <a:cs typeface="+mn-lt"/>
              </a:rPr>
              <a:t> and </a:t>
            </a:r>
            <a:r>
              <a:rPr lang="en-US" sz="1200">
                <a:solidFill>
                  <a:srgbClr val="3366CC"/>
                </a:solidFill>
                <a:ea typeface="+mn-lt"/>
                <a:cs typeface="+mn-lt"/>
                <a:hlinkClick r:id="rId278"/>
              </a:rPr>
              <a:t>assembly</a:t>
            </a:r>
            <a:r>
              <a:rPr lang="en-US" sz="1200">
                <a:solidFill>
                  <a:srgbClr val="202122"/>
                </a:solidFill>
                <a:ea typeface="+mn-lt"/>
                <a:cs typeface="+mn-lt"/>
              </a:rPr>
              <a:t> elections in the residual state of </a:t>
            </a:r>
            <a:r>
              <a:rPr lang="en-US" sz="1200">
                <a:solidFill>
                  <a:srgbClr val="3366CC"/>
                </a:solidFill>
                <a:ea typeface="+mn-lt"/>
                <a:cs typeface="+mn-lt"/>
                <a:hlinkClick r:id="rId67"/>
              </a:rPr>
              <a:t>Andhra Pradesh</a:t>
            </a:r>
            <a:r>
              <a:rPr lang="en-US" sz="1200">
                <a:solidFill>
                  <a:srgbClr val="202122"/>
                </a:solidFill>
                <a:ea typeface="+mn-lt"/>
                <a:cs typeface="+mn-lt"/>
              </a:rPr>
              <a:t>. However, he refrained from contesting in elections.</a:t>
            </a:r>
            <a:r>
              <a:rPr lang="en-US" sz="1000" baseline="30000">
                <a:solidFill>
                  <a:srgbClr val="3366CC"/>
                </a:solidFill>
                <a:ea typeface="+mn-lt"/>
                <a:cs typeface="+mn-lt"/>
                <a:hlinkClick r:id="rId279"/>
              </a:rPr>
              <a:t>[71]</a:t>
            </a:r>
            <a:r>
              <a:rPr lang="en-US" sz="1200">
                <a:solidFill>
                  <a:srgbClr val="202122"/>
                </a:solidFill>
                <a:ea typeface="+mn-lt"/>
                <a:cs typeface="+mn-lt"/>
              </a:rPr>
              <a:t> There was also speculation that he did not campaign wholeheartedly due to the one-sided decision taken to split Andhra Pradesh.</a:t>
            </a:r>
            <a:r>
              <a:rPr lang="en-US" sz="1000" baseline="30000">
                <a:solidFill>
                  <a:srgbClr val="3366CC"/>
                </a:solidFill>
                <a:ea typeface="+mn-lt"/>
                <a:cs typeface="+mn-lt"/>
                <a:hlinkClick r:id="rId280"/>
              </a:rPr>
              <a:t>[72]</a:t>
            </a:r>
            <a:r>
              <a:rPr lang="en-US" sz="1000" baseline="30000">
                <a:solidFill>
                  <a:srgbClr val="3366CC"/>
                </a:solidFill>
                <a:ea typeface="+mn-lt"/>
                <a:cs typeface="+mn-lt"/>
                <a:hlinkClick r:id="rId281"/>
              </a:rPr>
              <a:t>[73]</a:t>
            </a:r>
            <a:r>
              <a:rPr lang="en-US" sz="1000" baseline="30000">
                <a:solidFill>
                  <a:srgbClr val="3366CC"/>
                </a:solidFill>
                <a:ea typeface="+mn-lt"/>
                <a:cs typeface="+mn-lt"/>
                <a:hlinkClick r:id="rId282"/>
              </a:rPr>
              <a:t>[74]</a:t>
            </a:r>
            <a:r>
              <a:rPr lang="en-US" sz="1200">
                <a:solidFill>
                  <a:srgbClr val="202122"/>
                </a:solidFill>
                <a:ea typeface="+mn-lt"/>
                <a:cs typeface="+mn-lt"/>
              </a:rPr>
              <a:t> His younger brother, </a:t>
            </a:r>
            <a:r>
              <a:rPr lang="en-US" sz="1200">
                <a:solidFill>
                  <a:srgbClr val="3366CC"/>
                </a:solidFill>
                <a:ea typeface="+mn-lt"/>
                <a:cs typeface="+mn-lt"/>
                <a:hlinkClick r:id="rId92"/>
              </a:rPr>
              <a:t>Pawan Kalyan</a:t>
            </a:r>
            <a:r>
              <a:rPr lang="en-US" sz="1200">
                <a:solidFill>
                  <a:srgbClr val="202122"/>
                </a:solidFill>
                <a:ea typeface="+mn-lt"/>
                <a:cs typeface="+mn-lt"/>
              </a:rPr>
              <a:t>, a former Praja Rajyam Party youth wing leader, launched his own political party, </a:t>
            </a:r>
            <a:r>
              <a:rPr lang="en-US" sz="1200">
                <a:solidFill>
                  <a:srgbClr val="3366CC"/>
                </a:solidFill>
                <a:ea typeface="+mn-lt"/>
                <a:cs typeface="+mn-lt"/>
                <a:hlinkClick r:id="rId94"/>
              </a:rPr>
              <a:t>Jana Sena Party</a:t>
            </a:r>
            <a:r>
              <a:rPr lang="en-US" sz="1200">
                <a:solidFill>
                  <a:srgbClr val="202122"/>
                </a:solidFill>
                <a:ea typeface="+mn-lt"/>
                <a:cs typeface="+mn-lt"/>
              </a:rPr>
              <a:t>, and campaigned vigorously against Congress and in favour of </a:t>
            </a:r>
            <a:r>
              <a:rPr lang="en-US" sz="1200">
                <a:solidFill>
                  <a:srgbClr val="3366CC"/>
                </a:solidFill>
                <a:ea typeface="+mn-lt"/>
                <a:cs typeface="+mn-lt"/>
                <a:hlinkClick r:id="rId283"/>
              </a:rPr>
              <a:t>Telugu Desam Party</a:t>
            </a:r>
            <a:r>
              <a:rPr lang="en-US" sz="1200">
                <a:solidFill>
                  <a:srgbClr val="202122"/>
                </a:solidFill>
                <a:ea typeface="+mn-lt"/>
                <a:cs typeface="+mn-lt"/>
              </a:rPr>
              <a:t> and </a:t>
            </a:r>
            <a:r>
              <a:rPr lang="en-US" sz="1200">
                <a:solidFill>
                  <a:srgbClr val="3366CC"/>
                </a:solidFill>
                <a:ea typeface="+mn-lt"/>
                <a:cs typeface="+mn-lt"/>
                <a:hlinkClick r:id="rId284"/>
              </a:rPr>
              <a:t>Bharatiya Janata Party</a:t>
            </a:r>
            <a:r>
              <a:rPr lang="en-US" sz="1200">
                <a:solidFill>
                  <a:srgbClr val="202122"/>
                </a:solidFill>
                <a:ea typeface="+mn-lt"/>
                <a:cs typeface="+mn-lt"/>
              </a:rPr>
              <a:t>.</a:t>
            </a:r>
            <a:r>
              <a:rPr lang="en-US" sz="1000" baseline="30000">
                <a:solidFill>
                  <a:srgbClr val="3366CC"/>
                </a:solidFill>
                <a:ea typeface="+mn-lt"/>
                <a:cs typeface="+mn-lt"/>
                <a:hlinkClick r:id="rId285"/>
              </a:rPr>
              <a:t>[75]</a:t>
            </a:r>
            <a:r>
              <a:rPr lang="en-US" sz="1200">
                <a:solidFill>
                  <a:srgbClr val="202122"/>
                </a:solidFill>
                <a:ea typeface="+mn-lt"/>
                <a:cs typeface="+mn-lt"/>
              </a:rPr>
              <a:t> Due to the strong anti-Congress sentiment prevailing in Andhra Pradesh, its candidates were defeated in all parliamentary and state assembly seats of Andhra Pradesh.</a:t>
            </a:r>
            <a:r>
              <a:rPr lang="en-US" sz="1000" baseline="30000" dirty="0">
                <a:solidFill>
                  <a:srgbClr val="3366CC"/>
                </a:solidFill>
                <a:ea typeface="+mn-lt"/>
                <a:cs typeface="+mn-lt"/>
                <a:hlinkClick r:id="rId286"/>
              </a:rPr>
              <a:t>[76]</a:t>
            </a:r>
            <a:r>
              <a:rPr lang="en-US" sz="1000" baseline="30000" dirty="0">
                <a:solidFill>
                  <a:srgbClr val="3366CC"/>
                </a:solidFill>
                <a:ea typeface="+mn-lt"/>
                <a:cs typeface="+mn-lt"/>
                <a:hlinkClick r:id="rId287"/>
              </a:rPr>
              <a:t>[77]</a:t>
            </a:r>
            <a:endParaRPr lang="en-US"/>
          </a:p>
          <a:p>
            <a:r>
              <a:rPr lang="en-US" sz="1200">
                <a:solidFill>
                  <a:srgbClr val="202122"/>
                </a:solidFill>
                <a:ea typeface="+mn-lt"/>
                <a:cs typeface="+mn-lt"/>
              </a:rPr>
              <a:t>Since the 2014 elections, he has stayed away from active politics and since then, has not attended any meetings of the Congress party, on a regional or national level. His tenure as a Rajya Sabha member ended in April 2018.</a:t>
            </a:r>
            <a:r>
              <a:rPr lang="en-US" sz="1000" baseline="30000">
                <a:solidFill>
                  <a:srgbClr val="3366CC"/>
                </a:solidFill>
                <a:ea typeface="+mn-lt"/>
                <a:cs typeface="+mn-lt"/>
                <a:hlinkClick r:id="rId288"/>
              </a:rPr>
              <a:t>[78]</a:t>
            </a:r>
            <a:r>
              <a:rPr lang="en-US" sz="1200">
                <a:solidFill>
                  <a:srgbClr val="202122"/>
                </a:solidFill>
                <a:ea typeface="+mn-lt"/>
                <a:cs typeface="+mn-lt"/>
              </a:rPr>
              <a:t> Although he is currently not active in politics, he was issued with a new </a:t>
            </a:r>
            <a:r>
              <a:rPr lang="en-US" sz="1200">
                <a:solidFill>
                  <a:srgbClr val="3366CC"/>
                </a:solidFill>
                <a:ea typeface="+mn-lt"/>
                <a:cs typeface="+mn-lt"/>
                <a:hlinkClick r:id="rId289"/>
              </a:rPr>
              <a:t>All India Congress Committee</a:t>
            </a:r>
            <a:r>
              <a:rPr lang="en-US" sz="1200">
                <a:solidFill>
                  <a:srgbClr val="202122"/>
                </a:solidFill>
                <a:ea typeface="+mn-lt"/>
                <a:cs typeface="+mn-lt"/>
              </a:rPr>
              <a:t> identity card in 2022 leading to the speculation of his political comeback.</a:t>
            </a:r>
            <a:r>
              <a:rPr lang="en-US" sz="1000" baseline="30000" dirty="0">
                <a:solidFill>
                  <a:srgbClr val="3366CC"/>
                </a:solidFill>
                <a:ea typeface="+mn-lt"/>
                <a:cs typeface="+mn-lt"/>
                <a:hlinkClick r:id="rId290"/>
              </a:rPr>
              <a:t>[79]</a:t>
            </a:r>
            <a:r>
              <a:rPr lang="en-US" sz="1000" baseline="30000" dirty="0">
                <a:solidFill>
                  <a:srgbClr val="3366CC"/>
                </a:solidFill>
                <a:ea typeface="+mn-lt"/>
                <a:cs typeface="+mn-lt"/>
                <a:hlinkClick r:id="rId291"/>
              </a:rPr>
              <a:t>[80]</a:t>
            </a:r>
            <a:r>
              <a:rPr lang="en-US" sz="1000" baseline="30000" dirty="0">
                <a:solidFill>
                  <a:srgbClr val="3366CC"/>
                </a:solidFill>
                <a:ea typeface="+mn-lt"/>
                <a:cs typeface="+mn-lt"/>
                <a:hlinkClick r:id="rId292"/>
              </a:rPr>
              <a:t>[81]</a:t>
            </a:r>
            <a:endParaRPr lang="en-US"/>
          </a:p>
          <a:p>
            <a:r>
              <a:rPr lang="en-US"/>
              <a:t>Humanitarian work</a:t>
            </a:r>
          </a:p>
          <a:p>
            <a:r>
              <a:rPr lang="en-US" sz="1100">
                <a:solidFill>
                  <a:srgbClr val="202122"/>
                </a:solidFill>
                <a:ea typeface="+mn-lt"/>
                <a:cs typeface="+mn-lt"/>
              </a:rPr>
              <a:t>Chiranjeevi at the World Travel Awards, 2012</a:t>
            </a:r>
            <a:endParaRPr lang="en-US"/>
          </a:p>
          <a:p>
            <a:r>
              <a:rPr lang="en-US" sz="1200">
                <a:solidFill>
                  <a:srgbClr val="202122"/>
                </a:solidFill>
                <a:ea typeface="+mn-lt"/>
                <a:cs typeface="+mn-lt"/>
              </a:rPr>
              <a:t>Chiranjeevi established the Chiranjeevi Charitable Trust (CCT) on 2 October 1998, with the motto that no one should lose their life due to a lack of blood.</a:t>
            </a:r>
            <a:r>
              <a:rPr lang="en-US" sz="1000" baseline="30000">
                <a:solidFill>
                  <a:srgbClr val="3366CC"/>
                </a:solidFill>
                <a:ea typeface="+mn-lt"/>
                <a:cs typeface="+mn-lt"/>
                <a:hlinkClick r:id="rId293"/>
              </a:rPr>
              <a:t>[82]</a:t>
            </a:r>
            <a:r>
              <a:rPr lang="en-US" sz="1200">
                <a:solidFill>
                  <a:srgbClr val="202122"/>
                </a:solidFill>
                <a:ea typeface="+mn-lt"/>
                <a:cs typeface="+mn-lt"/>
              </a:rPr>
              <a:t> The trust includes a </a:t>
            </a:r>
            <a:r>
              <a:rPr lang="en-US" sz="1200">
                <a:solidFill>
                  <a:srgbClr val="3366CC"/>
                </a:solidFill>
                <a:ea typeface="+mn-lt"/>
                <a:cs typeface="+mn-lt"/>
                <a:hlinkClick r:id="rId46"/>
              </a:rPr>
              <a:t>blood bank</a:t>
            </a:r>
            <a:r>
              <a:rPr lang="en-US" sz="1200">
                <a:solidFill>
                  <a:srgbClr val="202122"/>
                </a:solidFill>
                <a:ea typeface="+mn-lt"/>
                <a:cs typeface="+mn-lt"/>
              </a:rPr>
              <a:t> and an </a:t>
            </a:r>
            <a:r>
              <a:rPr lang="en-US" sz="1200">
                <a:solidFill>
                  <a:srgbClr val="3366CC"/>
                </a:solidFill>
                <a:ea typeface="+mn-lt"/>
                <a:cs typeface="+mn-lt"/>
                <a:hlinkClick r:id="rId47"/>
              </a:rPr>
              <a:t>eye bank</a:t>
            </a:r>
            <a:r>
              <a:rPr lang="en-US" sz="1200">
                <a:solidFill>
                  <a:srgbClr val="202122"/>
                </a:solidFill>
                <a:ea typeface="+mn-lt"/>
                <a:cs typeface="+mn-lt"/>
              </a:rPr>
              <a:t> and is the largest recipient of blood and eye donations in Andhra Pradesh. As of September 2022, CCT has collected over 930,000 units of blood, with 70% of it provided to the poor free of charge.</a:t>
            </a:r>
            <a:r>
              <a:rPr lang="en-US" sz="1000" baseline="30000">
                <a:solidFill>
                  <a:srgbClr val="3366CC"/>
                </a:solidFill>
                <a:ea typeface="+mn-lt"/>
                <a:cs typeface="+mn-lt"/>
                <a:hlinkClick r:id="rId50"/>
              </a:rPr>
              <a:t>[12]</a:t>
            </a:r>
            <a:r>
              <a:rPr lang="en-US" sz="1000" baseline="30000">
                <a:solidFill>
                  <a:srgbClr val="3366CC"/>
                </a:solidFill>
                <a:ea typeface="+mn-lt"/>
                <a:cs typeface="+mn-lt"/>
                <a:hlinkClick r:id="rId294"/>
              </a:rPr>
              <a:t>[83]</a:t>
            </a:r>
            <a:r>
              <a:rPr lang="en-US" sz="1200">
                <a:solidFill>
                  <a:srgbClr val="202122"/>
                </a:solidFill>
                <a:ea typeface="+mn-lt"/>
                <a:cs typeface="+mn-lt"/>
              </a:rPr>
              <a:t> It has restored eyesight to over 9,060 individuals through 4,580 cornea transplants, and more than 350,000 people have pledged their eyes to CCT.</a:t>
            </a:r>
            <a:r>
              <a:rPr lang="en-US" sz="1000" baseline="30000">
                <a:solidFill>
                  <a:srgbClr val="3366CC"/>
                </a:solidFill>
                <a:ea typeface="+mn-lt"/>
                <a:cs typeface="+mn-lt"/>
                <a:hlinkClick r:id="rId295"/>
              </a:rPr>
              <a:t>[84]</a:t>
            </a:r>
            <a:r>
              <a:rPr lang="en-US" sz="1000" baseline="30000">
                <a:solidFill>
                  <a:srgbClr val="3366CC"/>
                </a:solidFill>
                <a:ea typeface="+mn-lt"/>
                <a:cs typeface="+mn-lt"/>
                <a:hlinkClick r:id="rId296"/>
              </a:rPr>
              <a:t>[85]</a:t>
            </a:r>
            <a:r>
              <a:rPr lang="en-US" sz="1200">
                <a:solidFill>
                  <a:srgbClr val="202122"/>
                </a:solidFill>
                <a:ea typeface="+mn-lt"/>
                <a:cs typeface="+mn-lt"/>
              </a:rPr>
              <a:t> The trust has received several accolades, including the "Best Voluntary Blood Bank Award" from the Andhra Pradesh State Government for five consecutive years from 2002 to 2006.</a:t>
            </a:r>
            <a:r>
              <a:rPr lang="en-US" sz="1000" baseline="30000">
                <a:solidFill>
                  <a:srgbClr val="3366CC"/>
                </a:solidFill>
                <a:ea typeface="+mn-lt"/>
                <a:cs typeface="+mn-lt"/>
                <a:hlinkClick r:id="rId52"/>
              </a:rPr>
              <a:t>[13]</a:t>
            </a:r>
            <a:r>
              <a:rPr lang="en-US" sz="1000" baseline="30000">
                <a:solidFill>
                  <a:srgbClr val="3366CC"/>
                </a:solidFill>
                <a:ea typeface="+mn-lt"/>
                <a:cs typeface="+mn-lt"/>
                <a:hlinkClick r:id="rId297"/>
              </a:rPr>
              <a:t>[86]</a:t>
            </a:r>
            <a:r>
              <a:rPr lang="en-US" sz="1000" baseline="30000">
                <a:solidFill>
                  <a:srgbClr val="3366CC"/>
                </a:solidFill>
                <a:ea typeface="+mn-lt"/>
                <a:cs typeface="+mn-lt"/>
                <a:hlinkClick r:id="rId298"/>
              </a:rPr>
              <a:t>[87]</a:t>
            </a:r>
            <a:r>
              <a:rPr lang="en-US" sz="1200">
                <a:solidFill>
                  <a:srgbClr val="202122"/>
                </a:solidFill>
                <a:ea typeface="+mn-lt"/>
                <a:cs typeface="+mn-lt"/>
              </a:rPr>
              <a:t> On 10 June 2006, the then </a:t>
            </a:r>
            <a:r>
              <a:rPr lang="en-US" sz="1200">
                <a:solidFill>
                  <a:srgbClr val="3366CC"/>
                </a:solidFill>
                <a:ea typeface="+mn-lt"/>
                <a:cs typeface="+mn-lt"/>
                <a:hlinkClick r:id="rId299"/>
              </a:rPr>
              <a:t>President of India</a:t>
            </a:r>
            <a:r>
              <a:rPr lang="en-US" sz="1200">
                <a:solidFill>
                  <a:srgbClr val="202122"/>
                </a:solidFill>
                <a:ea typeface="+mn-lt"/>
                <a:cs typeface="+mn-lt"/>
              </a:rPr>
              <a:t>, </a:t>
            </a:r>
            <a:r>
              <a:rPr lang="en-US" sz="1200">
                <a:solidFill>
                  <a:srgbClr val="3366CC"/>
                </a:solidFill>
                <a:ea typeface="+mn-lt"/>
                <a:cs typeface="+mn-lt"/>
                <a:hlinkClick r:id="rId300"/>
              </a:rPr>
              <a:t>A. P. J. Abdul Kalam</a:t>
            </a:r>
            <a:r>
              <a:rPr lang="en-US" sz="1200">
                <a:solidFill>
                  <a:srgbClr val="202122"/>
                </a:solidFill>
                <a:ea typeface="+mn-lt"/>
                <a:cs typeface="+mn-lt"/>
              </a:rPr>
              <a:t>, inaugurated the Chiranjeevi Charitable Foundation (CCF) at </a:t>
            </a:r>
            <a:r>
              <a:rPr lang="en-US" sz="1200">
                <a:solidFill>
                  <a:srgbClr val="3366CC"/>
                </a:solidFill>
                <a:ea typeface="+mn-lt"/>
                <a:cs typeface="+mn-lt"/>
                <a:hlinkClick r:id="rId301"/>
              </a:rPr>
              <a:t>Jubilee Hills</a:t>
            </a:r>
            <a:r>
              <a:rPr lang="en-US" sz="1200">
                <a:solidFill>
                  <a:srgbClr val="202122"/>
                </a:solidFill>
                <a:ea typeface="+mn-lt"/>
                <a:cs typeface="+mn-lt"/>
              </a:rPr>
              <a:t> in Hyderabad.</a:t>
            </a:r>
            <a:r>
              <a:rPr lang="en-US" sz="1000" baseline="30000">
                <a:solidFill>
                  <a:srgbClr val="3366CC"/>
                </a:solidFill>
                <a:ea typeface="+mn-lt"/>
                <a:cs typeface="+mn-lt"/>
                <a:hlinkClick r:id="rId302"/>
              </a:rPr>
              <a:t>[88]</a:t>
            </a:r>
            <a:r>
              <a:rPr lang="en-US" sz="1200">
                <a:solidFill>
                  <a:srgbClr val="202122"/>
                </a:solidFill>
                <a:ea typeface="+mn-lt"/>
                <a:cs typeface="+mn-lt"/>
              </a:rPr>
              <a:t> Chiranjeevi has supported the trust's activities through his earnings, including those from television commercials and promotions.</a:t>
            </a:r>
            <a:r>
              <a:rPr lang="en-US" sz="1000" baseline="30000" dirty="0">
                <a:solidFill>
                  <a:srgbClr val="3366CC"/>
                </a:solidFill>
                <a:ea typeface="+mn-lt"/>
                <a:cs typeface="+mn-lt"/>
                <a:hlinkClick r:id="rId303"/>
              </a:rPr>
              <a:t>[89]</a:t>
            </a:r>
            <a:endParaRPr lang="en-US"/>
          </a:p>
          <a:p>
            <a:r>
              <a:rPr lang="en-US" sz="1200">
                <a:solidFill>
                  <a:srgbClr val="202122"/>
                </a:solidFill>
                <a:ea typeface="+mn-lt"/>
                <a:cs typeface="+mn-lt"/>
              </a:rPr>
              <a:t>After Chiranjeevi's entry into politics, actor couple </a:t>
            </a:r>
            <a:r>
              <a:rPr lang="en-US" sz="1200">
                <a:solidFill>
                  <a:srgbClr val="3366CC"/>
                </a:solidFill>
                <a:ea typeface="+mn-lt"/>
                <a:cs typeface="+mn-lt"/>
                <a:hlinkClick r:id="rId304"/>
              </a:rPr>
              <a:t>Rajasekhar</a:t>
            </a:r>
            <a:r>
              <a:rPr lang="en-US" sz="1200">
                <a:solidFill>
                  <a:srgbClr val="202122"/>
                </a:solidFill>
                <a:ea typeface="+mn-lt"/>
                <a:cs typeface="+mn-lt"/>
              </a:rPr>
              <a:t> and </a:t>
            </a:r>
            <a:r>
              <a:rPr lang="en-US" sz="1200">
                <a:solidFill>
                  <a:srgbClr val="3366CC"/>
                </a:solidFill>
                <a:ea typeface="+mn-lt"/>
                <a:cs typeface="+mn-lt"/>
                <a:hlinkClick r:id="rId305"/>
              </a:rPr>
              <a:t>Jeevitha</a:t>
            </a:r>
            <a:r>
              <a:rPr lang="en-US" sz="1200">
                <a:solidFill>
                  <a:srgbClr val="202122"/>
                </a:solidFill>
                <a:ea typeface="+mn-lt"/>
                <a:cs typeface="+mn-lt"/>
              </a:rPr>
              <a:t> made allegations against the Chiranjeevi Blood Bank, accusing it of engaging in financial irregularities.</a:t>
            </a:r>
            <a:r>
              <a:rPr lang="en-US" sz="1000" baseline="30000">
                <a:solidFill>
                  <a:srgbClr val="3366CC"/>
                </a:solidFill>
                <a:ea typeface="+mn-lt"/>
                <a:cs typeface="+mn-lt"/>
                <a:hlinkClick r:id="rId306"/>
              </a:rPr>
              <a:t>[90]</a:t>
            </a:r>
            <a:r>
              <a:rPr lang="en-US" sz="1000" baseline="30000">
                <a:solidFill>
                  <a:srgbClr val="3366CC"/>
                </a:solidFill>
                <a:ea typeface="+mn-lt"/>
                <a:cs typeface="+mn-lt"/>
                <a:hlinkClick r:id="rId307"/>
              </a:rPr>
              <a:t>[91]</a:t>
            </a:r>
            <a:r>
              <a:rPr lang="en-US" sz="1200">
                <a:solidFill>
                  <a:srgbClr val="202122"/>
                </a:solidFill>
                <a:ea typeface="+mn-lt"/>
                <a:cs typeface="+mn-lt"/>
              </a:rPr>
              <a:t> In response, the Andhra Pradesh state government formed a high-level committee to investigate the claims.</a:t>
            </a:r>
            <a:r>
              <a:rPr lang="en-US" sz="1000" baseline="30000">
                <a:solidFill>
                  <a:srgbClr val="3366CC"/>
                </a:solidFill>
                <a:ea typeface="+mn-lt"/>
                <a:cs typeface="+mn-lt"/>
                <a:hlinkClick r:id="rId308"/>
              </a:rPr>
              <a:t>[92]</a:t>
            </a:r>
            <a:r>
              <a:rPr lang="en-US" sz="1200">
                <a:solidFill>
                  <a:srgbClr val="202122"/>
                </a:solidFill>
                <a:ea typeface="+mn-lt"/>
                <a:cs typeface="+mn-lt"/>
              </a:rPr>
              <a:t> The committee, guided by the project director of the AP State AIDS Control Society and composed of experts from finance and technical fields, thoroughly examined records related to blood collection and disposal, blood grouping, screening, sterilization, medical waste management, conducted camps, blood expiry, quality control, storage facilities, and equipment purchases. Following the investigation, the blood bank was cleared of any wrongdoing. Authorities confirmed that the blood bank operates in full compliance with the guidelines set by the </a:t>
            </a:r>
            <a:r>
              <a:rPr lang="en-US" sz="1200">
                <a:solidFill>
                  <a:srgbClr val="3366CC"/>
                </a:solidFill>
                <a:ea typeface="+mn-lt"/>
                <a:cs typeface="+mn-lt"/>
                <a:hlinkClick r:id="rId309"/>
              </a:rPr>
              <a:t>National AIDS Control Organization</a:t>
            </a:r>
            <a:r>
              <a:rPr lang="en-US" sz="1200">
                <a:solidFill>
                  <a:srgbClr val="202122"/>
                </a:solidFill>
                <a:ea typeface="+mn-lt"/>
                <a:cs typeface="+mn-lt"/>
              </a:rPr>
              <a:t> (NACO).</a:t>
            </a:r>
            <a:r>
              <a:rPr lang="en-US" sz="1000" baseline="30000">
                <a:solidFill>
                  <a:srgbClr val="3366CC"/>
                </a:solidFill>
                <a:ea typeface="+mn-lt"/>
                <a:cs typeface="+mn-lt"/>
                <a:hlinkClick r:id="rId310"/>
              </a:rPr>
              <a:t>[93]</a:t>
            </a:r>
            <a:r>
              <a:rPr lang="en-US" sz="1200">
                <a:solidFill>
                  <a:srgbClr val="202122"/>
                </a:solidFill>
                <a:ea typeface="+mn-lt"/>
                <a:cs typeface="+mn-lt"/>
              </a:rPr>
              <a:t> In 2023, a Nampally court sentenced Rajasekhar and Jeevitha to one year in jail and imposed a fine of ₹5 lakh for their defamatory remarks against the blood bank. The couple, however, obtained bail.</a:t>
            </a:r>
            <a:r>
              <a:rPr lang="en-US" sz="1000" baseline="30000" dirty="0">
                <a:solidFill>
                  <a:srgbClr val="3366CC"/>
                </a:solidFill>
                <a:ea typeface="+mn-lt"/>
                <a:cs typeface="+mn-lt"/>
                <a:hlinkClick r:id="rId311"/>
              </a:rPr>
              <a:t>[94]</a:t>
            </a:r>
            <a:endParaRPr lang="en-US"/>
          </a:p>
          <a:p>
            <a:r>
              <a:rPr lang="en-US" sz="1200">
                <a:solidFill>
                  <a:srgbClr val="202122"/>
                </a:solidFill>
                <a:ea typeface="+mn-lt"/>
                <a:cs typeface="+mn-lt"/>
              </a:rPr>
              <a:t>In May 2021, Chiranjeevi set up oxygen banks and ambulances</a:t>
            </a:r>
            <a:r>
              <a:rPr lang="en-US" sz="1000" baseline="30000">
                <a:solidFill>
                  <a:srgbClr val="3366CC"/>
                </a:solidFill>
                <a:ea typeface="+mn-lt"/>
                <a:cs typeface="+mn-lt"/>
                <a:hlinkClick r:id="rId312"/>
              </a:rPr>
              <a:t>[95]</a:t>
            </a:r>
            <a:r>
              <a:rPr lang="en-US" sz="1200">
                <a:solidFill>
                  <a:srgbClr val="202122"/>
                </a:solidFill>
                <a:ea typeface="+mn-lt"/>
                <a:cs typeface="+mn-lt"/>
              </a:rPr>
              <a:t> across Andhra Pradesh and </a:t>
            </a:r>
            <a:r>
              <a:rPr lang="en-US" sz="1200">
                <a:solidFill>
                  <a:srgbClr val="3366CC"/>
                </a:solidFill>
                <a:ea typeface="+mn-lt"/>
                <a:cs typeface="+mn-lt"/>
                <a:hlinkClick r:id="rId313"/>
              </a:rPr>
              <a:t>Telangana</a:t>
            </a:r>
            <a:r>
              <a:rPr lang="en-US" sz="1200">
                <a:solidFill>
                  <a:srgbClr val="202122"/>
                </a:solidFill>
                <a:ea typeface="+mn-lt"/>
                <a:cs typeface="+mn-lt"/>
              </a:rPr>
              <a:t> to meet the needs of patients affected by </a:t>
            </a:r>
            <a:r>
              <a:rPr lang="en-US" sz="1200">
                <a:solidFill>
                  <a:srgbClr val="3366CC"/>
                </a:solidFill>
                <a:ea typeface="+mn-lt"/>
                <a:cs typeface="+mn-lt"/>
                <a:hlinkClick r:id="rId314"/>
              </a:rPr>
              <a:t>COVID-19</a:t>
            </a:r>
            <a:r>
              <a:rPr lang="en-US" sz="1200">
                <a:solidFill>
                  <a:srgbClr val="202122"/>
                </a:solidFill>
                <a:ea typeface="+mn-lt"/>
                <a:cs typeface="+mn-lt"/>
              </a:rPr>
              <a:t>.</a:t>
            </a:r>
            <a:r>
              <a:rPr lang="en-US" sz="1000" baseline="30000" dirty="0">
                <a:solidFill>
                  <a:srgbClr val="3366CC"/>
                </a:solidFill>
                <a:ea typeface="+mn-lt"/>
                <a:cs typeface="+mn-lt"/>
                <a:hlinkClick r:id="rId315"/>
              </a:rPr>
              <a:t>[96]</a:t>
            </a:r>
            <a:endParaRPr lang="en-US"/>
          </a:p>
          <a:p>
            <a:r>
              <a:rPr lang="en-US"/>
              <a:t>Filmography</a:t>
            </a:r>
          </a:p>
          <a:p>
            <a:r>
              <a:rPr lang="en-US" sz="1200" i="1">
                <a:solidFill>
                  <a:srgbClr val="202122"/>
                </a:solidFill>
                <a:ea typeface="+mn-lt"/>
                <a:cs typeface="+mn-lt"/>
              </a:rPr>
              <a:t>Main article: </a:t>
            </a:r>
            <a:r>
              <a:rPr lang="en-US" sz="1200" i="1" dirty="0">
                <a:solidFill>
                  <a:srgbClr val="3366CC"/>
                </a:solidFill>
                <a:ea typeface="+mn-lt"/>
                <a:cs typeface="+mn-lt"/>
                <a:hlinkClick r:id="rId316"/>
              </a:rPr>
              <a:t>Chiranjeevi filmography</a:t>
            </a:r>
            <a:endParaRPr lang="en-US"/>
          </a:p>
          <a:p>
            <a:r>
              <a:rPr lang="en-US"/>
              <a:t>Awards, honours and recognitions</a:t>
            </a:r>
          </a:p>
          <a:p>
            <a:r>
              <a:rPr lang="en-US" sz="1200">
                <a:solidFill>
                  <a:srgbClr val="202122"/>
                </a:solidFill>
                <a:ea typeface="+mn-lt"/>
                <a:cs typeface="+mn-lt"/>
              </a:rPr>
              <a:t>Director </a:t>
            </a:r>
            <a:r>
              <a:rPr lang="en-US" sz="1200">
                <a:solidFill>
                  <a:srgbClr val="3366CC"/>
                </a:solidFill>
                <a:ea typeface="+mn-lt"/>
                <a:cs typeface="+mn-lt"/>
                <a:hlinkClick r:id="rId116"/>
              </a:rPr>
              <a:t>K. Balachander</a:t>
            </a:r>
            <a:r>
              <a:rPr lang="en-US" sz="1200">
                <a:solidFill>
                  <a:srgbClr val="202122"/>
                </a:solidFill>
                <a:ea typeface="+mn-lt"/>
                <a:cs typeface="+mn-lt"/>
              </a:rPr>
              <a:t> said, "Chiranjeevi has both </a:t>
            </a:r>
            <a:r>
              <a:rPr lang="en-US" sz="1200">
                <a:solidFill>
                  <a:srgbClr val="3366CC"/>
                </a:solidFill>
                <a:ea typeface="+mn-lt"/>
                <a:cs typeface="+mn-lt"/>
                <a:hlinkClick r:id="rId118"/>
              </a:rPr>
              <a:t>Kamal Haasan</a:t>
            </a:r>
            <a:r>
              <a:rPr lang="en-US" sz="1200">
                <a:solidFill>
                  <a:srgbClr val="202122"/>
                </a:solidFill>
                <a:ea typeface="+mn-lt"/>
                <a:cs typeface="+mn-lt"/>
              </a:rPr>
              <a:t> and </a:t>
            </a:r>
            <a:r>
              <a:rPr lang="en-US" sz="1200">
                <a:solidFill>
                  <a:srgbClr val="3366CC"/>
                </a:solidFill>
                <a:ea typeface="+mn-lt"/>
                <a:cs typeface="+mn-lt"/>
                <a:hlinkClick r:id="rId120"/>
              </a:rPr>
              <a:t>Rajinikanth</a:t>
            </a:r>
            <a:r>
              <a:rPr lang="en-US" sz="1200">
                <a:solidFill>
                  <a:srgbClr val="202122"/>
                </a:solidFill>
                <a:ea typeface="+mn-lt"/>
                <a:cs typeface="+mn-lt"/>
              </a:rPr>
              <a:t> in him. Not only can he do action, he can also act."</a:t>
            </a:r>
            <a:r>
              <a:rPr lang="en-US" sz="1000" baseline="30000">
                <a:solidFill>
                  <a:srgbClr val="3366CC"/>
                </a:solidFill>
                <a:ea typeface="+mn-lt"/>
                <a:cs typeface="+mn-lt"/>
                <a:hlinkClick r:id="rId317"/>
              </a:rPr>
              <a:t>[97]</a:t>
            </a:r>
            <a:r>
              <a:rPr lang="en-US" sz="1000" baseline="30000">
                <a:solidFill>
                  <a:srgbClr val="3366CC"/>
                </a:solidFill>
                <a:ea typeface="+mn-lt"/>
                <a:cs typeface="+mn-lt"/>
                <a:hlinkClick r:id="rId318"/>
              </a:rPr>
              <a:t>[98]</a:t>
            </a:r>
            <a:r>
              <a:rPr lang="en-US" sz="1200">
                <a:solidFill>
                  <a:srgbClr val="202122"/>
                </a:solidFill>
                <a:ea typeface="+mn-lt"/>
                <a:cs typeface="+mn-lt"/>
              </a:rPr>
              <a:t> Chiranjeevi received the </a:t>
            </a:r>
            <a:r>
              <a:rPr lang="en-US" sz="1200">
                <a:solidFill>
                  <a:srgbClr val="3366CC"/>
                </a:solidFill>
                <a:ea typeface="+mn-lt"/>
                <a:cs typeface="+mn-lt"/>
                <a:hlinkClick r:id="rId8"/>
              </a:rPr>
              <a:t>Padma Bhushan</a:t>
            </a:r>
            <a:r>
              <a:rPr lang="en-US" sz="1200">
                <a:solidFill>
                  <a:srgbClr val="202122"/>
                </a:solidFill>
                <a:ea typeface="+mn-lt"/>
                <a:cs typeface="+mn-lt"/>
              </a:rPr>
              <a:t>, the third highest civilian honour in India in the year 2006. In the same year, he was awarded an </a:t>
            </a:r>
            <a:r>
              <a:rPr lang="en-US" sz="1200">
                <a:solidFill>
                  <a:srgbClr val="3366CC"/>
                </a:solidFill>
                <a:ea typeface="+mn-lt"/>
                <a:cs typeface="+mn-lt"/>
                <a:hlinkClick r:id="rId319"/>
              </a:rPr>
              <a:t>Honorary Doctorate</a:t>
            </a:r>
            <a:r>
              <a:rPr lang="en-US" sz="1200">
                <a:solidFill>
                  <a:srgbClr val="202122"/>
                </a:solidFill>
                <a:ea typeface="+mn-lt"/>
                <a:cs typeface="+mn-lt"/>
              </a:rPr>
              <a:t> by </a:t>
            </a:r>
            <a:r>
              <a:rPr lang="en-US" sz="1200">
                <a:solidFill>
                  <a:srgbClr val="3366CC"/>
                </a:solidFill>
                <a:ea typeface="+mn-lt"/>
                <a:cs typeface="+mn-lt"/>
                <a:hlinkClick r:id="rId320"/>
              </a:rPr>
              <a:t>Andhra University</a:t>
            </a:r>
            <a:r>
              <a:rPr lang="en-US" sz="1200">
                <a:solidFill>
                  <a:srgbClr val="202122"/>
                </a:solidFill>
                <a:ea typeface="+mn-lt"/>
                <a:cs typeface="+mn-lt"/>
              </a:rPr>
              <a:t> for his contribution to films and his social service through the Chiranjeevi Charitable Trust.</a:t>
            </a:r>
            <a:r>
              <a:rPr lang="en-US" sz="1000" baseline="30000">
                <a:solidFill>
                  <a:srgbClr val="3366CC"/>
                </a:solidFill>
                <a:ea typeface="+mn-lt"/>
                <a:cs typeface="+mn-lt"/>
                <a:hlinkClick r:id="rId163"/>
              </a:rPr>
              <a:t>[38]</a:t>
            </a:r>
            <a:r>
              <a:rPr lang="en-US" sz="1200">
                <a:solidFill>
                  <a:srgbClr val="202122"/>
                </a:solidFill>
                <a:ea typeface="+mn-lt"/>
                <a:cs typeface="+mn-lt"/>
              </a:rPr>
              <a:t> He is a nine-time winner of </a:t>
            </a:r>
            <a:r>
              <a:rPr lang="en-US" sz="1200">
                <a:solidFill>
                  <a:srgbClr val="3366CC"/>
                </a:solidFill>
                <a:ea typeface="+mn-lt"/>
                <a:cs typeface="+mn-lt"/>
                <a:hlinkClick r:id="rId14"/>
              </a:rPr>
              <a:t>Filmfare Awards South</a:t>
            </a:r>
            <a:r>
              <a:rPr lang="en-US" sz="1000" baseline="30000">
                <a:solidFill>
                  <a:srgbClr val="3366CC"/>
                </a:solidFill>
                <a:ea typeface="+mn-lt"/>
                <a:cs typeface="+mn-lt"/>
                <a:hlinkClick r:id="rId108"/>
              </a:rPr>
              <a:t>[24]</a:t>
            </a:r>
            <a:r>
              <a:rPr lang="en-US" sz="1000" baseline="30000">
                <a:solidFill>
                  <a:srgbClr val="3366CC"/>
                </a:solidFill>
                <a:ea typeface="+mn-lt"/>
                <a:cs typeface="+mn-lt"/>
                <a:hlinkClick r:id="rId163"/>
              </a:rPr>
              <a:t>[38]</a:t>
            </a:r>
            <a:r>
              <a:rPr lang="en-US" sz="1200">
                <a:solidFill>
                  <a:srgbClr val="202122"/>
                </a:solidFill>
                <a:ea typeface="+mn-lt"/>
                <a:cs typeface="+mn-lt"/>
              </a:rPr>
              <a:t> and a three-time winner of </a:t>
            </a:r>
            <a:r>
              <a:rPr lang="en-US" sz="1200">
                <a:solidFill>
                  <a:srgbClr val="3366CC"/>
                </a:solidFill>
                <a:ea typeface="+mn-lt"/>
                <a:cs typeface="+mn-lt"/>
                <a:hlinkClick r:id="rId13"/>
              </a:rPr>
              <a:t>Nandi Awards</a:t>
            </a:r>
            <a:r>
              <a:rPr lang="en-US" sz="1200">
                <a:solidFill>
                  <a:srgbClr val="202122"/>
                </a:solidFill>
                <a:ea typeface="+mn-lt"/>
                <a:cs typeface="+mn-lt"/>
              </a:rPr>
              <a:t>. He was the first actor from South India to be invited to </a:t>
            </a:r>
            <a:r>
              <a:rPr lang="en-US" sz="1200">
                <a:solidFill>
                  <a:srgbClr val="3366CC"/>
                </a:solidFill>
                <a:ea typeface="+mn-lt"/>
                <a:cs typeface="+mn-lt"/>
                <a:hlinkClick r:id="rId321"/>
              </a:rPr>
              <a:t>the Oscars ceremony</a:t>
            </a:r>
            <a:r>
              <a:rPr lang="en-US" sz="1200">
                <a:solidFill>
                  <a:srgbClr val="202122"/>
                </a:solidFill>
                <a:ea typeface="+mn-lt"/>
                <a:cs typeface="+mn-lt"/>
              </a:rPr>
              <a:t> in 1987.</a:t>
            </a:r>
            <a:r>
              <a:rPr lang="en-US" sz="1000" baseline="30000">
                <a:solidFill>
                  <a:srgbClr val="3366CC"/>
                </a:solidFill>
                <a:ea typeface="+mn-lt"/>
                <a:cs typeface="+mn-lt"/>
                <a:hlinkClick r:id="rId322"/>
              </a:rPr>
              <a:t>[99]</a:t>
            </a:r>
            <a:r>
              <a:rPr lang="en-US" sz="1200">
                <a:solidFill>
                  <a:srgbClr val="202122"/>
                </a:solidFill>
                <a:ea typeface="+mn-lt"/>
                <a:cs typeface="+mn-lt"/>
              </a:rPr>
              <a:t> In 2013, </a:t>
            </a:r>
            <a:r>
              <a:rPr lang="en-US" sz="1200">
                <a:solidFill>
                  <a:srgbClr val="3366CC"/>
                </a:solidFill>
                <a:ea typeface="+mn-lt"/>
                <a:cs typeface="+mn-lt"/>
                <a:hlinkClick r:id="rId17"/>
              </a:rPr>
              <a:t>CNN-IBN</a:t>
            </a:r>
            <a:r>
              <a:rPr lang="en-US" sz="1200">
                <a:solidFill>
                  <a:srgbClr val="202122"/>
                </a:solidFill>
                <a:ea typeface="+mn-lt"/>
                <a:cs typeface="+mn-lt"/>
              </a:rPr>
              <a:t> recognized him as one of "the men who changed the face of the Indian Cinema".</a:t>
            </a:r>
            <a:r>
              <a:rPr lang="en-US" sz="1000" baseline="30000">
                <a:solidFill>
                  <a:srgbClr val="3366CC"/>
                </a:solidFill>
                <a:ea typeface="+mn-lt"/>
                <a:cs typeface="+mn-lt"/>
                <a:hlinkClick r:id="rId323"/>
              </a:rPr>
              <a:t>[100]</a:t>
            </a:r>
            <a:r>
              <a:rPr lang="en-US" sz="1200">
                <a:solidFill>
                  <a:srgbClr val="202122"/>
                </a:solidFill>
                <a:ea typeface="+mn-lt"/>
                <a:cs typeface="+mn-lt"/>
              </a:rPr>
              <a:t> In 2014, he was awarded International Face of Indian Cinema at the </a:t>
            </a:r>
            <a:r>
              <a:rPr lang="en-US" sz="1200">
                <a:solidFill>
                  <a:srgbClr val="3366CC"/>
                </a:solidFill>
                <a:ea typeface="+mn-lt"/>
                <a:cs typeface="+mn-lt"/>
                <a:hlinkClick r:id="rId324"/>
              </a:rPr>
              <a:t>3rd South Indian International Movie Awards</a:t>
            </a:r>
            <a:r>
              <a:rPr lang="en-US" sz="1200">
                <a:solidFill>
                  <a:srgbClr val="202122"/>
                </a:solidFill>
                <a:ea typeface="+mn-lt"/>
                <a:cs typeface="+mn-lt"/>
              </a:rPr>
              <a:t> by </a:t>
            </a:r>
            <a:r>
              <a:rPr lang="en-US" sz="1200">
                <a:solidFill>
                  <a:srgbClr val="3366CC"/>
                </a:solidFill>
                <a:ea typeface="+mn-lt"/>
                <a:cs typeface="+mn-lt"/>
                <a:hlinkClick r:id="rId325"/>
              </a:rPr>
              <a:t>Tengku Adnan Tengku Mansor</a:t>
            </a:r>
            <a:r>
              <a:rPr lang="en-US" sz="1200">
                <a:solidFill>
                  <a:srgbClr val="202122"/>
                </a:solidFill>
                <a:ea typeface="+mn-lt"/>
                <a:cs typeface="+mn-lt"/>
              </a:rPr>
              <a:t>.</a:t>
            </a:r>
            <a:r>
              <a:rPr lang="en-US" sz="1000" baseline="30000">
                <a:solidFill>
                  <a:srgbClr val="3366CC"/>
                </a:solidFill>
                <a:ea typeface="+mn-lt"/>
                <a:cs typeface="+mn-lt"/>
                <a:hlinkClick r:id="rId326"/>
              </a:rPr>
              <a:t>[101]</a:t>
            </a:r>
            <a:r>
              <a:rPr lang="en-US" sz="1200">
                <a:solidFill>
                  <a:srgbClr val="202122"/>
                </a:solidFill>
                <a:ea typeface="+mn-lt"/>
                <a:cs typeface="+mn-lt"/>
              </a:rPr>
              <a:t> In 2024, he was honoured with a </a:t>
            </a:r>
            <a:r>
              <a:rPr lang="en-US" sz="1200">
                <a:solidFill>
                  <a:srgbClr val="3366CC"/>
                </a:solidFill>
                <a:ea typeface="+mn-lt"/>
                <a:cs typeface="+mn-lt"/>
                <a:hlinkClick r:id="rId18"/>
              </a:rPr>
              <a:t>Guinness World Record</a:t>
            </a:r>
            <a:r>
              <a:rPr lang="en-US" sz="1200">
                <a:solidFill>
                  <a:srgbClr val="202122"/>
                </a:solidFill>
                <a:ea typeface="+mn-lt"/>
                <a:cs typeface="+mn-lt"/>
              </a:rPr>
              <a:t> as the most prolific actor-dancer in the Indian film industry for performing more than 24,000 dance moves in 537 songs in 156 films in a career spanning over 45 years.</a:t>
            </a:r>
            <a:r>
              <a:rPr lang="en-US" sz="1000" baseline="30000" dirty="0">
                <a:solidFill>
                  <a:srgbClr val="3366CC"/>
                </a:solidFill>
                <a:ea typeface="+mn-lt"/>
                <a:cs typeface="+mn-lt"/>
                <a:hlinkClick r:id="rId327"/>
              </a:rPr>
              <a:t>[102]</a:t>
            </a:r>
            <a:endParaRPr lang="en-US"/>
          </a:p>
          <a:p>
            <a:r>
              <a:rPr lang="en-US" sz="1100">
                <a:solidFill>
                  <a:srgbClr val="202122"/>
                </a:solidFill>
                <a:ea typeface="+mn-lt"/>
                <a:cs typeface="+mn-lt"/>
              </a:rPr>
              <a:t>Chiranjeevi receiving </a:t>
            </a:r>
            <a:r>
              <a:rPr lang="en-US" sz="1100">
                <a:solidFill>
                  <a:srgbClr val="3366CC"/>
                </a:solidFill>
                <a:ea typeface="+mn-lt"/>
                <a:cs typeface="+mn-lt"/>
                <a:hlinkClick r:id="rId8"/>
              </a:rPr>
              <a:t>Padma Bhushan</a:t>
            </a:r>
            <a:r>
              <a:rPr lang="en-US" sz="1100">
                <a:solidFill>
                  <a:srgbClr val="202122"/>
                </a:solidFill>
                <a:ea typeface="+mn-lt"/>
                <a:cs typeface="+mn-lt"/>
              </a:rPr>
              <a:t> from </a:t>
            </a:r>
            <a:r>
              <a:rPr lang="en-US" sz="1100">
                <a:solidFill>
                  <a:srgbClr val="3366CC"/>
                </a:solidFill>
                <a:ea typeface="+mn-lt"/>
                <a:cs typeface="+mn-lt"/>
                <a:hlinkClick r:id="rId300"/>
              </a:rPr>
              <a:t>A. P. J. Abdul Kalam</a:t>
            </a:r>
            <a:r>
              <a:rPr lang="en-US" sz="1100">
                <a:solidFill>
                  <a:srgbClr val="202122"/>
                </a:solidFill>
                <a:ea typeface="+mn-lt"/>
                <a:cs typeface="+mn-lt"/>
              </a:rPr>
              <a:t>, the then </a:t>
            </a:r>
            <a:r>
              <a:rPr lang="en-US" sz="1100">
                <a:solidFill>
                  <a:srgbClr val="3366CC"/>
                </a:solidFill>
                <a:ea typeface="+mn-lt"/>
                <a:cs typeface="+mn-lt"/>
                <a:hlinkClick r:id="rId299"/>
              </a:rPr>
              <a:t>President of India</a:t>
            </a:r>
            <a:r>
              <a:rPr lang="en-US" sz="1100">
                <a:solidFill>
                  <a:srgbClr val="202122"/>
                </a:solidFill>
                <a:ea typeface="+mn-lt"/>
                <a:cs typeface="+mn-lt"/>
              </a:rPr>
              <a:t> in 2006</a:t>
            </a:r>
            <a:endParaRPr lang="en-US"/>
          </a:p>
          <a:p>
            <a:r>
              <a:rPr lang="en-US" b="1"/>
              <a:t>Civilian honours</a:t>
            </a:r>
            <a:endParaRPr lang="en-US"/>
          </a:p>
          <a:p>
            <a:pPr marL="285750" indent="-285750">
              <a:buFont typeface="Arial"/>
              <a:buChar char="•"/>
            </a:pPr>
            <a:r>
              <a:rPr lang="en-US" sz="1200">
                <a:solidFill>
                  <a:srgbClr val="202122"/>
                </a:solidFill>
                <a:ea typeface="+mn-lt"/>
                <a:cs typeface="+mn-lt"/>
              </a:rPr>
              <a:t>2006 – </a:t>
            </a:r>
            <a:r>
              <a:rPr lang="en-US" sz="1200">
                <a:solidFill>
                  <a:srgbClr val="3366CC"/>
                </a:solidFill>
                <a:ea typeface="+mn-lt"/>
                <a:cs typeface="+mn-lt"/>
                <a:hlinkClick r:id="rId8"/>
              </a:rPr>
              <a:t>Padma Bhushan</a:t>
            </a:r>
            <a:r>
              <a:rPr lang="en-US" sz="1200">
                <a:solidFill>
                  <a:srgbClr val="202122"/>
                </a:solidFill>
                <a:ea typeface="+mn-lt"/>
                <a:cs typeface="+mn-lt"/>
              </a:rPr>
              <a:t> from the </a:t>
            </a:r>
            <a:r>
              <a:rPr lang="en-US" sz="1200" dirty="0">
                <a:solidFill>
                  <a:srgbClr val="3366CC"/>
                </a:solidFill>
                <a:ea typeface="+mn-lt"/>
                <a:cs typeface="+mn-lt"/>
                <a:hlinkClick r:id="rId10"/>
              </a:rPr>
              <a:t>Government of India</a:t>
            </a:r>
            <a:r>
              <a:rPr lang="en-US" sz="1000" baseline="30000" dirty="0">
                <a:solidFill>
                  <a:srgbClr val="3366CC"/>
                </a:solidFill>
                <a:ea typeface="+mn-lt"/>
                <a:cs typeface="+mn-lt"/>
                <a:hlinkClick r:id="rId328"/>
              </a:rPr>
              <a:t>[103]</a:t>
            </a:r>
            <a:endParaRPr lang="en-US"/>
          </a:p>
          <a:p>
            <a:pPr marL="285750" indent="-285750">
              <a:buFont typeface="Arial"/>
              <a:buChar char="•"/>
            </a:pPr>
            <a:r>
              <a:rPr lang="en-US" sz="1200">
                <a:solidFill>
                  <a:srgbClr val="202122"/>
                </a:solidFill>
                <a:ea typeface="+mn-lt"/>
                <a:cs typeface="+mn-lt"/>
              </a:rPr>
              <a:t>2024 – </a:t>
            </a:r>
            <a:r>
              <a:rPr lang="en-US" sz="1200">
                <a:solidFill>
                  <a:srgbClr val="3366CC"/>
                </a:solidFill>
                <a:ea typeface="+mn-lt"/>
                <a:cs typeface="+mn-lt"/>
                <a:hlinkClick r:id="rId9"/>
              </a:rPr>
              <a:t>Padma Vibhushan</a:t>
            </a:r>
            <a:r>
              <a:rPr lang="en-US" sz="1200">
                <a:solidFill>
                  <a:srgbClr val="202122"/>
                </a:solidFill>
                <a:ea typeface="+mn-lt"/>
                <a:cs typeface="+mn-lt"/>
              </a:rPr>
              <a:t> from the </a:t>
            </a:r>
            <a:r>
              <a:rPr lang="en-US" sz="1200" dirty="0">
                <a:solidFill>
                  <a:srgbClr val="3366CC"/>
                </a:solidFill>
                <a:ea typeface="+mn-lt"/>
                <a:cs typeface="+mn-lt"/>
                <a:hlinkClick r:id="rId10"/>
              </a:rPr>
              <a:t>Government of India</a:t>
            </a:r>
            <a:r>
              <a:rPr lang="en-US" sz="1000" baseline="30000" dirty="0">
                <a:solidFill>
                  <a:srgbClr val="3366CC"/>
                </a:solidFill>
                <a:ea typeface="+mn-lt"/>
                <a:cs typeface="+mn-lt"/>
                <a:hlinkClick r:id="rId329"/>
              </a:rPr>
              <a:t>[104]</a:t>
            </a:r>
            <a:r>
              <a:rPr lang="en-US" sz="1000" baseline="30000" dirty="0">
                <a:solidFill>
                  <a:srgbClr val="3366CC"/>
                </a:solidFill>
                <a:ea typeface="+mn-lt"/>
                <a:cs typeface="+mn-lt"/>
                <a:hlinkClick r:id="rId330"/>
              </a:rPr>
              <a:t>[105]</a:t>
            </a:r>
            <a:endParaRPr lang="en-US"/>
          </a:p>
          <a:p>
            <a:r>
              <a:rPr lang="en-US" b="1"/>
              <a:t>National honours</a:t>
            </a:r>
            <a:endParaRPr lang="en-US"/>
          </a:p>
          <a:p>
            <a:pPr marL="285750" indent="-285750">
              <a:buFont typeface="Arial"/>
              <a:buChar char="•"/>
            </a:pPr>
            <a:r>
              <a:rPr lang="en-US" sz="1200">
                <a:solidFill>
                  <a:srgbClr val="202122"/>
                </a:solidFill>
                <a:ea typeface="+mn-lt"/>
                <a:cs typeface="+mn-lt"/>
              </a:rPr>
              <a:t>2022 – </a:t>
            </a:r>
            <a:r>
              <a:rPr lang="en-US" sz="1200" dirty="0">
                <a:solidFill>
                  <a:srgbClr val="3366CC"/>
                </a:solidFill>
                <a:ea typeface="+mn-lt"/>
                <a:cs typeface="+mn-lt"/>
                <a:hlinkClick r:id="rId11"/>
              </a:rPr>
              <a:t>IFFI Indian Film Personality of the Year Award</a:t>
            </a:r>
            <a:r>
              <a:rPr lang="en-US" sz="1000" baseline="30000" dirty="0">
                <a:solidFill>
                  <a:srgbClr val="3366CC"/>
                </a:solidFill>
                <a:ea typeface="+mn-lt"/>
                <a:cs typeface="+mn-lt"/>
                <a:hlinkClick r:id="rId331"/>
              </a:rPr>
              <a:t>[106]</a:t>
            </a:r>
            <a:endParaRPr lang="en-US"/>
          </a:p>
          <a:p>
            <a:pPr marL="285750" indent="-285750">
              <a:buFont typeface="Arial"/>
              <a:buChar char="•"/>
            </a:pPr>
            <a:r>
              <a:rPr lang="en-US" sz="1200">
                <a:solidFill>
                  <a:srgbClr val="202122"/>
                </a:solidFill>
                <a:ea typeface="+mn-lt"/>
                <a:cs typeface="+mn-lt"/>
              </a:rPr>
              <a:t>2024 – </a:t>
            </a:r>
            <a:r>
              <a:rPr lang="en-US" sz="1200">
                <a:solidFill>
                  <a:srgbClr val="3366CC"/>
                </a:solidFill>
                <a:ea typeface="+mn-lt"/>
                <a:cs typeface="+mn-lt"/>
                <a:hlinkClick r:id="rId332"/>
              </a:rPr>
              <a:t>ANR National Award</a:t>
            </a:r>
            <a:r>
              <a:rPr lang="en-US" sz="1000" baseline="30000">
                <a:solidFill>
                  <a:srgbClr val="3366CC"/>
                </a:solidFill>
                <a:ea typeface="+mn-lt"/>
                <a:cs typeface="+mn-lt"/>
                <a:hlinkClick r:id="rId333"/>
              </a:rPr>
              <a:t>[107]</a:t>
            </a:r>
            <a:r>
              <a:rPr lang="en-US" sz="1000" baseline="30000">
                <a:solidFill>
                  <a:srgbClr val="3366CC"/>
                </a:solidFill>
                <a:ea typeface="+mn-lt"/>
                <a:cs typeface="+mn-lt"/>
                <a:hlinkClick r:id="rId334"/>
              </a:rPr>
              <a:t>[108]</a:t>
            </a:r>
            <a:r>
              <a:rPr lang="en-US" sz="1200">
                <a:solidFill>
                  <a:srgbClr val="202122"/>
                </a:solidFill>
                <a:ea typeface="+mn-lt"/>
                <a:cs typeface="+mn-lt"/>
              </a:rPr>
              <a:t> He was given this by </a:t>
            </a:r>
            <a:r>
              <a:rPr lang="en-US" sz="1200">
                <a:solidFill>
                  <a:srgbClr val="3366CC"/>
                </a:solidFill>
                <a:ea typeface="+mn-lt"/>
                <a:cs typeface="+mn-lt"/>
                <a:hlinkClick r:id="rId33"/>
              </a:rPr>
              <a:t>Amitabh Bachchan</a:t>
            </a:r>
            <a:r>
              <a:rPr lang="en-US" sz="1200">
                <a:solidFill>
                  <a:srgbClr val="202122"/>
                </a:solidFill>
                <a:ea typeface="+mn-lt"/>
                <a:cs typeface="+mn-lt"/>
              </a:rPr>
              <a:t> at the ceremony in October.</a:t>
            </a:r>
            <a:r>
              <a:rPr lang="en-US" sz="1000" baseline="30000" dirty="0">
                <a:solidFill>
                  <a:srgbClr val="3366CC"/>
                </a:solidFill>
                <a:ea typeface="+mn-lt"/>
                <a:cs typeface="+mn-lt"/>
                <a:hlinkClick r:id="rId335"/>
              </a:rPr>
              <a:t>[109]</a:t>
            </a:r>
            <a:endParaRPr lang="en-US"/>
          </a:p>
          <a:p>
            <a:r>
              <a:rPr lang="en-US" b="1"/>
              <a:t>State honours</a:t>
            </a:r>
            <a:endParaRPr lang="en-US"/>
          </a:p>
          <a:p>
            <a:pPr marL="285750" indent="-285750">
              <a:buFont typeface="Arial"/>
              <a:buChar char="•"/>
            </a:pPr>
            <a:r>
              <a:rPr lang="en-US" sz="1200">
                <a:solidFill>
                  <a:srgbClr val="202122"/>
                </a:solidFill>
                <a:ea typeface="+mn-lt"/>
                <a:cs typeface="+mn-lt"/>
              </a:rPr>
              <a:t>2016 – </a:t>
            </a:r>
            <a:r>
              <a:rPr lang="en-US" sz="1200">
                <a:solidFill>
                  <a:srgbClr val="3366CC"/>
                </a:solidFill>
                <a:ea typeface="+mn-lt"/>
                <a:cs typeface="+mn-lt"/>
                <a:hlinkClick r:id="rId12"/>
              </a:rPr>
              <a:t>Raghupathi Venkaiah Award</a:t>
            </a:r>
            <a:r>
              <a:rPr lang="en-US" sz="1200">
                <a:solidFill>
                  <a:srgbClr val="202122"/>
                </a:solidFill>
                <a:ea typeface="+mn-lt"/>
                <a:cs typeface="+mn-lt"/>
              </a:rPr>
              <a:t> from the </a:t>
            </a:r>
            <a:r>
              <a:rPr lang="en-US" sz="1200" dirty="0">
                <a:solidFill>
                  <a:srgbClr val="3366CC"/>
                </a:solidFill>
                <a:ea typeface="+mn-lt"/>
                <a:cs typeface="+mn-lt"/>
                <a:hlinkClick r:id="rId51"/>
              </a:rPr>
              <a:t>Government of Andhra Pradesh</a:t>
            </a:r>
            <a:r>
              <a:rPr lang="en-US" sz="1000" baseline="30000" dirty="0">
                <a:solidFill>
                  <a:srgbClr val="3366CC"/>
                </a:solidFill>
                <a:ea typeface="+mn-lt"/>
                <a:cs typeface="+mn-lt"/>
                <a:hlinkClick r:id="rId336"/>
              </a:rPr>
              <a:t>[110]</a:t>
            </a:r>
            <a:endParaRPr lang="en-US"/>
          </a:p>
          <a:p>
            <a:r>
              <a:rPr lang="en-US" b="1"/>
              <a:t>Acting honours</a:t>
            </a:r>
            <a:endParaRPr lang="en-US"/>
          </a:p>
          <a:p>
            <a:r>
              <a:rPr lang="en-US" sz="1200" b="1" dirty="0">
                <a:solidFill>
                  <a:srgbClr val="3366CC"/>
                </a:solidFill>
                <a:ea typeface="+mn-lt"/>
                <a:cs typeface="+mn-lt"/>
                <a:hlinkClick r:id="rId14"/>
              </a:rPr>
              <a:t>Filmfare Awards South</a:t>
            </a:r>
            <a:endParaRPr lang="en-US"/>
          </a:p>
          <a:p>
            <a:r>
              <a:rPr lang="en-US" sz="1200" b="1">
                <a:solidFill>
                  <a:srgbClr val="202122"/>
                </a:solidFill>
              </a:rPr>
              <a:t>Year</a:t>
            </a:r>
            <a:endParaRPr lang="en-US"/>
          </a:p>
          <a:p>
            <a:r>
              <a:rPr lang="en-US" sz="1200" b="1">
                <a:solidFill>
                  <a:srgbClr val="202122"/>
                </a:solidFill>
              </a:rPr>
              <a:t>Category</a:t>
            </a:r>
            <a:endParaRPr lang="en-US"/>
          </a:p>
          <a:p>
            <a:r>
              <a:rPr lang="en-US" sz="1200" b="1">
                <a:solidFill>
                  <a:srgbClr val="202122"/>
                </a:solidFill>
              </a:rPr>
              <a:t>Film</a:t>
            </a:r>
            <a:endParaRPr lang="en-US"/>
          </a:p>
          <a:p>
            <a:r>
              <a:rPr lang="en-US" sz="1200" b="1">
                <a:solidFill>
                  <a:srgbClr val="202122"/>
                </a:solidFill>
              </a:rPr>
              <a:t>Result</a:t>
            </a:r>
            <a:endParaRPr lang="en-US"/>
          </a:p>
          <a:p>
            <a:r>
              <a:rPr lang="en-US" sz="1200" b="1" u="sng">
                <a:solidFill>
                  <a:srgbClr val="202122"/>
                </a:solidFill>
              </a:rPr>
              <a:t>Ref.</a:t>
            </a:r>
            <a:endParaRPr lang="en-US"/>
          </a:p>
          <a:p>
            <a:pPr algn="l"/>
            <a:r>
              <a:rPr lang="en-US" sz="1200">
                <a:solidFill>
                  <a:srgbClr val="202122"/>
                </a:solidFill>
              </a:rPr>
              <a:t>1982</a:t>
            </a:r>
            <a:endParaRPr lang="en-US"/>
          </a:p>
          <a:p>
            <a:pPr algn="l"/>
            <a:r>
              <a:rPr lang="en-US" sz="1200" dirty="0">
                <a:solidFill>
                  <a:srgbClr val="3366CC"/>
                </a:solidFill>
                <a:hlinkClick r:id="rId135"/>
              </a:rPr>
              <a:t>Best Actor – Telugu</a:t>
            </a:r>
            <a:endParaRPr lang="en-US"/>
          </a:p>
          <a:p>
            <a:pPr algn="l"/>
            <a:r>
              <a:rPr lang="en-US" sz="1200" i="1" dirty="0">
                <a:solidFill>
                  <a:srgbClr val="3366CC"/>
                </a:solidFill>
                <a:hlinkClick r:id="rId132"/>
              </a:rPr>
              <a:t>Subhalekha</a:t>
            </a:r>
            <a:endParaRPr lang="en-US"/>
          </a:p>
          <a:p>
            <a:r>
              <a:rPr lang="en-US" sz="1200"/>
              <a:t>Won</a:t>
            </a:r>
            <a:endParaRPr lang="en-US"/>
          </a:p>
          <a:p>
            <a:pPr algn="l"/>
            <a:r>
              <a:rPr lang="en-US" sz="1000" baseline="30000" dirty="0">
                <a:solidFill>
                  <a:srgbClr val="3366CC"/>
                </a:solidFill>
                <a:hlinkClick r:id="rId337"/>
              </a:rPr>
              <a:t>[111]</a:t>
            </a:r>
            <a:endParaRPr lang="en-US"/>
          </a:p>
          <a:p>
            <a:pPr algn="l"/>
            <a:r>
              <a:rPr lang="en-US" sz="1200">
                <a:solidFill>
                  <a:srgbClr val="202122"/>
                </a:solidFill>
              </a:rPr>
              <a:t>1985</a:t>
            </a:r>
            <a:endParaRPr lang="en-US"/>
          </a:p>
          <a:p>
            <a:pPr algn="l"/>
            <a:r>
              <a:rPr lang="en-US" sz="1200" i="1" dirty="0">
                <a:solidFill>
                  <a:srgbClr val="3366CC"/>
                </a:solidFill>
                <a:hlinkClick r:id="rId157"/>
              </a:rPr>
              <a:t>Vijetha</a:t>
            </a:r>
            <a:endParaRPr lang="en-US"/>
          </a:p>
          <a:p>
            <a:r>
              <a:rPr lang="en-US" sz="1200"/>
              <a:t>Won</a:t>
            </a:r>
            <a:endParaRPr lang="en-US"/>
          </a:p>
          <a:p>
            <a:pPr algn="l"/>
            <a:r>
              <a:rPr lang="en-US" sz="1000" baseline="30000" dirty="0">
                <a:solidFill>
                  <a:srgbClr val="3366CC"/>
                </a:solidFill>
                <a:hlinkClick r:id="rId338"/>
              </a:rPr>
              <a:t>[112]</a:t>
            </a:r>
            <a:endParaRPr lang="en-US"/>
          </a:p>
          <a:p>
            <a:pPr algn="l"/>
            <a:r>
              <a:rPr lang="en-US" sz="1200">
                <a:solidFill>
                  <a:srgbClr val="202122"/>
                </a:solidFill>
              </a:rPr>
              <a:t>1992</a:t>
            </a:r>
            <a:endParaRPr lang="en-US"/>
          </a:p>
          <a:p>
            <a:pPr algn="l"/>
            <a:r>
              <a:rPr lang="en-US" sz="1200" i="1" dirty="0">
                <a:solidFill>
                  <a:srgbClr val="3366CC"/>
                </a:solidFill>
                <a:hlinkClick r:id="rId35"/>
              </a:rPr>
              <a:t>Aapadbandhavudu</a:t>
            </a:r>
            <a:endParaRPr lang="en-US"/>
          </a:p>
          <a:p>
            <a:r>
              <a:rPr lang="en-US" sz="1200"/>
              <a:t>Won</a:t>
            </a:r>
            <a:endParaRPr lang="en-US"/>
          </a:p>
          <a:p>
            <a:pPr algn="l"/>
            <a:r>
              <a:rPr lang="en-US" sz="1000" baseline="30000" dirty="0">
                <a:solidFill>
                  <a:srgbClr val="3366CC"/>
                </a:solidFill>
                <a:hlinkClick r:id="rId339"/>
              </a:rPr>
              <a:t>[113]</a:t>
            </a:r>
            <a:endParaRPr lang="en-US"/>
          </a:p>
          <a:p>
            <a:pPr algn="l"/>
            <a:r>
              <a:rPr lang="en-US" sz="1200">
                <a:solidFill>
                  <a:srgbClr val="202122"/>
                </a:solidFill>
              </a:rPr>
              <a:t>1993</a:t>
            </a:r>
            <a:endParaRPr lang="en-US"/>
          </a:p>
          <a:p>
            <a:pPr algn="l"/>
            <a:r>
              <a:rPr lang="en-US" sz="1200" i="1" dirty="0">
                <a:solidFill>
                  <a:srgbClr val="3366CC"/>
                </a:solidFill>
                <a:hlinkClick r:id="rId190"/>
              </a:rPr>
              <a:t>Muta Mestri</a:t>
            </a:r>
            <a:endParaRPr lang="en-US"/>
          </a:p>
          <a:p>
            <a:r>
              <a:rPr lang="en-US" sz="1200"/>
              <a:t>Won</a:t>
            </a:r>
            <a:endParaRPr lang="en-US"/>
          </a:p>
          <a:p>
            <a:pPr algn="l"/>
            <a:r>
              <a:rPr lang="en-US" sz="1000" baseline="30000" dirty="0">
                <a:solidFill>
                  <a:srgbClr val="3366CC"/>
                </a:solidFill>
                <a:hlinkClick r:id="rId340"/>
              </a:rPr>
              <a:t>[114]</a:t>
            </a:r>
            <a:endParaRPr lang="en-US"/>
          </a:p>
          <a:p>
            <a:pPr algn="l"/>
            <a:r>
              <a:rPr lang="en-US" sz="1200">
                <a:solidFill>
                  <a:srgbClr val="202122"/>
                </a:solidFill>
              </a:rPr>
              <a:t>1999</a:t>
            </a:r>
            <a:endParaRPr lang="en-US"/>
          </a:p>
          <a:p>
            <a:pPr algn="l"/>
            <a:r>
              <a:rPr lang="en-US" sz="1200" i="1" dirty="0">
                <a:solidFill>
                  <a:srgbClr val="3366CC"/>
                </a:solidFill>
                <a:hlinkClick r:id="rId197"/>
              </a:rPr>
              <a:t>Sneham Kosam</a:t>
            </a:r>
            <a:endParaRPr lang="en-US"/>
          </a:p>
          <a:p>
            <a:r>
              <a:rPr lang="en-US" sz="1200"/>
              <a:t>Won</a:t>
            </a:r>
            <a:endParaRPr lang="en-US"/>
          </a:p>
          <a:p>
            <a:pPr algn="l"/>
            <a:r>
              <a:rPr lang="en-US" sz="1000" baseline="30000" dirty="0">
                <a:solidFill>
                  <a:srgbClr val="3366CC"/>
                </a:solidFill>
                <a:hlinkClick r:id="rId341"/>
              </a:rPr>
              <a:t>[115]</a:t>
            </a:r>
            <a:endParaRPr lang="en-US"/>
          </a:p>
          <a:p>
            <a:pPr algn="l"/>
            <a:r>
              <a:rPr lang="en-US" sz="1200">
                <a:solidFill>
                  <a:srgbClr val="202122"/>
                </a:solidFill>
              </a:rPr>
              <a:t>2002</a:t>
            </a:r>
            <a:endParaRPr lang="en-US"/>
          </a:p>
          <a:p>
            <a:pPr algn="l"/>
            <a:r>
              <a:rPr lang="en-US" sz="1200" i="1" dirty="0">
                <a:solidFill>
                  <a:srgbClr val="3366CC"/>
                </a:solidFill>
                <a:hlinkClick r:id="rId43"/>
              </a:rPr>
              <a:t>Indra</a:t>
            </a:r>
            <a:endParaRPr lang="en-US"/>
          </a:p>
          <a:p>
            <a:r>
              <a:rPr lang="en-US" sz="1200"/>
              <a:t>Won</a:t>
            </a:r>
            <a:endParaRPr lang="en-US"/>
          </a:p>
          <a:p>
            <a:pPr algn="l"/>
            <a:r>
              <a:rPr lang="en-US" sz="1000" baseline="30000" dirty="0">
                <a:solidFill>
                  <a:srgbClr val="3366CC"/>
                </a:solidFill>
                <a:hlinkClick r:id="rId342"/>
              </a:rPr>
              <a:t>[116]</a:t>
            </a:r>
            <a:endParaRPr lang="en-US"/>
          </a:p>
          <a:p>
            <a:pPr algn="l"/>
            <a:r>
              <a:rPr lang="en-US" sz="1200">
                <a:solidFill>
                  <a:srgbClr val="202122"/>
                </a:solidFill>
              </a:rPr>
              <a:t>2004</a:t>
            </a:r>
            <a:endParaRPr lang="en-US"/>
          </a:p>
          <a:p>
            <a:pPr algn="l"/>
            <a:r>
              <a:rPr lang="en-US" sz="1200" i="1" dirty="0">
                <a:solidFill>
                  <a:srgbClr val="3366CC"/>
                </a:solidFill>
                <a:hlinkClick r:id="rId343"/>
              </a:rPr>
              <a:t>Shankar Dada MBBS</a:t>
            </a:r>
            <a:endParaRPr lang="en-US"/>
          </a:p>
          <a:p>
            <a:r>
              <a:rPr lang="en-US" sz="1200"/>
              <a:t>Won</a:t>
            </a:r>
            <a:endParaRPr lang="en-US"/>
          </a:p>
          <a:p>
            <a:pPr algn="l"/>
            <a:r>
              <a:rPr lang="en-US" sz="1000" baseline="30000" dirty="0">
                <a:solidFill>
                  <a:srgbClr val="3366CC"/>
                </a:solidFill>
                <a:hlinkClick r:id="rId344"/>
              </a:rPr>
              <a:t>[117]</a:t>
            </a:r>
            <a:endParaRPr lang="en-US"/>
          </a:p>
          <a:p>
            <a:pPr algn="l"/>
            <a:r>
              <a:rPr lang="en-US" sz="1200">
                <a:solidFill>
                  <a:srgbClr val="202122"/>
                </a:solidFill>
              </a:rPr>
              <a:t>2006</a:t>
            </a:r>
            <a:endParaRPr lang="en-US"/>
          </a:p>
          <a:p>
            <a:pPr algn="l"/>
            <a:r>
              <a:rPr lang="en-US" sz="1200" dirty="0">
                <a:solidFill>
                  <a:srgbClr val="3366CC"/>
                </a:solidFill>
                <a:hlinkClick r:id="rId16"/>
              </a:rPr>
              <a:t>Special Award – South</a:t>
            </a:r>
            <a:endParaRPr lang="en-US"/>
          </a:p>
          <a:p>
            <a:pPr algn="l"/>
            <a:r>
              <a:rPr lang="en-US" sz="1200">
                <a:solidFill>
                  <a:srgbClr val="202122"/>
                </a:solidFill>
              </a:rPr>
              <a:t>Legends (Honorary Award)</a:t>
            </a:r>
            <a:endParaRPr lang="en-US"/>
          </a:p>
          <a:p>
            <a:r>
              <a:rPr lang="en-US" sz="1200"/>
              <a:t>Won</a:t>
            </a:r>
            <a:endParaRPr lang="en-US"/>
          </a:p>
          <a:p>
            <a:pPr algn="l"/>
            <a:r>
              <a:rPr lang="en-US" sz="1000" baseline="30000" dirty="0">
                <a:solidFill>
                  <a:srgbClr val="3366CC"/>
                </a:solidFill>
                <a:hlinkClick r:id="rId345"/>
              </a:rPr>
              <a:t>[118]</a:t>
            </a:r>
            <a:r>
              <a:rPr lang="en-US" sz="1000" baseline="30000" dirty="0">
                <a:solidFill>
                  <a:srgbClr val="3366CC"/>
                </a:solidFill>
                <a:hlinkClick r:id="rId346"/>
              </a:rPr>
              <a:t>[119]</a:t>
            </a:r>
            <a:endParaRPr lang="en-US"/>
          </a:p>
          <a:p>
            <a:pPr algn="l"/>
            <a:r>
              <a:rPr lang="en-US" sz="1200">
                <a:solidFill>
                  <a:srgbClr val="202122"/>
                </a:solidFill>
              </a:rPr>
              <a:t>2010</a:t>
            </a:r>
            <a:endParaRPr lang="en-US"/>
          </a:p>
          <a:p>
            <a:pPr algn="l"/>
            <a:r>
              <a:rPr lang="en-US" sz="1200" dirty="0">
                <a:solidFill>
                  <a:srgbClr val="3366CC"/>
                </a:solidFill>
                <a:hlinkClick r:id="rId15"/>
              </a:rPr>
              <a:t>Lifetime Achievement Award – South</a:t>
            </a:r>
            <a:endParaRPr lang="en-US"/>
          </a:p>
          <a:p>
            <a:pPr algn="l"/>
            <a:r>
              <a:rPr lang="en-US" sz="1200">
                <a:solidFill>
                  <a:srgbClr val="202122"/>
                </a:solidFill>
              </a:rPr>
              <a:t>Outstanding Contributions</a:t>
            </a:r>
            <a:endParaRPr lang="en-US"/>
          </a:p>
          <a:p>
            <a:r>
              <a:rPr lang="en-US" sz="1200"/>
              <a:t>Won</a:t>
            </a:r>
            <a:endParaRPr lang="en-US"/>
          </a:p>
          <a:p>
            <a:pPr algn="l"/>
            <a:r>
              <a:rPr lang="en-US" sz="1000" baseline="30000" dirty="0">
                <a:solidFill>
                  <a:srgbClr val="3366CC"/>
                </a:solidFill>
                <a:hlinkClick r:id="rId347"/>
              </a:rPr>
              <a:t>[120]</a:t>
            </a:r>
            <a:r>
              <a:rPr lang="en-US" sz="1000" baseline="30000" dirty="0">
                <a:solidFill>
                  <a:srgbClr val="3366CC"/>
                </a:solidFill>
                <a:hlinkClick r:id="rId348"/>
              </a:rPr>
              <a:t>[121]</a:t>
            </a:r>
            <a:endParaRPr lang="en-US"/>
          </a:p>
          <a:p>
            <a:pPr algn="l"/>
            <a:r>
              <a:rPr lang="en-US" sz="1200">
                <a:solidFill>
                  <a:srgbClr val="202122"/>
                </a:solidFill>
              </a:rPr>
              <a:t>2023</a:t>
            </a:r>
            <a:endParaRPr lang="en-US"/>
          </a:p>
          <a:p>
            <a:pPr algn="l"/>
            <a:r>
              <a:rPr lang="en-US" sz="1200" dirty="0">
                <a:solidFill>
                  <a:srgbClr val="3366CC"/>
                </a:solidFill>
                <a:hlinkClick r:id="rId135"/>
              </a:rPr>
              <a:t>Best Actor – Telugu</a:t>
            </a:r>
            <a:endParaRPr lang="en-US"/>
          </a:p>
          <a:p>
            <a:pPr algn="l"/>
            <a:r>
              <a:rPr lang="en-US" sz="1200" i="1" dirty="0">
                <a:solidFill>
                  <a:srgbClr val="3366CC"/>
                </a:solidFill>
                <a:hlinkClick r:id="rId226"/>
              </a:rPr>
              <a:t>GodFather</a:t>
            </a:r>
            <a:endParaRPr lang="en-US"/>
          </a:p>
          <a:p>
            <a:r>
              <a:rPr lang="en-US" sz="1200"/>
              <a:t>Nominated</a:t>
            </a:r>
            <a:endParaRPr lang="en-US"/>
          </a:p>
          <a:p>
            <a:pPr algn="l"/>
            <a:r>
              <a:rPr lang="en-US" sz="1000" baseline="30000" dirty="0">
                <a:solidFill>
                  <a:srgbClr val="3366CC"/>
                </a:solidFill>
                <a:hlinkClick r:id="rId349"/>
              </a:rPr>
              <a:t>[122]</a:t>
            </a:r>
            <a:endParaRPr lang="en-US"/>
          </a:p>
          <a:p>
            <a:pPr algn="l"/>
            <a:r>
              <a:rPr lang="en-US" sz="1200">
                <a:solidFill>
                  <a:srgbClr val="202122"/>
                </a:solidFill>
              </a:rPr>
              <a:t>2024</a:t>
            </a:r>
            <a:endParaRPr lang="en-US"/>
          </a:p>
          <a:p>
            <a:pPr algn="l"/>
            <a:r>
              <a:rPr lang="en-US" sz="1200" dirty="0">
                <a:solidFill>
                  <a:srgbClr val="3366CC"/>
                </a:solidFill>
                <a:hlinkClick r:id="rId135"/>
              </a:rPr>
              <a:t>Best Actor – Telugu</a:t>
            </a:r>
            <a:endParaRPr lang="en-US"/>
          </a:p>
          <a:p>
            <a:pPr algn="l"/>
            <a:r>
              <a:rPr lang="en-US" sz="1200" i="1" dirty="0">
                <a:solidFill>
                  <a:srgbClr val="3366CC"/>
                </a:solidFill>
                <a:hlinkClick r:id="rId63"/>
              </a:rPr>
              <a:t>Waltair Veerayya</a:t>
            </a:r>
            <a:endParaRPr lang="en-US"/>
          </a:p>
          <a:p>
            <a:r>
              <a:rPr lang="en-US" sz="1200"/>
              <a:t>Nominated</a:t>
            </a:r>
            <a:endParaRPr lang="en-US"/>
          </a:p>
          <a:p>
            <a:pPr algn="l"/>
            <a:r>
              <a:rPr lang="en-US" sz="1000" baseline="30000" dirty="0">
                <a:solidFill>
                  <a:srgbClr val="3366CC"/>
                </a:solidFill>
                <a:hlinkClick r:id="rId350"/>
              </a:rPr>
              <a:t>[123]</a:t>
            </a:r>
            <a:endParaRPr lang="en-US"/>
          </a:p>
          <a:p>
            <a:r>
              <a:rPr lang="en-US" sz="1200" b="1" dirty="0">
                <a:solidFill>
                  <a:srgbClr val="3366CC"/>
                </a:solidFill>
                <a:ea typeface="+mn-lt"/>
                <a:cs typeface="+mn-lt"/>
                <a:hlinkClick r:id="rId13"/>
              </a:rPr>
              <a:t>Nandi Awards</a:t>
            </a:r>
            <a:endParaRPr lang="en-US"/>
          </a:p>
          <a:p>
            <a:r>
              <a:rPr lang="en-US" sz="1200" b="1">
                <a:solidFill>
                  <a:srgbClr val="202122"/>
                </a:solidFill>
              </a:rPr>
              <a:t>Year</a:t>
            </a:r>
            <a:endParaRPr lang="en-US"/>
          </a:p>
          <a:p>
            <a:r>
              <a:rPr lang="en-US" sz="1200" b="1">
                <a:solidFill>
                  <a:srgbClr val="202122"/>
                </a:solidFill>
              </a:rPr>
              <a:t>Category</a:t>
            </a:r>
            <a:endParaRPr lang="en-US"/>
          </a:p>
          <a:p>
            <a:r>
              <a:rPr lang="en-US" sz="1200" b="1">
                <a:solidFill>
                  <a:srgbClr val="202122"/>
                </a:solidFill>
              </a:rPr>
              <a:t>Film</a:t>
            </a:r>
            <a:endParaRPr lang="en-US"/>
          </a:p>
          <a:p>
            <a:r>
              <a:rPr lang="en-US" sz="1200" b="1">
                <a:solidFill>
                  <a:srgbClr val="202122"/>
                </a:solidFill>
              </a:rPr>
              <a:t>Result</a:t>
            </a:r>
            <a:endParaRPr lang="en-US"/>
          </a:p>
          <a:p>
            <a:r>
              <a:rPr lang="en-US" sz="1200" b="1" u="sng">
                <a:solidFill>
                  <a:srgbClr val="202122"/>
                </a:solidFill>
              </a:rPr>
              <a:t>Ref.</a:t>
            </a:r>
            <a:endParaRPr lang="en-US"/>
          </a:p>
          <a:p>
            <a:pPr algn="l"/>
            <a:r>
              <a:rPr lang="en-US" sz="1200">
                <a:solidFill>
                  <a:srgbClr val="202122"/>
                </a:solidFill>
              </a:rPr>
              <a:t>1987</a:t>
            </a:r>
            <a:endParaRPr lang="en-US"/>
          </a:p>
          <a:p>
            <a:pPr algn="l"/>
            <a:r>
              <a:rPr lang="en-US" sz="1200" dirty="0">
                <a:solidFill>
                  <a:srgbClr val="3366CC"/>
                </a:solidFill>
                <a:hlinkClick r:id="rId160"/>
              </a:rPr>
              <a:t>Best Actor</a:t>
            </a:r>
            <a:endParaRPr lang="en-US"/>
          </a:p>
          <a:p>
            <a:pPr algn="l"/>
            <a:r>
              <a:rPr lang="en-US" sz="1200" i="1" dirty="0">
                <a:solidFill>
                  <a:srgbClr val="3366CC"/>
                </a:solidFill>
                <a:hlinkClick r:id="rId351"/>
              </a:rPr>
              <a:t>Swayam Krushi</a:t>
            </a:r>
            <a:endParaRPr lang="en-US"/>
          </a:p>
          <a:p>
            <a:r>
              <a:rPr lang="en-US" sz="1200"/>
              <a:t>Won</a:t>
            </a:r>
            <a:endParaRPr lang="en-US"/>
          </a:p>
          <a:p>
            <a:pPr algn="l"/>
            <a:r>
              <a:rPr lang="en-US" sz="1000" baseline="30000" dirty="0">
                <a:solidFill>
                  <a:srgbClr val="3366CC"/>
                </a:solidFill>
                <a:hlinkClick r:id="rId352"/>
              </a:rPr>
              <a:t>[124]</a:t>
            </a:r>
            <a:endParaRPr lang="en-US"/>
          </a:p>
          <a:p>
            <a:pPr algn="l"/>
            <a:r>
              <a:rPr lang="en-US" sz="1200">
                <a:solidFill>
                  <a:srgbClr val="202122"/>
                </a:solidFill>
              </a:rPr>
              <a:t>1992</a:t>
            </a:r>
            <a:endParaRPr lang="en-US"/>
          </a:p>
          <a:p>
            <a:pPr algn="l"/>
            <a:r>
              <a:rPr lang="en-US" sz="1200" i="1" dirty="0">
                <a:solidFill>
                  <a:srgbClr val="3366CC"/>
                </a:solidFill>
                <a:hlinkClick r:id="rId35"/>
              </a:rPr>
              <a:t>Aapadbandhavudu</a:t>
            </a:r>
            <a:endParaRPr lang="en-US"/>
          </a:p>
          <a:p>
            <a:r>
              <a:rPr lang="en-US" sz="1200"/>
              <a:t>Won</a:t>
            </a:r>
            <a:endParaRPr lang="en-US"/>
          </a:p>
          <a:p>
            <a:pPr algn="l"/>
            <a:r>
              <a:rPr lang="en-US" sz="1000" baseline="30000" dirty="0">
                <a:solidFill>
                  <a:srgbClr val="3366CC"/>
                </a:solidFill>
                <a:hlinkClick r:id="rId352"/>
              </a:rPr>
              <a:t>[124]</a:t>
            </a:r>
            <a:endParaRPr lang="en-US"/>
          </a:p>
          <a:p>
            <a:pPr algn="l"/>
            <a:r>
              <a:rPr lang="en-US" sz="1200">
                <a:solidFill>
                  <a:srgbClr val="202122"/>
                </a:solidFill>
              </a:rPr>
              <a:t>2002</a:t>
            </a:r>
            <a:endParaRPr lang="en-US"/>
          </a:p>
          <a:p>
            <a:pPr algn="l"/>
            <a:r>
              <a:rPr lang="en-US" sz="1200" i="1" dirty="0">
                <a:solidFill>
                  <a:srgbClr val="3366CC"/>
                </a:solidFill>
                <a:hlinkClick r:id="rId43"/>
              </a:rPr>
              <a:t>Indra</a:t>
            </a:r>
            <a:endParaRPr lang="en-US"/>
          </a:p>
          <a:p>
            <a:r>
              <a:rPr lang="en-US" sz="1200"/>
              <a:t>Won</a:t>
            </a:r>
            <a:endParaRPr lang="en-US"/>
          </a:p>
          <a:p>
            <a:pPr algn="l"/>
            <a:r>
              <a:rPr lang="en-US" sz="1000" baseline="30000" dirty="0">
                <a:solidFill>
                  <a:srgbClr val="3366CC"/>
                </a:solidFill>
                <a:hlinkClick r:id="rId352"/>
              </a:rPr>
              <a:t>[124]</a:t>
            </a:r>
            <a:endParaRPr lang="en-US"/>
          </a:p>
          <a:p>
            <a:pPr algn="l"/>
            <a:r>
              <a:rPr lang="en-US" sz="1200">
                <a:solidFill>
                  <a:srgbClr val="202122"/>
                </a:solidFill>
              </a:rPr>
              <a:t>2016</a:t>
            </a:r>
            <a:endParaRPr lang="en-US"/>
          </a:p>
          <a:p>
            <a:pPr algn="l"/>
            <a:r>
              <a:rPr lang="en-US" sz="1200" dirty="0">
                <a:solidFill>
                  <a:srgbClr val="3366CC"/>
                </a:solidFill>
                <a:hlinkClick r:id="rId12"/>
              </a:rPr>
              <a:t>Raghupathi Venkaiah Award</a:t>
            </a:r>
            <a:endParaRPr lang="en-US"/>
          </a:p>
          <a:p>
            <a:pPr algn="l"/>
            <a:r>
              <a:rPr lang="en-US" sz="1200">
                <a:solidFill>
                  <a:srgbClr val="202122"/>
                </a:solidFill>
              </a:rPr>
              <a:t>Honorary Award</a:t>
            </a:r>
            <a:endParaRPr lang="en-US"/>
          </a:p>
          <a:p>
            <a:r>
              <a:rPr lang="en-US" sz="1200"/>
              <a:t>Won</a:t>
            </a:r>
            <a:endParaRPr lang="en-US"/>
          </a:p>
          <a:p>
            <a:r>
              <a:rPr lang="en-US" sz="1200" b="1" dirty="0">
                <a:solidFill>
                  <a:srgbClr val="3366CC"/>
                </a:solidFill>
                <a:ea typeface="+mn-lt"/>
                <a:cs typeface="+mn-lt"/>
                <a:hlinkClick r:id="rId353"/>
              </a:rPr>
              <a:t>Cinema Express Awards</a:t>
            </a:r>
            <a:endParaRPr lang="en-US"/>
          </a:p>
          <a:p>
            <a:pPr marL="285750" indent="-285750">
              <a:buFont typeface="Arial"/>
              <a:buChar char="•"/>
            </a:pPr>
            <a:r>
              <a:rPr lang="en-US" sz="1200" dirty="0">
                <a:solidFill>
                  <a:srgbClr val="3366CC"/>
                </a:solidFill>
                <a:ea typeface="+mn-lt"/>
                <a:cs typeface="+mn-lt"/>
                <a:hlinkClick r:id="rId354"/>
              </a:rPr>
              <a:t>Best Actor</a:t>
            </a:r>
            <a:r>
              <a:rPr lang="en-US" sz="1200" dirty="0">
                <a:solidFill>
                  <a:srgbClr val="202122"/>
                </a:solidFill>
                <a:ea typeface="+mn-lt"/>
                <a:cs typeface="+mn-lt"/>
              </a:rPr>
              <a:t> </a:t>
            </a:r>
            <a:r>
              <a:rPr lang="en-US" sz="1200">
                <a:solidFill>
                  <a:srgbClr val="202122"/>
                </a:solidFill>
                <a:ea typeface="+mn-lt"/>
                <a:cs typeface="+mn-lt"/>
              </a:rPr>
              <a:t>– </a:t>
            </a:r>
            <a:r>
              <a:rPr lang="en-US" sz="1200" i="1">
                <a:solidFill>
                  <a:srgbClr val="3366CC"/>
                </a:solidFill>
                <a:ea typeface="+mn-lt"/>
                <a:cs typeface="+mn-lt"/>
                <a:hlinkClick r:id="rId351"/>
              </a:rPr>
              <a:t>Swayam Krushi</a:t>
            </a:r>
            <a:r>
              <a:rPr lang="en-US" sz="1200">
                <a:solidFill>
                  <a:srgbClr val="202122"/>
                </a:solidFill>
                <a:ea typeface="+mn-lt"/>
                <a:cs typeface="+mn-lt"/>
              </a:rPr>
              <a:t> (1987)</a:t>
            </a:r>
            <a:r>
              <a:rPr lang="en-US" sz="1000" baseline="30000" dirty="0">
                <a:solidFill>
                  <a:srgbClr val="3366CC"/>
                </a:solidFill>
                <a:ea typeface="+mn-lt"/>
                <a:cs typeface="+mn-lt"/>
                <a:hlinkClick r:id="rId355"/>
              </a:rPr>
              <a:t>[125]</a:t>
            </a:r>
            <a:r>
              <a:rPr lang="en-US" sz="1000" baseline="30000" dirty="0">
                <a:solidFill>
                  <a:srgbClr val="3366CC"/>
                </a:solidFill>
                <a:ea typeface="+mn-lt"/>
                <a:cs typeface="+mn-lt"/>
                <a:hlinkClick r:id="rId356"/>
              </a:rPr>
              <a:t>[126]</a:t>
            </a:r>
            <a:r>
              <a:rPr lang="en-US" sz="1000" baseline="30000" dirty="0">
                <a:solidFill>
                  <a:srgbClr val="3366CC"/>
                </a:solidFill>
                <a:ea typeface="+mn-lt"/>
                <a:cs typeface="+mn-lt"/>
                <a:hlinkClick r:id="rId357"/>
              </a:rPr>
              <a:t>[127]</a:t>
            </a:r>
            <a:endParaRPr lang="en-US"/>
          </a:p>
          <a:p>
            <a:r>
              <a:rPr lang="en-US" sz="1200" b="1" dirty="0">
                <a:solidFill>
                  <a:srgbClr val="3366CC"/>
                </a:solidFill>
                <a:ea typeface="+mn-lt"/>
                <a:cs typeface="+mn-lt"/>
                <a:hlinkClick r:id="rId358"/>
              </a:rPr>
              <a:t>Santosham Film Awards</a:t>
            </a:r>
            <a:endParaRPr lang="en-US"/>
          </a:p>
          <a:p>
            <a:pPr marL="285750" indent="-285750">
              <a:buFont typeface="Arial"/>
              <a:buChar char="•"/>
            </a:pPr>
            <a:r>
              <a:rPr lang="en-US" sz="1200" dirty="0">
                <a:solidFill>
                  <a:srgbClr val="3366CC"/>
                </a:solidFill>
                <a:ea typeface="+mn-lt"/>
                <a:cs typeface="+mn-lt"/>
                <a:hlinkClick r:id="rId359"/>
              </a:rPr>
              <a:t>Best Actor</a:t>
            </a:r>
            <a:r>
              <a:rPr lang="en-US" sz="1200" dirty="0">
                <a:solidFill>
                  <a:srgbClr val="202122"/>
                </a:solidFill>
                <a:ea typeface="+mn-lt"/>
                <a:cs typeface="+mn-lt"/>
              </a:rPr>
              <a:t> </a:t>
            </a:r>
            <a:r>
              <a:rPr lang="en-US" sz="1200">
                <a:solidFill>
                  <a:srgbClr val="202122"/>
                </a:solidFill>
                <a:ea typeface="+mn-lt"/>
                <a:cs typeface="+mn-lt"/>
              </a:rPr>
              <a:t>– </a:t>
            </a:r>
            <a:r>
              <a:rPr lang="en-US" sz="1200" i="1">
                <a:solidFill>
                  <a:srgbClr val="3366CC"/>
                </a:solidFill>
                <a:ea typeface="+mn-lt"/>
                <a:cs typeface="+mn-lt"/>
                <a:hlinkClick r:id="rId61"/>
              </a:rPr>
              <a:t>Khaidi No. 150</a:t>
            </a:r>
            <a:r>
              <a:rPr lang="en-US" sz="1200">
                <a:solidFill>
                  <a:srgbClr val="202122"/>
                </a:solidFill>
                <a:ea typeface="+mn-lt"/>
                <a:cs typeface="+mn-lt"/>
              </a:rPr>
              <a:t> (2017)</a:t>
            </a:r>
            <a:endParaRPr lang="en-US"/>
          </a:p>
          <a:p>
            <a:r>
              <a:rPr lang="en-US" sz="1200" b="1" dirty="0">
                <a:solidFill>
                  <a:srgbClr val="3366CC"/>
                </a:solidFill>
                <a:ea typeface="+mn-lt"/>
                <a:cs typeface="+mn-lt"/>
                <a:hlinkClick r:id="rId360"/>
              </a:rPr>
              <a:t>Zee Cine Awards Telugu</a:t>
            </a:r>
            <a:endParaRPr lang="en-US"/>
          </a:p>
          <a:p>
            <a:pPr marL="285750" indent="-285750">
              <a:buFont typeface="Arial"/>
              <a:buChar char="•"/>
            </a:pPr>
            <a:r>
              <a:rPr lang="en-US" sz="1200">
                <a:solidFill>
                  <a:srgbClr val="202122"/>
                </a:solidFill>
                <a:ea typeface="+mn-lt"/>
                <a:cs typeface="+mn-lt"/>
              </a:rPr>
              <a:t>Best Actor – </a:t>
            </a:r>
            <a:r>
              <a:rPr lang="en-US" sz="1200" i="1">
                <a:solidFill>
                  <a:srgbClr val="3366CC"/>
                </a:solidFill>
                <a:ea typeface="+mn-lt"/>
                <a:cs typeface="+mn-lt"/>
                <a:hlinkClick r:id="rId62"/>
              </a:rPr>
              <a:t>Sye Raa Narasimha Reddy</a:t>
            </a:r>
            <a:r>
              <a:rPr lang="en-US" sz="1200">
                <a:solidFill>
                  <a:srgbClr val="202122"/>
                </a:solidFill>
                <a:ea typeface="+mn-lt"/>
                <a:cs typeface="+mn-lt"/>
              </a:rPr>
              <a:t> (2019)</a:t>
            </a:r>
            <a:r>
              <a:rPr lang="en-US" sz="1000" baseline="30000" dirty="0">
                <a:solidFill>
                  <a:srgbClr val="3366CC"/>
                </a:solidFill>
                <a:ea typeface="+mn-lt"/>
                <a:cs typeface="+mn-lt"/>
                <a:hlinkClick r:id="rId361"/>
              </a:rPr>
              <a:t>[128]</a:t>
            </a:r>
            <a:endParaRPr lang="en-US"/>
          </a:p>
          <a:p>
            <a:r>
              <a:rPr lang="en-US" sz="1200" b="1">
                <a:solidFill>
                  <a:srgbClr val="202122"/>
                </a:solidFill>
                <a:ea typeface="+mn-lt"/>
                <a:cs typeface="+mn-lt"/>
              </a:rPr>
              <a:t>Other honours</a:t>
            </a:r>
            <a:endParaRPr lang="en-US"/>
          </a:p>
          <a:p>
            <a:pPr marL="285750" indent="-285750">
              <a:buFont typeface="Arial"/>
              <a:buChar char="•"/>
            </a:pPr>
            <a:r>
              <a:rPr lang="en-US" sz="1200">
                <a:solidFill>
                  <a:srgbClr val="202122"/>
                </a:solidFill>
                <a:ea typeface="+mn-lt"/>
                <a:cs typeface="+mn-lt"/>
              </a:rPr>
              <a:t>2006 – </a:t>
            </a:r>
            <a:r>
              <a:rPr lang="en-US" sz="1200">
                <a:solidFill>
                  <a:srgbClr val="3366CC"/>
                </a:solidFill>
                <a:ea typeface="+mn-lt"/>
                <a:cs typeface="+mn-lt"/>
                <a:hlinkClick r:id="rId362"/>
              </a:rPr>
              <a:t>Honorary doctorate</a:t>
            </a:r>
            <a:r>
              <a:rPr lang="en-US" sz="1200">
                <a:solidFill>
                  <a:srgbClr val="202122"/>
                </a:solidFill>
                <a:ea typeface="+mn-lt"/>
                <a:cs typeface="+mn-lt"/>
              </a:rPr>
              <a:t> from the </a:t>
            </a:r>
            <a:r>
              <a:rPr lang="en-US" sz="1200" dirty="0">
                <a:solidFill>
                  <a:srgbClr val="3366CC"/>
                </a:solidFill>
                <a:ea typeface="+mn-lt"/>
                <a:cs typeface="+mn-lt"/>
                <a:hlinkClick r:id="rId320"/>
              </a:rPr>
              <a:t>Andhra University</a:t>
            </a:r>
            <a:r>
              <a:rPr lang="en-US" sz="1000" baseline="30000" dirty="0">
                <a:solidFill>
                  <a:srgbClr val="3366CC"/>
                </a:solidFill>
                <a:ea typeface="+mn-lt"/>
                <a:cs typeface="+mn-lt"/>
                <a:hlinkClick r:id="rId363"/>
              </a:rPr>
              <a:t>[129]</a:t>
            </a:r>
            <a:r>
              <a:rPr lang="en-US" sz="1000" baseline="30000" dirty="0">
                <a:solidFill>
                  <a:srgbClr val="3366CC"/>
                </a:solidFill>
                <a:ea typeface="+mn-lt"/>
                <a:cs typeface="+mn-lt"/>
                <a:hlinkClick r:id="rId364"/>
              </a:rPr>
              <a:t>[130]</a:t>
            </a:r>
            <a:endParaRPr lang="en-US"/>
          </a:p>
          <a:p>
            <a:pPr marL="285750" indent="-285750">
              <a:buFont typeface="Arial"/>
              <a:buChar char="•"/>
            </a:pPr>
            <a:r>
              <a:rPr lang="en-US" sz="1200" dirty="0">
                <a:solidFill>
                  <a:srgbClr val="3366CC"/>
                </a:solidFill>
                <a:ea typeface="+mn-lt"/>
                <a:cs typeface="+mn-lt"/>
                <a:hlinkClick r:id="rId324"/>
              </a:rPr>
              <a:t>SIIMA Awards</a:t>
            </a:r>
            <a:r>
              <a:rPr lang="en-US" sz="1200" dirty="0">
                <a:solidFill>
                  <a:srgbClr val="202122"/>
                </a:solidFill>
                <a:ea typeface="+mn-lt"/>
                <a:cs typeface="+mn-lt"/>
              </a:rPr>
              <a:t> </a:t>
            </a:r>
            <a:r>
              <a:rPr lang="en-US" sz="1200">
                <a:solidFill>
                  <a:srgbClr val="202122"/>
                </a:solidFill>
                <a:ea typeface="+mn-lt"/>
                <a:cs typeface="+mn-lt"/>
              </a:rPr>
              <a:t>- International Face of Indian Cinema – (2014)</a:t>
            </a:r>
            <a:r>
              <a:rPr lang="en-US" sz="1000" baseline="30000" dirty="0">
                <a:solidFill>
                  <a:srgbClr val="3366CC"/>
                </a:solidFill>
                <a:ea typeface="+mn-lt"/>
                <a:cs typeface="+mn-lt"/>
                <a:hlinkClick r:id="rId326"/>
              </a:rPr>
              <a:t>[101]</a:t>
            </a:r>
            <a:endParaRPr lang="en-US"/>
          </a:p>
          <a:p>
            <a:pPr marL="285750" indent="-285750">
              <a:buFont typeface="Arial"/>
              <a:buChar char="•"/>
            </a:pPr>
            <a:r>
              <a:rPr lang="en-US" sz="1200">
                <a:solidFill>
                  <a:srgbClr val="202122"/>
                </a:solidFill>
                <a:ea typeface="+mn-lt"/>
                <a:cs typeface="+mn-lt"/>
              </a:rPr>
              <a:t>2024 – </a:t>
            </a:r>
            <a:r>
              <a:rPr lang="en-US" sz="1200" dirty="0">
                <a:solidFill>
                  <a:srgbClr val="3366CC"/>
                </a:solidFill>
                <a:ea typeface="+mn-lt"/>
                <a:cs typeface="+mn-lt"/>
                <a:hlinkClick r:id="rId365"/>
              </a:rPr>
              <a:t>IIFA Utsavam Outstanding Achievement in Indian Cinema</a:t>
            </a:r>
            <a:endParaRPr lang="en-US"/>
          </a:p>
          <a:p>
            <a:r>
              <a:rPr lang="en-US"/>
              <a:t>See also</a:t>
            </a:r>
          </a:p>
          <a:p>
            <a:pPr marL="285750" indent="-285750">
              <a:buFont typeface="Arial"/>
              <a:buChar char="•"/>
            </a:pPr>
            <a:r>
              <a:rPr lang="en-US" sz="1200" dirty="0">
                <a:solidFill>
                  <a:srgbClr val="3366CC"/>
                </a:solidFill>
                <a:ea typeface="+mn-lt"/>
                <a:cs typeface="+mn-lt"/>
                <a:hlinkClick r:id="rId366"/>
              </a:rPr>
              <a:t>List of Indian actors</a:t>
            </a:r>
            <a:endParaRPr lang="en-US"/>
          </a:p>
          <a:p>
            <a:pPr marL="285750" indent="-285750">
              <a:buFont typeface="Arial"/>
              <a:buChar char="•"/>
            </a:pPr>
            <a:r>
              <a:rPr lang="en-US" sz="1200" dirty="0">
                <a:solidFill>
                  <a:srgbClr val="3366CC"/>
                </a:solidFill>
                <a:ea typeface="+mn-lt"/>
                <a:cs typeface="+mn-lt"/>
                <a:hlinkClick r:id="rId367"/>
              </a:rPr>
              <a:t>List of dancers</a:t>
            </a:r>
            <a:endParaRPr lang="en-US"/>
          </a:p>
          <a:p>
            <a:r>
              <a:rPr lang="en-US"/>
              <a:t>References</a:t>
            </a:r>
          </a:p>
          <a:p>
            <a:pPr marL="285750" indent="-285750">
              <a:buFont typeface="Arial"/>
              <a:buChar char="•"/>
            </a:pPr>
            <a:r>
              <a:rPr lang="en-US" sz="1100" dirty="0">
                <a:solidFill>
                  <a:srgbClr val="202122"/>
                </a:solidFill>
                <a:ea typeface="+mn-lt"/>
                <a:cs typeface="+mn-lt"/>
              </a:rPr>
              <a:t> </a:t>
            </a:r>
            <a:r>
              <a:rPr lang="en-US" sz="1100" i="1">
                <a:solidFill>
                  <a:srgbClr val="3366CC"/>
                </a:solidFill>
                <a:ea typeface="+mn-lt"/>
                <a:cs typeface="+mn-lt"/>
                <a:hlinkClick r:id="rId368"/>
              </a:rPr>
              <a:t>"Chiranjeevi Biography"</a:t>
            </a:r>
            <a:r>
              <a:rPr lang="en-US" sz="1100" i="1">
                <a:solidFill>
                  <a:srgbClr val="202122"/>
                </a:solidFill>
                <a:ea typeface="+mn-lt"/>
                <a:cs typeface="+mn-lt"/>
              </a:rPr>
              <a:t>. Oneindia. </a:t>
            </a:r>
            <a:r>
              <a:rPr lang="en-US" sz="1100" i="1">
                <a:solidFill>
                  <a:srgbClr val="3366CC"/>
                </a:solidFill>
                <a:ea typeface="+mn-lt"/>
                <a:cs typeface="+mn-lt"/>
                <a:hlinkClick r:id="rId369"/>
              </a:rPr>
              <a:t>Archived</a:t>
            </a:r>
            <a:r>
              <a:rPr lang="en-US" sz="1100" i="1">
                <a:solidFill>
                  <a:srgbClr val="202122"/>
                </a:solidFill>
                <a:ea typeface="+mn-lt"/>
                <a:cs typeface="+mn-lt"/>
              </a:rPr>
              <a:t> from the original on 22 February 2014. Retrieved 27 February 2014.</a:t>
            </a:r>
            <a:endParaRPr lang="en-US"/>
          </a:p>
          <a:p>
            <a:pPr marL="285750" indent="-285750">
              <a:buFont typeface="Arial"/>
              <a:buChar char="•"/>
            </a:pPr>
            <a:r>
              <a:rPr lang="en-US" sz="1100" dirty="0">
                <a:solidFill>
                  <a:srgbClr val="202122"/>
                </a:solidFill>
                <a:ea typeface="+mn-lt"/>
                <a:cs typeface="+mn-lt"/>
              </a:rPr>
              <a:t> </a:t>
            </a:r>
            <a:r>
              <a:rPr lang="en-US" sz="1100" i="1">
                <a:solidFill>
                  <a:srgbClr val="3366CC"/>
                </a:solidFill>
                <a:ea typeface="+mn-lt"/>
                <a:cs typeface="+mn-lt"/>
                <a:hlinkClick r:id="rId370"/>
              </a:rPr>
              <a:t>"Megastar Chiranjeevi reacts to prestigious Padma Vibhushan honor: Truly Humbled | Etimes - Times of India Videos"</a:t>
            </a:r>
            <a:r>
              <a:rPr lang="en-US" sz="1100" i="1">
                <a:solidFill>
                  <a:srgbClr val="202122"/>
                </a:solidFill>
                <a:ea typeface="+mn-lt"/>
                <a:cs typeface="+mn-lt"/>
              </a:rPr>
              <a:t>. The Times of India.</a:t>
            </a:r>
            <a:endParaRPr lang="en-US"/>
          </a:p>
          <a:p>
            <a:pPr marL="285750" indent="-285750">
              <a:buFont typeface="Arial"/>
              <a:buChar char="•"/>
            </a:pPr>
            <a:r>
              <a:rPr lang="en-US" sz="1100" dirty="0">
                <a:solidFill>
                  <a:srgbClr val="202122"/>
                </a:solidFill>
                <a:ea typeface="+mn-lt"/>
                <a:cs typeface="+mn-lt"/>
              </a:rPr>
              <a:t> </a:t>
            </a:r>
            <a:r>
              <a:rPr lang="en-US" sz="1100" i="1">
                <a:solidFill>
                  <a:srgbClr val="3366CC"/>
                </a:solidFill>
                <a:ea typeface="+mn-lt"/>
                <a:cs typeface="+mn-lt"/>
                <a:hlinkClick r:id="rId371"/>
              </a:rPr>
              <a:t>"Megastar puts on an accent"</a:t>
            </a:r>
            <a:r>
              <a:rPr lang="en-US" sz="1100" i="1">
                <a:solidFill>
                  <a:srgbClr val="202122"/>
                </a:solidFill>
                <a:ea typeface="+mn-lt"/>
                <a:cs typeface="+mn-lt"/>
              </a:rPr>
              <a:t>. </a:t>
            </a:r>
            <a:r>
              <a:rPr lang="en-US" sz="1100" i="1">
                <a:solidFill>
                  <a:srgbClr val="3366CC"/>
                </a:solidFill>
                <a:ea typeface="+mn-lt"/>
                <a:cs typeface="+mn-lt"/>
                <a:hlinkClick r:id="rId372"/>
              </a:rPr>
              <a:t>Archived</a:t>
            </a:r>
            <a:r>
              <a:rPr lang="en-US" sz="1100" i="1">
                <a:solidFill>
                  <a:srgbClr val="202122"/>
                </a:solidFill>
                <a:ea typeface="+mn-lt"/>
                <a:cs typeface="+mn-lt"/>
              </a:rPr>
              <a:t> from the original on 9 January 2022. Retrieved 9 June 2021.</a:t>
            </a:r>
            <a:endParaRPr lang="en-US"/>
          </a:p>
          <a:p>
            <a:pPr marL="285750" indent="-285750">
              <a:buFont typeface="Arial"/>
              <a:buChar char="•"/>
            </a:pPr>
            <a:r>
              <a:rPr lang="en-US" sz="1100" dirty="0">
                <a:solidFill>
                  <a:srgbClr val="202122"/>
                </a:solidFill>
                <a:ea typeface="+mn-lt"/>
                <a:cs typeface="+mn-lt"/>
              </a:rPr>
              <a:t> </a:t>
            </a:r>
            <a:r>
              <a:rPr lang="en-US" sz="1100" i="1" dirty="0">
                <a:solidFill>
                  <a:srgbClr val="3366CC"/>
                </a:solidFill>
                <a:ea typeface="+mn-lt"/>
                <a:cs typeface="+mn-lt"/>
                <a:hlinkClick r:id="rId373"/>
              </a:rPr>
              <a:t>"Chiranjeevi honoured with Indian Film Personality of the Year Award for 2022 at the 53rd IFFI"</a:t>
            </a:r>
            <a:r>
              <a:rPr lang="en-US" sz="1100" i="1">
                <a:solidFill>
                  <a:srgbClr val="202122"/>
                </a:solidFill>
                <a:ea typeface="+mn-lt"/>
                <a:cs typeface="+mn-lt"/>
              </a:rPr>
              <a:t>. The Times of India. 20 November 2022. </a:t>
            </a:r>
            <a:r>
              <a:rPr lang="en-US" sz="1100" i="1">
                <a:solidFill>
                  <a:srgbClr val="3366CC"/>
                </a:solidFill>
                <a:ea typeface="+mn-lt"/>
                <a:cs typeface="+mn-lt"/>
                <a:hlinkClick r:id="rId374"/>
              </a:rPr>
              <a:t>ISSN</a:t>
            </a:r>
            <a:r>
              <a:rPr lang="en-US" sz="1100" i="1">
                <a:solidFill>
                  <a:srgbClr val="202122"/>
                </a:solidFill>
                <a:ea typeface="+mn-lt"/>
                <a:cs typeface="+mn-lt"/>
              </a:rPr>
              <a:t> </a:t>
            </a:r>
            <a:r>
              <a:rPr lang="en-US" sz="1100" i="1" dirty="0">
                <a:solidFill>
                  <a:srgbClr val="3366CC"/>
                </a:solidFill>
                <a:ea typeface="+mn-lt"/>
                <a:cs typeface="+mn-lt"/>
                <a:hlinkClick r:id="rId375"/>
              </a:rPr>
              <a:t>0971-8257</a:t>
            </a:r>
            <a:r>
              <a:rPr lang="en-US" sz="1100" i="1">
                <a:solidFill>
                  <a:srgbClr val="202122"/>
                </a:solidFill>
                <a:ea typeface="+mn-lt"/>
                <a:cs typeface="+mn-lt"/>
              </a:rPr>
              <a:t>. Retrieved 15 August 2024. He is regarded as one of the most successful and influential actors of Indian cinema.</a:t>
            </a:r>
            <a:endParaRPr lang="en-US"/>
          </a:p>
          <a:p>
            <a:pPr marL="285750" indent="-285750">
              <a:buFont typeface="Arial"/>
              <a:buChar char="•"/>
            </a:pPr>
            <a:r>
              <a:rPr lang="en-US" sz="1100" dirty="0">
                <a:solidFill>
                  <a:srgbClr val="202122"/>
                </a:solidFill>
                <a:ea typeface="+mn-lt"/>
                <a:cs typeface="+mn-lt"/>
              </a:rPr>
              <a:t> </a:t>
            </a:r>
            <a:r>
              <a:rPr lang="en-US" sz="1100" i="1">
                <a:solidFill>
                  <a:srgbClr val="3366CC"/>
                </a:solidFill>
                <a:ea typeface="+mn-lt"/>
                <a:cs typeface="+mn-lt"/>
                <a:hlinkClick r:id="rId376"/>
              </a:rPr>
              <a:t>"Chiranjeevi awarded Padma Vibushan"</a:t>
            </a:r>
            <a:r>
              <a:rPr lang="en-US" sz="1100" i="1">
                <a:solidFill>
                  <a:srgbClr val="202122"/>
                </a:solidFill>
                <a:ea typeface="+mn-lt"/>
                <a:cs typeface="+mn-lt"/>
              </a:rPr>
              <a:t>. India Today. 26 January 2024. Retrieved 15 August 2024. In a career spanning over four decades, Chiranjeevi is regarded as one of the most successful actors in Indian cinema.</a:t>
            </a:r>
            <a:endParaRPr lang="en-US"/>
          </a:p>
          <a:p>
            <a:pPr marL="285750" indent="-285750">
              <a:buFont typeface="Arial"/>
              <a:buChar char="•"/>
            </a:pPr>
            <a:r>
              <a:rPr lang="en-US" sz="1100" dirty="0">
                <a:solidFill>
                  <a:srgbClr val="202122"/>
                </a:solidFill>
                <a:ea typeface="+mn-lt"/>
                <a:cs typeface="+mn-lt"/>
              </a:rPr>
              <a:t> </a:t>
            </a:r>
            <a:r>
              <a:rPr lang="en-US" sz="1100" i="1">
                <a:solidFill>
                  <a:srgbClr val="202122"/>
                </a:solidFill>
                <a:ea typeface="+mn-lt"/>
                <a:cs typeface="+mn-lt"/>
              </a:rPr>
              <a:t>S. Hari Prasad (18 April 2024). </a:t>
            </a:r>
            <a:r>
              <a:rPr lang="en-US" sz="1100" i="1">
                <a:solidFill>
                  <a:srgbClr val="3366CC"/>
                </a:solidFill>
                <a:ea typeface="+mn-lt"/>
                <a:cs typeface="+mn-lt"/>
                <a:hlinkClick r:id="rId377"/>
              </a:rPr>
              <a:t>"Most Industry hits telugu hero: కెరీర్లో ఎక్కువ ఇండస్ట్రీ హిట్స్ అందుకున్న తెలుగు హీరోలు వీళ్లే.. టాప్‌లో మెగాస్టార్"</a:t>
            </a:r>
            <a:r>
              <a:rPr lang="en-US" sz="1100" i="1">
                <a:solidFill>
                  <a:srgbClr val="202122"/>
                </a:solidFill>
                <a:ea typeface="+mn-lt"/>
                <a:cs typeface="+mn-lt"/>
              </a:rPr>
              <a:t>. </a:t>
            </a:r>
            <a:r>
              <a:rPr lang="en-US" sz="1100" i="1">
                <a:solidFill>
                  <a:srgbClr val="3366CC"/>
                </a:solidFill>
                <a:ea typeface="+mn-lt"/>
                <a:cs typeface="+mn-lt"/>
                <a:hlinkClick r:id="rId378"/>
              </a:rPr>
              <a:t>Hindustan Times</a:t>
            </a:r>
            <a:r>
              <a:rPr lang="en-US" sz="1100" i="1">
                <a:solidFill>
                  <a:srgbClr val="202122"/>
                </a:solidFill>
                <a:ea typeface="+mn-lt"/>
                <a:cs typeface="+mn-lt"/>
              </a:rPr>
              <a:t> (in Telugu). Retrieved 19 August 2024.</a:t>
            </a:r>
            <a:endParaRPr lang="en-US"/>
          </a:p>
          <a:p>
            <a:pPr marL="285750" indent="-285750">
              <a:buFont typeface="Arial"/>
              <a:buChar char="•"/>
            </a:pPr>
            <a:r>
              <a:rPr lang="en-US" sz="1100" dirty="0">
                <a:solidFill>
                  <a:srgbClr val="202122"/>
                </a:solidFill>
                <a:ea typeface="+mn-lt"/>
                <a:cs typeface="+mn-lt"/>
              </a:rPr>
              <a:t> </a:t>
            </a:r>
            <a:r>
              <a:rPr lang="en-US" sz="1100" i="1" dirty="0">
                <a:solidFill>
                  <a:srgbClr val="3366CC"/>
                </a:solidFill>
                <a:ea typeface="+mn-lt"/>
                <a:cs typeface="+mn-lt"/>
                <a:hlinkClick r:id="rId379"/>
              </a:rPr>
              <a:t>"Chiranjeevi and Shahid are best dancers: Prabhu Dheva"</a:t>
            </a:r>
            <a:r>
              <a:rPr lang="en-US" sz="1100" i="1">
                <a:solidFill>
                  <a:srgbClr val="202122"/>
                </a:solidFill>
                <a:ea typeface="+mn-lt"/>
                <a:cs typeface="+mn-lt"/>
              </a:rPr>
              <a:t>. The Times of India. 10 January 2014. </a:t>
            </a:r>
            <a:r>
              <a:rPr lang="en-US" sz="1100" i="1">
                <a:solidFill>
                  <a:srgbClr val="3366CC"/>
                </a:solidFill>
                <a:ea typeface="+mn-lt"/>
                <a:cs typeface="+mn-lt"/>
                <a:hlinkClick r:id="rId374"/>
              </a:rPr>
              <a:t>ISSN</a:t>
            </a:r>
            <a:r>
              <a:rPr lang="en-US" sz="1100" i="1">
                <a:solidFill>
                  <a:srgbClr val="202122"/>
                </a:solidFill>
                <a:ea typeface="+mn-lt"/>
                <a:cs typeface="+mn-lt"/>
              </a:rPr>
              <a:t> </a:t>
            </a:r>
            <a:r>
              <a:rPr lang="en-US" sz="1100" i="1" dirty="0">
                <a:solidFill>
                  <a:srgbClr val="3366CC"/>
                </a:solidFill>
                <a:ea typeface="+mn-lt"/>
                <a:cs typeface="+mn-lt"/>
                <a:hlinkClick r:id="rId375"/>
              </a:rPr>
              <a:t>0971-8257</a:t>
            </a:r>
            <a:r>
              <a:rPr lang="en-US" sz="1100" i="1">
                <a:solidFill>
                  <a:srgbClr val="202122"/>
                </a:solidFill>
                <a:ea typeface="+mn-lt"/>
                <a:cs typeface="+mn-lt"/>
              </a:rPr>
              <a:t>. Retrieved 21 August 2024.</a:t>
            </a:r>
            <a:endParaRPr lang="en-US"/>
          </a:p>
          <a:p>
            <a:pPr marL="285750" indent="-285750">
              <a:buFont typeface="Arial"/>
              <a:buChar char="•"/>
            </a:pPr>
            <a:r>
              <a:rPr lang="en-US" sz="1100" dirty="0">
                <a:solidFill>
                  <a:srgbClr val="202122"/>
                </a:solidFill>
                <a:ea typeface="+mn-lt"/>
                <a:cs typeface="+mn-lt"/>
              </a:rPr>
              <a:t> </a:t>
            </a:r>
            <a:r>
              <a:rPr lang="en-US" sz="1100" i="1">
                <a:solidFill>
                  <a:srgbClr val="202122"/>
                </a:solidFill>
                <a:ea typeface="+mn-lt"/>
                <a:cs typeface="+mn-lt"/>
              </a:rPr>
              <a:t>Zhan, Echo (18 October 2024). </a:t>
            </a:r>
            <a:r>
              <a:rPr lang="en-US" sz="1100" i="1">
                <a:solidFill>
                  <a:srgbClr val="3366CC"/>
                </a:solidFill>
                <a:ea typeface="+mn-lt"/>
                <a:cs typeface="+mn-lt"/>
                <a:hlinkClick r:id="rId380"/>
              </a:rPr>
              <a:t>"Chiranjeevi: Prolific megastar who shaped Indian cinema officially a record breaker"</a:t>
            </a:r>
            <a:r>
              <a:rPr lang="en-US" sz="1100" i="1">
                <a:solidFill>
                  <a:srgbClr val="202122"/>
                </a:solidFill>
                <a:ea typeface="+mn-lt"/>
                <a:cs typeface="+mn-lt"/>
              </a:rPr>
              <a:t>. </a:t>
            </a:r>
            <a:r>
              <a:rPr lang="en-US" sz="1100" i="1" dirty="0">
                <a:solidFill>
                  <a:srgbClr val="3366CC"/>
                </a:solidFill>
                <a:ea typeface="+mn-lt"/>
                <a:cs typeface="+mn-lt"/>
                <a:hlinkClick r:id="rId18"/>
              </a:rPr>
              <a:t>Guinness World Records</a:t>
            </a:r>
            <a:r>
              <a:rPr lang="en-US" sz="1100" i="1">
                <a:solidFill>
                  <a:srgbClr val="202122"/>
                </a:solidFill>
                <a:ea typeface="+mn-lt"/>
                <a:cs typeface="+mn-lt"/>
              </a:rPr>
              <a:t>. Retrieved 19 October 2024.</a:t>
            </a:r>
            <a:endParaRPr lang="en-US"/>
          </a:p>
          <a:p>
            <a:pPr marL="285750" indent="-285750">
              <a:buFont typeface="Arial"/>
              <a:buChar char="•"/>
            </a:pPr>
            <a:r>
              <a:rPr lang="en-US" sz="1100" dirty="0">
                <a:solidFill>
                  <a:srgbClr val="202122"/>
                </a:solidFill>
                <a:ea typeface="+mn-lt"/>
                <a:cs typeface="+mn-lt"/>
              </a:rPr>
              <a:t> </a:t>
            </a:r>
            <a:r>
              <a:rPr lang="en-US" sz="1100" i="1" dirty="0">
                <a:solidFill>
                  <a:srgbClr val="3366CC"/>
                </a:solidFill>
                <a:ea typeface="+mn-lt"/>
                <a:cs typeface="+mn-lt"/>
                <a:hlinkClick r:id="rId381"/>
              </a:rPr>
              <a:t>"28 Years for Gharana Mogudu: 4 fascinating things about the Chiranjeevi starrer"</a:t>
            </a:r>
            <a:r>
              <a:rPr lang="en-US" sz="1100" i="1">
                <a:solidFill>
                  <a:srgbClr val="202122"/>
                </a:solidFill>
                <a:ea typeface="+mn-lt"/>
                <a:cs typeface="+mn-lt"/>
              </a:rPr>
              <a:t>. The Times of India. 10 April 2020. </a:t>
            </a:r>
            <a:r>
              <a:rPr lang="en-US" sz="1100" i="1">
                <a:solidFill>
                  <a:srgbClr val="3366CC"/>
                </a:solidFill>
                <a:ea typeface="+mn-lt"/>
                <a:cs typeface="+mn-lt"/>
                <a:hlinkClick r:id="rId382"/>
              </a:rPr>
              <a:t>Archived</a:t>
            </a:r>
            <a:r>
              <a:rPr lang="en-US" sz="1100" i="1">
                <a:solidFill>
                  <a:srgbClr val="202122"/>
                </a:solidFill>
                <a:ea typeface="+mn-lt"/>
                <a:cs typeface="+mn-lt"/>
              </a:rPr>
              <a:t> from the original on 28 October 2020. Gharana Mogudu was a commercial success, and it went on to become the first South Indian film to collect over Rs 10 crore share at the box office. Chiranjeevi is probably the first hero in the history of Indian cinema to take Rs 1 crore remuneration for a film.</a:t>
            </a:r>
            <a:endParaRPr lang="en-US"/>
          </a:p>
          <a:p>
            <a:pPr marL="285750" indent="-285750">
              <a:buFont typeface="Arial"/>
              <a:buChar char="•"/>
            </a:pPr>
            <a:r>
              <a:rPr lang="en-US" sz="1100" dirty="0">
                <a:solidFill>
                  <a:srgbClr val="202122"/>
                </a:solidFill>
                <a:ea typeface="+mn-lt"/>
                <a:cs typeface="+mn-lt"/>
              </a:rPr>
              <a:t> </a:t>
            </a:r>
            <a:r>
              <a:rPr lang="en-US" sz="1100" i="1" dirty="0">
                <a:solidFill>
                  <a:srgbClr val="3366CC"/>
                </a:solidFill>
                <a:ea typeface="+mn-lt"/>
                <a:cs typeface="+mn-lt"/>
                <a:hlinkClick r:id="rId383"/>
              </a:rPr>
              <a:t>"A crore and more: Chiranjeevi, the new money machine of the movie world"</a:t>
            </a:r>
            <a:r>
              <a:rPr lang="en-US" sz="1100" i="1">
                <a:solidFill>
                  <a:srgbClr val="202122"/>
                </a:solidFill>
                <a:ea typeface="+mn-lt"/>
                <a:cs typeface="+mn-lt"/>
              </a:rPr>
              <a:t>. </a:t>
            </a:r>
            <a:r>
              <a:rPr lang="en-US" sz="1100" i="1" dirty="0">
                <a:solidFill>
                  <a:srgbClr val="3366CC"/>
                </a:solidFill>
                <a:ea typeface="+mn-lt"/>
                <a:cs typeface="+mn-lt"/>
                <a:hlinkClick r:id="rId32"/>
              </a:rPr>
              <a:t>The Week</a:t>
            </a:r>
            <a:r>
              <a:rPr lang="en-US" sz="1100" i="1">
                <a:solidFill>
                  <a:srgbClr val="202122"/>
                </a:solidFill>
                <a:ea typeface="+mn-lt"/>
                <a:cs typeface="+mn-lt"/>
              </a:rPr>
              <a:t>. 13 September 1992. pp. 28, 29. If his popularity is astounding, the price he commands would make heads spin: the megastar has crashed through the one-crore barrier. While Amitabh Bachchan, who had Hindi filmdom at his feet for a decade, is paid Rs. 75 lakh for doing a film, Chiranjeevi gets almost double: a mind-boggling Rs. 1.25 crore. The only one who comes anywhere near the magic mark is Rajnikant, the Tamil superstar, who makes Rs. 1 crore.</a:t>
            </a:r>
            <a:endParaRPr lang="en-US"/>
          </a:p>
          <a:p>
            <a:pPr marL="285750" indent="-285750">
              <a:buFont typeface="Arial"/>
              <a:buChar char="•"/>
            </a:pPr>
            <a:endParaRPr lang="en-US"/>
          </a:p>
          <a:p>
            <a:pPr marL="742950" lvl="1" indent="-285750">
              <a:buFont typeface="Arial"/>
              <a:buChar char="•"/>
            </a:pPr>
            <a:r>
              <a:rPr lang="en-US" sz="1100" i="1" dirty="0">
                <a:solidFill>
                  <a:srgbClr val="3366CC"/>
                </a:solidFill>
                <a:ea typeface="+mn-lt"/>
                <a:cs typeface="+mn-lt"/>
                <a:hlinkClick r:id="rId383"/>
              </a:rPr>
              <a:t>"A crore and more: Chiranjeevi, the new money machine of the movie world"</a:t>
            </a:r>
            <a:r>
              <a:rPr lang="en-US" sz="1100" i="1">
                <a:solidFill>
                  <a:srgbClr val="202122"/>
                </a:solidFill>
                <a:ea typeface="+mn-lt"/>
                <a:cs typeface="+mn-lt"/>
              </a:rPr>
              <a:t>. </a:t>
            </a:r>
            <a:r>
              <a:rPr lang="en-US" sz="1100" i="1" dirty="0">
                <a:solidFill>
                  <a:srgbClr val="3366CC"/>
                </a:solidFill>
                <a:ea typeface="+mn-lt"/>
                <a:cs typeface="+mn-lt"/>
                <a:hlinkClick r:id="rId32"/>
              </a:rPr>
              <a:t>The Week</a:t>
            </a:r>
            <a:r>
              <a:rPr lang="en-US" sz="1100" i="1">
                <a:solidFill>
                  <a:srgbClr val="202122"/>
                </a:solidFill>
                <a:ea typeface="+mn-lt"/>
                <a:cs typeface="+mn-lt"/>
              </a:rPr>
              <a:t>. 13 September 1992. pp. 28, 29. If his popularity is astounding, the price he commands would make heads spin: the megastar has crashed through the one-crore barrier. While Amitabh Bachchan, who had Hindi filmdom at his feet for a decade, is paid Rs. 75 lakh for doing a film, Chiranjeevi gets almost double: a mind-boggling Rs. 1.25 crore. The only one who comes anywhere near the magic mark is Rajnikant, the Tamil superstar, who makes Rs. 1 crore.</a:t>
            </a:r>
            <a:endParaRPr lang="en-US"/>
          </a:p>
          <a:p>
            <a:pPr marL="742950" lvl="1" indent="-285750">
              <a:buFont typeface="Arial"/>
              <a:buChar char="•"/>
            </a:pPr>
            <a:r>
              <a:rPr lang="en-US" sz="1100" i="1">
                <a:solidFill>
                  <a:srgbClr val="202122"/>
                </a:solidFill>
                <a:ea typeface="+mn-lt"/>
                <a:cs typeface="+mn-lt"/>
              </a:rPr>
              <a:t>Nikam, Girish (31 August 1992). </a:t>
            </a:r>
            <a:r>
              <a:rPr lang="en-US" sz="1100" i="1">
                <a:solidFill>
                  <a:srgbClr val="3366CC"/>
                </a:solidFill>
                <a:ea typeface="+mn-lt"/>
                <a:cs typeface="+mn-lt"/>
                <a:hlinkClick r:id="rId384"/>
              </a:rPr>
              <a:t>"Southern superstars Chiranjeevi, Rajnikant and Vijayashanti are paid more than Amitabh Bachchan or Sridevi"</a:t>
            </a:r>
            <a:r>
              <a:rPr lang="en-US" sz="1100" i="1">
                <a:solidFill>
                  <a:srgbClr val="202122"/>
                </a:solidFill>
                <a:ea typeface="+mn-lt"/>
                <a:cs typeface="+mn-lt"/>
              </a:rPr>
              <a:t>. </a:t>
            </a:r>
            <a:r>
              <a:rPr lang="en-US" sz="1100" i="1" dirty="0">
                <a:solidFill>
                  <a:srgbClr val="3366CC"/>
                </a:solidFill>
                <a:ea typeface="+mn-lt"/>
                <a:cs typeface="+mn-lt"/>
                <a:hlinkClick r:id="rId385"/>
              </a:rPr>
              <a:t>India Today</a:t>
            </a:r>
            <a:r>
              <a:rPr lang="en-US" sz="1100" i="1">
                <a:solidFill>
                  <a:srgbClr val="202122"/>
                </a:solidFill>
                <a:ea typeface="+mn-lt"/>
                <a:cs typeface="+mn-lt"/>
              </a:rPr>
              <a:t>. Retrieved 14 August 2024. Tamil actor Rajnikanth commands a staggering Rs 1 crore a film. If that's stupefying, then check out the Telugu superstar Chiranjeevi. His price? Rs 1.25 crore a film. Even Bachchan with his reported price of Rs 75 lakh can't give them a run</a:t>
            </a:r>
            <a:endParaRPr lang="en-US"/>
          </a:p>
          <a:p>
            <a:endParaRPr lang="en-US" dirty="0"/>
          </a:p>
        </p:txBody>
      </p:sp>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2025-08-08T07:12:10Z</dcterms:created>
  <dcterms:modified xsi:type="dcterms:W3CDTF">2025-08-08T07:12:41Z</dcterms:modified>
</cp:coreProperties>
</file>